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Gordita Bold" charset="1" panose="00000000000000000000"/>
      <p:regular r:id="rId16"/>
    </p:embeddedFont>
    <p:embeddedFont>
      <p:font typeface="Gordita" charset="1" panose="00000000000000000000"/>
      <p:regular r:id="rId17"/>
    </p:embeddedFont>
    <p:embeddedFont>
      <p:font typeface="Gordita Italics" charset="1" panose="00000000000000000000"/>
      <p:regular r:id="rId18"/>
    </p:embeddedFont>
    <p:embeddedFont>
      <p:font typeface="Open Sans Bold" charset="1" panose="020B0806030504020204"/>
      <p:regular r:id="rId19"/>
    </p:embeddedFont>
    <p:embeddedFont>
      <p:font typeface="Open Sans" charset="1" panose="020B0606030504020204"/>
      <p:regular r:id="rId20"/>
    </p:embeddedFont>
    <p:embeddedFont>
      <p:font typeface="Poppins Bold" charset="1" panose="00000800000000000000"/>
      <p:regular r:id="rId21"/>
    </p:embeddedFont>
    <p:embeddedFont>
      <p:font typeface="Poppins" charset="1" panose="0000050000000000000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11" Target="../media/image10.png" Type="http://schemas.openxmlformats.org/officeDocument/2006/relationships/image"/><Relationship Id="rId12" Target="../media/image11.svg" Type="http://schemas.openxmlformats.org/officeDocument/2006/relationships/image"/><Relationship Id="rId13" Target="../media/image12.jpeg" Type="http://schemas.openxmlformats.org/officeDocument/2006/relationships/image"/><Relationship Id="rId14" Target="../media/image13.jpeg" Type="http://schemas.openxmlformats.org/officeDocument/2006/relationships/image"/><Relationship Id="rId15" Target="../media/image14.png" Type="http://schemas.openxmlformats.org/officeDocument/2006/relationships/image"/><Relationship Id="rId16" Target="../media/image15.svg" Type="http://schemas.openxmlformats.org/officeDocument/2006/relationships/image"/><Relationship Id="rId17" Target="../media/image16.png" Type="http://schemas.openxmlformats.org/officeDocument/2006/relationships/image"/><Relationship Id="rId18" Target="../media/image17.png" Type="http://schemas.openxmlformats.org/officeDocument/2006/relationships/image"/><Relationship Id="rId19" Target="../media/image18.sv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8.svg" Type="http://schemas.openxmlformats.org/officeDocument/2006/relationships/image"/><Relationship Id="rId11" Target="../media/image16.png" Type="http://schemas.openxmlformats.org/officeDocument/2006/relationships/image"/><Relationship Id="rId2" Target="../media/image19.png" Type="http://schemas.openxmlformats.org/officeDocument/2006/relationships/image"/><Relationship Id="rId3" Target="../media/image20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2.png" Type="http://schemas.openxmlformats.org/officeDocument/2006/relationships/image"/><Relationship Id="rId9" Target="../media/image17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7.png" Type="http://schemas.openxmlformats.org/officeDocument/2006/relationships/image"/><Relationship Id="rId11" Target="../media/image18.svg" Type="http://schemas.openxmlformats.org/officeDocument/2006/relationships/image"/><Relationship Id="rId12" Target="../media/image7.png" Type="http://schemas.openxmlformats.org/officeDocument/2006/relationships/image"/><Relationship Id="rId13" Target="../media/image26.png" Type="http://schemas.openxmlformats.org/officeDocument/2006/relationships/image"/><Relationship Id="rId14" Target="../media/image27.svg" Type="http://schemas.openxmlformats.org/officeDocument/2006/relationships/image"/><Relationship Id="rId15" Target="../media/image16.png" Type="http://schemas.openxmlformats.org/officeDocument/2006/relationships/image"/><Relationship Id="rId2" Target="../media/image2.pn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21.jpeg" Type="http://schemas.openxmlformats.org/officeDocument/2006/relationships/image"/><Relationship Id="rId6" Target="../media/image22.png" Type="http://schemas.openxmlformats.org/officeDocument/2006/relationships/image"/><Relationship Id="rId7" Target="../media/image23.svg" Type="http://schemas.openxmlformats.org/officeDocument/2006/relationships/image"/><Relationship Id="rId8" Target="../media/image24.png" Type="http://schemas.openxmlformats.org/officeDocument/2006/relationships/image"/><Relationship Id="rId9" Target="../media/image25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5.svg" Type="http://schemas.openxmlformats.org/officeDocument/2006/relationships/image"/><Relationship Id="rId11" Target="../media/image16.png" Type="http://schemas.openxmlformats.org/officeDocument/2006/relationships/image"/><Relationship Id="rId12" Target="../media/image28.png" Type="http://schemas.openxmlformats.org/officeDocument/2006/relationships/image"/><Relationship Id="rId13" Target="../media/image29.png" Type="http://schemas.openxmlformats.org/officeDocument/2006/relationships/image"/><Relationship Id="rId14" Target="../media/image30.png" Type="http://schemas.openxmlformats.org/officeDocument/2006/relationships/image"/><Relationship Id="rId15" Target="../media/image31.svg" Type="http://schemas.openxmlformats.org/officeDocument/2006/relationships/image"/><Relationship Id="rId16" Target="../media/image32.png" Type="http://schemas.openxmlformats.org/officeDocument/2006/relationships/image"/><Relationship Id="rId17" Target="../media/image33.svg" Type="http://schemas.openxmlformats.org/officeDocument/2006/relationships/image"/><Relationship Id="rId18" Target="../media/image34.png" Type="http://schemas.openxmlformats.org/officeDocument/2006/relationships/image"/><Relationship Id="rId19" Target="../media/image35.svg" Type="http://schemas.openxmlformats.org/officeDocument/2006/relationships/image"/><Relationship Id="rId2" Target="../media/image1.png" Type="http://schemas.openxmlformats.org/officeDocument/2006/relationships/image"/><Relationship Id="rId20" Target="../media/image36.png" Type="http://schemas.openxmlformats.org/officeDocument/2006/relationships/image"/><Relationship Id="rId21" Target="../media/image37.svg" Type="http://schemas.openxmlformats.org/officeDocument/2006/relationships/image"/><Relationship Id="rId22" Target="../media/image38.png" Type="http://schemas.openxmlformats.org/officeDocument/2006/relationships/image"/><Relationship Id="rId23" Target="../media/image39.sv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2.png" Type="http://schemas.openxmlformats.org/officeDocument/2006/relationships/image"/><Relationship Id="rId6" Target="../media/image21.jpeg" Type="http://schemas.openxmlformats.org/officeDocument/2006/relationships/image"/><Relationship Id="rId7" Target="../media/image22.png" Type="http://schemas.openxmlformats.org/officeDocument/2006/relationships/image"/><Relationship Id="rId8" Target="../media/image23.svg" Type="http://schemas.openxmlformats.org/officeDocument/2006/relationships/image"/><Relationship Id="rId9" Target="../media/image2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5.svg" Type="http://schemas.openxmlformats.org/officeDocument/2006/relationships/image"/><Relationship Id="rId2" Target="../media/image1.pn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40.png" Type="http://schemas.openxmlformats.org/officeDocument/2006/relationships/image"/><Relationship Id="rId6" Target="../media/image17.png" Type="http://schemas.openxmlformats.org/officeDocument/2006/relationships/image"/><Relationship Id="rId7" Target="../media/image18.svg" Type="http://schemas.openxmlformats.org/officeDocument/2006/relationships/image"/><Relationship Id="rId8" Target="../media/image16.png" Type="http://schemas.openxmlformats.org/officeDocument/2006/relationships/image"/><Relationship Id="rId9" Target="../media/image24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3.svg" Type="http://schemas.openxmlformats.org/officeDocument/2006/relationships/image"/><Relationship Id="rId11" Target="../media/image44.png" Type="http://schemas.openxmlformats.org/officeDocument/2006/relationships/image"/><Relationship Id="rId12" Target="../media/image45.svg" Type="http://schemas.openxmlformats.org/officeDocument/2006/relationships/image"/><Relationship Id="rId13" Target="../media/image46.png" Type="http://schemas.openxmlformats.org/officeDocument/2006/relationships/image"/><Relationship Id="rId14" Target="../media/image47.svg" Type="http://schemas.openxmlformats.org/officeDocument/2006/relationships/image"/><Relationship Id="rId15" Target="../media/image17.png" Type="http://schemas.openxmlformats.org/officeDocument/2006/relationships/image"/><Relationship Id="rId16" Target="../media/image18.svg" Type="http://schemas.openxmlformats.org/officeDocument/2006/relationships/image"/><Relationship Id="rId2" Target="../media/image19.png" Type="http://schemas.openxmlformats.org/officeDocument/2006/relationships/image"/><Relationship Id="rId3" Target="../media/image20.sv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Relationship Id="rId7" Target="../media/image16.png" Type="http://schemas.openxmlformats.org/officeDocument/2006/relationships/image"/><Relationship Id="rId8" Target="../media/image41.png" Type="http://schemas.openxmlformats.org/officeDocument/2006/relationships/image"/><Relationship Id="rId9" Target="../media/image42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9.png" Type="http://schemas.openxmlformats.org/officeDocument/2006/relationships/image"/><Relationship Id="rId11" Target="../media/image50.svg" Type="http://schemas.openxmlformats.org/officeDocument/2006/relationships/image"/><Relationship Id="rId12" Target="../media/image51.png" Type="http://schemas.openxmlformats.org/officeDocument/2006/relationships/image"/><Relationship Id="rId13" Target="../media/image52.svg" Type="http://schemas.openxmlformats.org/officeDocument/2006/relationships/image"/><Relationship Id="rId14" Target="../media/image53.png" Type="http://schemas.openxmlformats.org/officeDocument/2006/relationships/image"/><Relationship Id="rId15" Target="../media/image54.svg" Type="http://schemas.openxmlformats.org/officeDocument/2006/relationships/image"/><Relationship Id="rId16" Target="../media/image55.png" Type="http://schemas.openxmlformats.org/officeDocument/2006/relationships/image"/><Relationship Id="rId17" Target="../media/image56.svg" Type="http://schemas.openxmlformats.org/officeDocument/2006/relationships/image"/><Relationship Id="rId18" Target="../media/image57.png" Type="http://schemas.openxmlformats.org/officeDocument/2006/relationships/image"/><Relationship Id="rId19" Target="../media/image58.svg" Type="http://schemas.openxmlformats.org/officeDocument/2006/relationships/image"/><Relationship Id="rId2" Target="../media/image3.png" Type="http://schemas.openxmlformats.org/officeDocument/2006/relationships/image"/><Relationship Id="rId20" Target="../media/image59.png" Type="http://schemas.openxmlformats.org/officeDocument/2006/relationships/image"/><Relationship Id="rId3" Target="../media/image4.svg" Type="http://schemas.openxmlformats.org/officeDocument/2006/relationships/image"/><Relationship Id="rId4" Target="../media/image48.png" Type="http://schemas.openxmlformats.org/officeDocument/2006/relationships/image"/><Relationship Id="rId5" Target="../media/image17.png" Type="http://schemas.openxmlformats.org/officeDocument/2006/relationships/image"/><Relationship Id="rId6" Target="../media/image18.svg" Type="http://schemas.openxmlformats.org/officeDocument/2006/relationships/image"/><Relationship Id="rId7" Target="../media/image16.png" Type="http://schemas.openxmlformats.org/officeDocument/2006/relationships/image"/><Relationship Id="rId8" Target="../media/image24.png" Type="http://schemas.openxmlformats.org/officeDocument/2006/relationships/image"/><Relationship Id="rId9" Target="../media/image25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7.png" Type="http://schemas.openxmlformats.org/officeDocument/2006/relationships/image"/><Relationship Id="rId11" Target="../media/image18.sv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60.png" Type="http://schemas.openxmlformats.org/officeDocument/2006/relationships/image"/><Relationship Id="rId7" Target="../media/image61.svg" Type="http://schemas.openxmlformats.org/officeDocument/2006/relationships/image"/><Relationship Id="rId8" Target="../media/image16.png" Type="http://schemas.openxmlformats.org/officeDocument/2006/relationships/image"/><Relationship Id="rId9" Target="../media/image62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7.png" Type="http://schemas.openxmlformats.org/officeDocument/2006/relationships/image"/><Relationship Id="rId7" Target="../media/image18.svg" Type="http://schemas.openxmlformats.org/officeDocument/2006/relationships/image"/><Relationship Id="rId8" Target="../media/image16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73999" y="2124764"/>
            <a:ext cx="7634243" cy="7634243"/>
          </a:xfrm>
          <a:custGeom>
            <a:avLst/>
            <a:gdLst/>
            <a:ahLst/>
            <a:cxnLst/>
            <a:rect r="r" b="b" t="t" l="l"/>
            <a:pathLst>
              <a:path h="7634243" w="7634243">
                <a:moveTo>
                  <a:pt x="0" y="0"/>
                </a:moveTo>
                <a:lnTo>
                  <a:pt x="7634243" y="0"/>
                </a:lnTo>
                <a:lnTo>
                  <a:pt x="7634243" y="7634243"/>
                </a:lnTo>
                <a:lnTo>
                  <a:pt x="0" y="763424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3000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1197057" y="5444171"/>
            <a:ext cx="8488516" cy="5549367"/>
          </a:xfrm>
          <a:custGeom>
            <a:avLst/>
            <a:gdLst/>
            <a:ahLst/>
            <a:cxnLst/>
            <a:rect r="r" b="b" t="t" l="l"/>
            <a:pathLst>
              <a:path h="5549367" w="8488516">
                <a:moveTo>
                  <a:pt x="8488516" y="0"/>
                </a:moveTo>
                <a:lnTo>
                  <a:pt x="0" y="0"/>
                </a:lnTo>
                <a:lnTo>
                  <a:pt x="0" y="5549368"/>
                </a:lnTo>
                <a:lnTo>
                  <a:pt x="8488516" y="5549368"/>
                </a:lnTo>
                <a:lnTo>
                  <a:pt x="8488516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997864" y="367318"/>
            <a:ext cx="7290136" cy="7290136"/>
          </a:xfrm>
          <a:custGeom>
            <a:avLst/>
            <a:gdLst/>
            <a:ahLst/>
            <a:cxnLst/>
            <a:rect r="r" b="b" t="t" l="l"/>
            <a:pathLst>
              <a:path h="7290136" w="7290136">
                <a:moveTo>
                  <a:pt x="0" y="0"/>
                </a:moveTo>
                <a:lnTo>
                  <a:pt x="7290136" y="0"/>
                </a:lnTo>
                <a:lnTo>
                  <a:pt x="7290136" y="7290136"/>
                </a:lnTo>
                <a:lnTo>
                  <a:pt x="0" y="729013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4000"/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226359" y="1462241"/>
            <a:ext cx="13416573" cy="7255170"/>
            <a:chOff x="0" y="0"/>
            <a:chExt cx="3049956" cy="16493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049956" cy="1649300"/>
            </a:xfrm>
            <a:custGeom>
              <a:avLst/>
              <a:gdLst/>
              <a:ahLst/>
              <a:cxnLst/>
              <a:rect r="r" b="b" t="t" l="l"/>
              <a:pathLst>
                <a:path h="1649300" w="3049956">
                  <a:moveTo>
                    <a:pt x="54819" y="0"/>
                  </a:moveTo>
                  <a:lnTo>
                    <a:pt x="2995137" y="0"/>
                  </a:lnTo>
                  <a:cubicBezTo>
                    <a:pt x="3009676" y="0"/>
                    <a:pt x="3023620" y="5776"/>
                    <a:pt x="3033900" y="16056"/>
                  </a:cubicBezTo>
                  <a:cubicBezTo>
                    <a:pt x="3044181" y="26337"/>
                    <a:pt x="3049956" y="40280"/>
                    <a:pt x="3049956" y="54819"/>
                  </a:cubicBezTo>
                  <a:lnTo>
                    <a:pt x="3049956" y="1594481"/>
                  </a:lnTo>
                  <a:cubicBezTo>
                    <a:pt x="3049956" y="1624756"/>
                    <a:pt x="3025413" y="1649300"/>
                    <a:pt x="2995137" y="1649300"/>
                  </a:cubicBezTo>
                  <a:lnTo>
                    <a:pt x="54819" y="1649300"/>
                  </a:lnTo>
                  <a:cubicBezTo>
                    <a:pt x="24543" y="1649300"/>
                    <a:pt x="0" y="1624756"/>
                    <a:pt x="0" y="1594481"/>
                  </a:cubicBezTo>
                  <a:lnTo>
                    <a:pt x="0" y="54819"/>
                  </a:lnTo>
                  <a:cubicBezTo>
                    <a:pt x="0" y="24543"/>
                    <a:pt x="24543" y="0"/>
                    <a:pt x="54819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3049956" cy="1687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9240466" y="7173594"/>
            <a:ext cx="4901235" cy="1648040"/>
          </a:xfrm>
          <a:custGeom>
            <a:avLst/>
            <a:gdLst/>
            <a:ahLst/>
            <a:cxnLst/>
            <a:rect r="r" b="b" t="t" l="l"/>
            <a:pathLst>
              <a:path h="1648040" w="4901235">
                <a:moveTo>
                  <a:pt x="0" y="0"/>
                </a:moveTo>
                <a:lnTo>
                  <a:pt x="4901235" y="0"/>
                </a:lnTo>
                <a:lnTo>
                  <a:pt x="4901235" y="1648040"/>
                </a:lnTo>
                <a:lnTo>
                  <a:pt x="0" y="164804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53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0" id="10"/>
          <p:cNvSpPr/>
          <p:nvPr/>
        </p:nvSpPr>
        <p:spPr>
          <a:xfrm flipH="false" flipV="false" rot="0">
            <a:off x="1072036" y="8414516"/>
            <a:ext cx="8858196" cy="1439457"/>
          </a:xfrm>
          <a:custGeom>
            <a:avLst/>
            <a:gdLst/>
            <a:ahLst/>
            <a:cxnLst/>
            <a:rect r="r" b="b" t="t" l="l"/>
            <a:pathLst>
              <a:path h="1439457" w="8858196">
                <a:moveTo>
                  <a:pt x="0" y="0"/>
                </a:moveTo>
                <a:lnTo>
                  <a:pt x="8858196" y="0"/>
                </a:lnTo>
                <a:lnTo>
                  <a:pt x="8858196" y="1439457"/>
                </a:lnTo>
                <a:lnTo>
                  <a:pt x="0" y="143945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true" flipV="true" rot="0">
            <a:off x="889673" y="6398083"/>
            <a:ext cx="8689974" cy="1439457"/>
          </a:xfrm>
          <a:custGeom>
            <a:avLst/>
            <a:gdLst/>
            <a:ahLst/>
            <a:cxnLst/>
            <a:rect r="r" b="b" t="t" l="l"/>
            <a:pathLst>
              <a:path h="1439457" w="8689974">
                <a:moveTo>
                  <a:pt x="8689973" y="1439457"/>
                </a:moveTo>
                <a:lnTo>
                  <a:pt x="0" y="1439457"/>
                </a:lnTo>
                <a:lnTo>
                  <a:pt x="0" y="0"/>
                </a:lnTo>
                <a:lnTo>
                  <a:pt x="8689973" y="0"/>
                </a:lnTo>
                <a:lnTo>
                  <a:pt x="8689973" y="1439457"/>
                </a:lnTo>
                <a:close/>
              </a:path>
            </a:pathLst>
          </a:custGeom>
          <a:blipFill>
            <a:blip r:embed="rId8"/>
            <a:stretch>
              <a:fillRect l="-1935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809799" y="6945492"/>
            <a:ext cx="8849721" cy="2090747"/>
          </a:xfrm>
          <a:custGeom>
            <a:avLst/>
            <a:gdLst/>
            <a:ahLst/>
            <a:cxnLst/>
            <a:rect r="r" b="b" t="t" l="l"/>
            <a:pathLst>
              <a:path h="2090747" w="8849721">
                <a:moveTo>
                  <a:pt x="0" y="0"/>
                </a:moveTo>
                <a:lnTo>
                  <a:pt x="8849721" y="0"/>
                </a:lnTo>
                <a:lnTo>
                  <a:pt x="8849721" y="2090747"/>
                </a:lnTo>
                <a:lnTo>
                  <a:pt x="0" y="209074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11888373" y="3734752"/>
            <a:ext cx="8384577" cy="3418838"/>
            <a:chOff x="0" y="0"/>
            <a:chExt cx="2208284" cy="90043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208284" cy="900435"/>
            </a:xfrm>
            <a:custGeom>
              <a:avLst/>
              <a:gdLst/>
              <a:ahLst/>
              <a:cxnLst/>
              <a:rect r="r" b="b" t="t" l="l"/>
              <a:pathLst>
                <a:path h="900435" w="2208284">
                  <a:moveTo>
                    <a:pt x="92335" y="0"/>
                  </a:moveTo>
                  <a:lnTo>
                    <a:pt x="2115948" y="0"/>
                  </a:lnTo>
                  <a:cubicBezTo>
                    <a:pt x="2140437" y="0"/>
                    <a:pt x="2163923" y="9728"/>
                    <a:pt x="2181239" y="27044"/>
                  </a:cubicBezTo>
                  <a:cubicBezTo>
                    <a:pt x="2198556" y="44361"/>
                    <a:pt x="2208284" y="67846"/>
                    <a:pt x="2208284" y="92335"/>
                  </a:cubicBezTo>
                  <a:lnTo>
                    <a:pt x="2208284" y="808100"/>
                  </a:lnTo>
                  <a:cubicBezTo>
                    <a:pt x="2208284" y="859095"/>
                    <a:pt x="2166944" y="900435"/>
                    <a:pt x="2115948" y="900435"/>
                  </a:cubicBezTo>
                  <a:lnTo>
                    <a:pt x="92335" y="900435"/>
                  </a:lnTo>
                  <a:cubicBezTo>
                    <a:pt x="41340" y="900435"/>
                    <a:pt x="0" y="859095"/>
                    <a:pt x="0" y="808100"/>
                  </a:cubicBezTo>
                  <a:lnTo>
                    <a:pt x="0" y="92335"/>
                  </a:lnTo>
                  <a:cubicBezTo>
                    <a:pt x="0" y="41340"/>
                    <a:pt x="41340" y="0"/>
                    <a:pt x="92335" y="0"/>
                  </a:cubicBezTo>
                  <a:close/>
                </a:path>
              </a:pathLst>
            </a:custGeom>
            <a:solidFill>
              <a:srgbClr val="025A2C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38100"/>
              <a:ext cx="2208284" cy="8623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40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-3642182">
            <a:off x="11755848" y="3774851"/>
            <a:ext cx="4512632" cy="5536971"/>
          </a:xfrm>
          <a:custGeom>
            <a:avLst/>
            <a:gdLst/>
            <a:ahLst/>
            <a:cxnLst/>
            <a:rect r="r" b="b" t="t" l="l"/>
            <a:pathLst>
              <a:path h="5536971" w="4512632">
                <a:moveTo>
                  <a:pt x="0" y="0"/>
                </a:moveTo>
                <a:lnTo>
                  <a:pt x="4512631" y="0"/>
                </a:lnTo>
                <a:lnTo>
                  <a:pt x="4512631" y="5536971"/>
                </a:lnTo>
                <a:lnTo>
                  <a:pt x="0" y="5536971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12374079" y="1028700"/>
            <a:ext cx="4794499" cy="4794499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7C03F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114300"/>
              <a:ext cx="660400" cy="622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59"/>
                </a:lnSpc>
              </a:pPr>
            </a:p>
          </p:txBody>
        </p:sp>
      </p:grpSp>
      <p:sp>
        <p:nvSpPr>
          <p:cNvPr name="AutoShape 20" id="20"/>
          <p:cNvSpPr/>
          <p:nvPr/>
        </p:nvSpPr>
        <p:spPr>
          <a:xfrm flipV="true">
            <a:off x="1481741" y="8433678"/>
            <a:ext cx="7758725" cy="0"/>
          </a:xfrm>
          <a:prstGeom prst="line">
            <a:avLst/>
          </a:prstGeom>
          <a:ln cap="flat" w="38100">
            <a:solidFill>
              <a:srgbClr val="025A2C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1" id="21"/>
          <p:cNvGrpSpPr/>
          <p:nvPr/>
        </p:nvGrpSpPr>
        <p:grpSpPr>
          <a:xfrm rot="0">
            <a:off x="11609011" y="1648002"/>
            <a:ext cx="5439253" cy="6027510"/>
            <a:chOff x="0" y="0"/>
            <a:chExt cx="733474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733474" cy="812800"/>
            </a:xfrm>
            <a:custGeom>
              <a:avLst/>
              <a:gdLst/>
              <a:ahLst/>
              <a:cxnLst/>
              <a:rect r="r" b="b" t="t" l="l"/>
              <a:pathLst>
                <a:path h="812800" w="733474">
                  <a:moveTo>
                    <a:pt x="142334" y="0"/>
                  </a:moveTo>
                  <a:lnTo>
                    <a:pt x="591140" y="0"/>
                  </a:lnTo>
                  <a:cubicBezTo>
                    <a:pt x="628890" y="0"/>
                    <a:pt x="665093" y="14996"/>
                    <a:pt x="691786" y="41689"/>
                  </a:cubicBezTo>
                  <a:cubicBezTo>
                    <a:pt x="718479" y="68382"/>
                    <a:pt x="733474" y="104585"/>
                    <a:pt x="733474" y="142334"/>
                  </a:cubicBezTo>
                  <a:lnTo>
                    <a:pt x="733474" y="670466"/>
                  </a:lnTo>
                  <a:cubicBezTo>
                    <a:pt x="733474" y="708215"/>
                    <a:pt x="718479" y="744418"/>
                    <a:pt x="691786" y="771111"/>
                  </a:cubicBezTo>
                  <a:cubicBezTo>
                    <a:pt x="665093" y="797804"/>
                    <a:pt x="628890" y="812800"/>
                    <a:pt x="591140" y="812800"/>
                  </a:cubicBezTo>
                  <a:lnTo>
                    <a:pt x="142334" y="812800"/>
                  </a:lnTo>
                  <a:cubicBezTo>
                    <a:pt x="104585" y="812800"/>
                    <a:pt x="68382" y="797804"/>
                    <a:pt x="41689" y="771111"/>
                  </a:cubicBezTo>
                  <a:cubicBezTo>
                    <a:pt x="14996" y="744418"/>
                    <a:pt x="0" y="708215"/>
                    <a:pt x="0" y="670466"/>
                  </a:cubicBezTo>
                  <a:lnTo>
                    <a:pt x="0" y="142334"/>
                  </a:lnTo>
                  <a:cubicBezTo>
                    <a:pt x="0" y="104585"/>
                    <a:pt x="14996" y="68382"/>
                    <a:pt x="41689" y="41689"/>
                  </a:cubicBezTo>
                  <a:cubicBezTo>
                    <a:pt x="68382" y="14996"/>
                    <a:pt x="104585" y="0"/>
                    <a:pt x="142334" y="0"/>
                  </a:cubicBezTo>
                  <a:close/>
                </a:path>
              </a:pathLst>
            </a:custGeom>
            <a:blipFill>
              <a:blip r:embed="rId13"/>
              <a:stretch>
                <a:fillRect l="-33059" t="0" r="-33059" b="0"/>
              </a:stretch>
            </a:blipFill>
            <a:ln w="200025" cap="rnd">
              <a:solidFill>
                <a:srgbClr val="FFFFFF"/>
              </a:solidFill>
              <a:prstDash val="solid"/>
              <a:round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12170311" y="4468337"/>
            <a:ext cx="4316654" cy="4316654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14"/>
              <a:stretch>
                <a:fillRect l="-45649" t="0" r="-4350" b="0"/>
              </a:stretch>
            </a:blipFill>
            <a:ln w="171450" cap="sq">
              <a:solidFill>
                <a:srgbClr val="FFFFFF"/>
              </a:solidFill>
              <a:prstDash val="solid"/>
              <a:miter/>
            </a:ln>
          </p:spPr>
        </p:sp>
      </p:grpSp>
      <p:sp>
        <p:nvSpPr>
          <p:cNvPr name="Freeform 25" id="25"/>
          <p:cNvSpPr/>
          <p:nvPr/>
        </p:nvSpPr>
        <p:spPr>
          <a:xfrm flipH="true" flipV="false" rot="0">
            <a:off x="1338945" y="7558148"/>
            <a:ext cx="954006" cy="707157"/>
          </a:xfrm>
          <a:custGeom>
            <a:avLst/>
            <a:gdLst/>
            <a:ahLst/>
            <a:cxnLst/>
            <a:rect r="r" b="b" t="t" l="l"/>
            <a:pathLst>
              <a:path h="707157" w="954006">
                <a:moveTo>
                  <a:pt x="954005" y="0"/>
                </a:moveTo>
                <a:lnTo>
                  <a:pt x="0" y="0"/>
                </a:lnTo>
                <a:lnTo>
                  <a:pt x="0" y="707156"/>
                </a:lnTo>
                <a:lnTo>
                  <a:pt x="954005" y="707156"/>
                </a:lnTo>
                <a:lnTo>
                  <a:pt x="954005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true" flipV="false" rot="0">
            <a:off x="9368793" y="6916603"/>
            <a:ext cx="1500744" cy="1968189"/>
          </a:xfrm>
          <a:custGeom>
            <a:avLst/>
            <a:gdLst/>
            <a:ahLst/>
            <a:cxnLst/>
            <a:rect r="r" b="b" t="t" l="l"/>
            <a:pathLst>
              <a:path h="1968189" w="1500744">
                <a:moveTo>
                  <a:pt x="1500744" y="0"/>
                </a:moveTo>
                <a:lnTo>
                  <a:pt x="0" y="0"/>
                </a:lnTo>
                <a:lnTo>
                  <a:pt x="0" y="1968188"/>
                </a:lnTo>
                <a:lnTo>
                  <a:pt x="1500744" y="1968188"/>
                </a:lnTo>
                <a:lnTo>
                  <a:pt x="1500744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true" flipV="false" rot="0">
            <a:off x="16433323" y="2968773"/>
            <a:ext cx="1097321" cy="1439109"/>
          </a:xfrm>
          <a:custGeom>
            <a:avLst/>
            <a:gdLst/>
            <a:ahLst/>
            <a:cxnLst/>
            <a:rect r="r" b="b" t="t" l="l"/>
            <a:pathLst>
              <a:path h="1439109" w="1097321">
                <a:moveTo>
                  <a:pt x="1097321" y="0"/>
                </a:moveTo>
                <a:lnTo>
                  <a:pt x="0" y="0"/>
                </a:lnTo>
                <a:lnTo>
                  <a:pt x="0" y="1439109"/>
                </a:lnTo>
                <a:lnTo>
                  <a:pt x="1097321" y="1439109"/>
                </a:lnTo>
                <a:lnTo>
                  <a:pt x="1097321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true" flipV="false" rot="0">
            <a:off x="-738892" y="1437967"/>
            <a:ext cx="1715877" cy="2250331"/>
          </a:xfrm>
          <a:custGeom>
            <a:avLst/>
            <a:gdLst/>
            <a:ahLst/>
            <a:cxnLst/>
            <a:rect r="r" b="b" t="t" l="l"/>
            <a:pathLst>
              <a:path h="2250331" w="1715877">
                <a:moveTo>
                  <a:pt x="1715877" y="0"/>
                </a:moveTo>
                <a:lnTo>
                  <a:pt x="0" y="0"/>
                </a:lnTo>
                <a:lnTo>
                  <a:pt x="0" y="2250331"/>
                </a:lnTo>
                <a:lnTo>
                  <a:pt x="1715877" y="2250331"/>
                </a:lnTo>
                <a:lnTo>
                  <a:pt x="1715877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grpSp>
        <p:nvGrpSpPr>
          <p:cNvPr name="Group 29" id="29"/>
          <p:cNvGrpSpPr/>
          <p:nvPr/>
        </p:nvGrpSpPr>
        <p:grpSpPr>
          <a:xfrm rot="0">
            <a:off x="11693256" y="1432365"/>
            <a:ext cx="410111" cy="410111"/>
            <a:chOff x="0" y="0"/>
            <a:chExt cx="812800" cy="8128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7C03F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2302438" y="841940"/>
            <a:ext cx="3254931" cy="1000536"/>
            <a:chOff x="0" y="0"/>
            <a:chExt cx="739935" cy="227449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739935" cy="227449"/>
            </a:xfrm>
            <a:custGeom>
              <a:avLst/>
              <a:gdLst/>
              <a:ahLst/>
              <a:cxnLst/>
              <a:rect r="r" b="b" t="t" l="l"/>
              <a:pathLst>
                <a:path h="227449" w="739935">
                  <a:moveTo>
                    <a:pt x="113725" y="0"/>
                  </a:moveTo>
                  <a:lnTo>
                    <a:pt x="626211" y="0"/>
                  </a:lnTo>
                  <a:cubicBezTo>
                    <a:pt x="656372" y="0"/>
                    <a:pt x="685299" y="11982"/>
                    <a:pt x="706626" y="33309"/>
                  </a:cubicBezTo>
                  <a:cubicBezTo>
                    <a:pt x="727954" y="54637"/>
                    <a:pt x="739935" y="83563"/>
                    <a:pt x="739935" y="113725"/>
                  </a:cubicBezTo>
                  <a:lnTo>
                    <a:pt x="739935" y="113725"/>
                  </a:lnTo>
                  <a:cubicBezTo>
                    <a:pt x="739935" y="176533"/>
                    <a:pt x="689019" y="227449"/>
                    <a:pt x="626211" y="227449"/>
                  </a:cubicBezTo>
                  <a:lnTo>
                    <a:pt x="113725" y="227449"/>
                  </a:lnTo>
                  <a:cubicBezTo>
                    <a:pt x="83563" y="227449"/>
                    <a:pt x="54637" y="215468"/>
                    <a:pt x="33309" y="194140"/>
                  </a:cubicBezTo>
                  <a:cubicBezTo>
                    <a:pt x="11982" y="172813"/>
                    <a:pt x="0" y="143886"/>
                    <a:pt x="0" y="113725"/>
                  </a:cubicBezTo>
                  <a:lnTo>
                    <a:pt x="0" y="113725"/>
                  </a:lnTo>
                  <a:cubicBezTo>
                    <a:pt x="0" y="83563"/>
                    <a:pt x="11982" y="54637"/>
                    <a:pt x="33309" y="33309"/>
                  </a:cubicBezTo>
                  <a:cubicBezTo>
                    <a:pt x="54637" y="11982"/>
                    <a:pt x="83563" y="0"/>
                    <a:pt x="113725" y="0"/>
                  </a:cubicBezTo>
                  <a:close/>
                </a:path>
              </a:pathLst>
            </a:custGeom>
            <a:solidFill>
              <a:srgbClr val="F7C03F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739935" cy="2655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35" id="35"/>
          <p:cNvSpPr/>
          <p:nvPr/>
        </p:nvSpPr>
        <p:spPr>
          <a:xfrm flipH="false" flipV="false" rot="0">
            <a:off x="2786842" y="975124"/>
            <a:ext cx="454491" cy="664704"/>
          </a:xfrm>
          <a:custGeom>
            <a:avLst/>
            <a:gdLst/>
            <a:ahLst/>
            <a:cxnLst/>
            <a:rect r="r" b="b" t="t" l="l"/>
            <a:pathLst>
              <a:path h="664704" w="454491">
                <a:moveTo>
                  <a:pt x="0" y="0"/>
                </a:moveTo>
                <a:lnTo>
                  <a:pt x="454492" y="0"/>
                </a:lnTo>
                <a:lnTo>
                  <a:pt x="454492" y="664704"/>
                </a:lnTo>
                <a:lnTo>
                  <a:pt x="0" y="664704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6" id="36"/>
          <p:cNvSpPr txBox="true"/>
          <p:nvPr/>
        </p:nvSpPr>
        <p:spPr>
          <a:xfrm rot="0">
            <a:off x="1865734" y="2335976"/>
            <a:ext cx="10237633" cy="4475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75"/>
              </a:lnSpc>
            </a:pPr>
            <a:r>
              <a:rPr lang="en-US" sz="5390" b="true">
                <a:solidFill>
                  <a:srgbClr val="025A2C"/>
                </a:solidFill>
                <a:latin typeface="Gordita Bold"/>
                <a:ea typeface="Gordita Bold"/>
                <a:cs typeface="Gordita Bold"/>
                <a:sym typeface="Gordita Bold"/>
              </a:rPr>
              <a:t>Analisis Tren dan Perbandingan Metode Moving Average, SARIMA, dan Holt-Winters untuk Prediksi Nilai Tukar Petani (NTP) Jawa Tengah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815947" y="8771444"/>
            <a:ext cx="3203795" cy="264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9"/>
              </a:lnSpc>
              <a:spcBef>
                <a:spcPct val="0"/>
              </a:spcBef>
            </a:pPr>
            <a:r>
              <a:rPr lang="en-US" b="true" sz="1999">
                <a:solidFill>
                  <a:srgbClr val="FFFFFF"/>
                </a:solidFill>
                <a:latin typeface="Gordita Bold"/>
                <a:ea typeface="Gordita Bold"/>
                <a:cs typeface="Gordita Bold"/>
                <a:sym typeface="Gordita Bold"/>
              </a:rPr>
              <a:t>Matrix SaintaVers 2026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3242584" y="1204908"/>
            <a:ext cx="1631977" cy="312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3"/>
              </a:lnSpc>
              <a:spcBef>
                <a:spcPct val="0"/>
              </a:spcBef>
            </a:pPr>
            <a:r>
              <a:rPr lang="en-US" sz="2317">
                <a:solidFill>
                  <a:srgbClr val="023D1E"/>
                </a:solidFill>
                <a:latin typeface="Gordita"/>
                <a:ea typeface="Gordita"/>
                <a:cs typeface="Gordita"/>
                <a:sym typeface="Gordita"/>
              </a:rPr>
              <a:t>DCL 2026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2529575" y="7551698"/>
            <a:ext cx="2100664" cy="2796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1"/>
              </a:lnSpc>
              <a:spcBef>
                <a:spcPct val="0"/>
              </a:spcBef>
            </a:pPr>
            <a:r>
              <a:rPr lang="en-US" sz="2099">
                <a:solidFill>
                  <a:srgbClr val="025A2C"/>
                </a:solidFill>
                <a:latin typeface="Gordita"/>
                <a:ea typeface="Gordita"/>
                <a:cs typeface="Gordita"/>
                <a:sym typeface="Gordita"/>
              </a:rPr>
              <a:t>Presented By: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2529575" y="7971118"/>
            <a:ext cx="6614425" cy="3387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8"/>
              </a:lnSpc>
              <a:spcBef>
                <a:spcPct val="0"/>
              </a:spcBef>
            </a:pPr>
            <a:r>
              <a:rPr lang="en-US" b="true" sz="2488">
                <a:solidFill>
                  <a:srgbClr val="025A2C"/>
                </a:solidFill>
                <a:latin typeface="Gordita Bold"/>
                <a:ea typeface="Gordita Bold"/>
                <a:cs typeface="Gordita Bold"/>
                <a:sym typeface="Gordita Bold"/>
              </a:rPr>
              <a:t>Tim Wujud Asli Viewer Windah Basudara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850888" y="8403010"/>
            <a:ext cx="6968101" cy="5990202"/>
            <a:chOff x="0" y="0"/>
            <a:chExt cx="1835220" cy="157766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35220" cy="1577666"/>
            </a:xfrm>
            <a:custGeom>
              <a:avLst/>
              <a:gdLst/>
              <a:ahLst/>
              <a:cxnLst/>
              <a:rect r="r" b="b" t="t" l="l"/>
              <a:pathLst>
                <a:path h="1577666" w="1835220">
                  <a:moveTo>
                    <a:pt x="0" y="0"/>
                  </a:moveTo>
                  <a:lnTo>
                    <a:pt x="1835220" y="0"/>
                  </a:lnTo>
                  <a:lnTo>
                    <a:pt x="1835220" y="1577666"/>
                  </a:lnTo>
                  <a:lnTo>
                    <a:pt x="0" y="1577666"/>
                  </a:lnTo>
                  <a:close/>
                </a:path>
              </a:pathLst>
            </a:custGeom>
            <a:solidFill>
              <a:srgbClr val="025A2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38100"/>
              <a:ext cx="1835220" cy="15395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4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212107" y="3311432"/>
            <a:ext cx="7931893" cy="5637739"/>
            <a:chOff x="0" y="0"/>
            <a:chExt cx="2089058" cy="148483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89058" cy="1484836"/>
            </a:xfrm>
            <a:custGeom>
              <a:avLst/>
              <a:gdLst/>
              <a:ahLst/>
              <a:cxnLst/>
              <a:rect r="r" b="b" t="t" l="l"/>
              <a:pathLst>
                <a:path h="1484836" w="2089058">
                  <a:moveTo>
                    <a:pt x="34162" y="0"/>
                  </a:moveTo>
                  <a:lnTo>
                    <a:pt x="2054896" y="0"/>
                  </a:lnTo>
                  <a:cubicBezTo>
                    <a:pt x="2073763" y="0"/>
                    <a:pt x="2089058" y="15295"/>
                    <a:pt x="2089058" y="34162"/>
                  </a:cubicBezTo>
                  <a:lnTo>
                    <a:pt x="2089058" y="1450675"/>
                  </a:lnTo>
                  <a:cubicBezTo>
                    <a:pt x="2089058" y="1459735"/>
                    <a:pt x="2085459" y="1468424"/>
                    <a:pt x="2079052" y="1474831"/>
                  </a:cubicBezTo>
                  <a:cubicBezTo>
                    <a:pt x="2072646" y="1481237"/>
                    <a:pt x="2063957" y="1484836"/>
                    <a:pt x="2054896" y="1484836"/>
                  </a:cubicBezTo>
                  <a:lnTo>
                    <a:pt x="34162" y="1484836"/>
                  </a:lnTo>
                  <a:cubicBezTo>
                    <a:pt x="25101" y="1484836"/>
                    <a:pt x="16412" y="1481237"/>
                    <a:pt x="10006" y="1474831"/>
                  </a:cubicBezTo>
                  <a:cubicBezTo>
                    <a:pt x="3599" y="1468424"/>
                    <a:pt x="0" y="1459735"/>
                    <a:pt x="0" y="1450675"/>
                  </a:cubicBezTo>
                  <a:lnTo>
                    <a:pt x="0" y="34162"/>
                  </a:lnTo>
                  <a:cubicBezTo>
                    <a:pt x="0" y="25101"/>
                    <a:pt x="3599" y="16412"/>
                    <a:pt x="10006" y="10006"/>
                  </a:cubicBezTo>
                  <a:cubicBezTo>
                    <a:pt x="16412" y="3599"/>
                    <a:pt x="25101" y="0"/>
                    <a:pt x="34162" y="0"/>
                  </a:cubicBezTo>
                  <a:close/>
                </a:path>
              </a:pathLst>
            </a:custGeom>
            <a:ln w="38100" cap="rnd">
              <a:solidFill>
                <a:srgbClr val="00813E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089058" cy="15229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true" flipV="false" rot="0">
            <a:off x="4914616" y="8472448"/>
            <a:ext cx="8458767" cy="5990202"/>
          </a:xfrm>
          <a:custGeom>
            <a:avLst/>
            <a:gdLst/>
            <a:ahLst/>
            <a:cxnLst/>
            <a:rect r="r" b="b" t="t" l="l"/>
            <a:pathLst>
              <a:path h="5990202" w="8458767">
                <a:moveTo>
                  <a:pt x="8458768" y="0"/>
                </a:moveTo>
                <a:lnTo>
                  <a:pt x="0" y="0"/>
                </a:lnTo>
                <a:lnTo>
                  <a:pt x="0" y="5990202"/>
                </a:lnTo>
                <a:lnTo>
                  <a:pt x="8458768" y="5990202"/>
                </a:lnTo>
                <a:lnTo>
                  <a:pt x="845876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37091" r="-474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0213740" y="635672"/>
            <a:ext cx="9893943" cy="3326838"/>
          </a:xfrm>
          <a:custGeom>
            <a:avLst/>
            <a:gdLst/>
            <a:ahLst/>
            <a:cxnLst/>
            <a:rect r="r" b="b" t="t" l="l"/>
            <a:pathLst>
              <a:path h="3326838" w="9893943">
                <a:moveTo>
                  <a:pt x="0" y="0"/>
                </a:moveTo>
                <a:lnTo>
                  <a:pt x="9893943" y="0"/>
                </a:lnTo>
                <a:lnTo>
                  <a:pt x="9893943" y="3326838"/>
                </a:lnTo>
                <a:lnTo>
                  <a:pt x="0" y="33268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4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0" id="10"/>
          <p:cNvSpPr/>
          <p:nvPr/>
        </p:nvSpPr>
        <p:spPr>
          <a:xfrm flipH="true" flipV="true" rot="0">
            <a:off x="11084220" y="-475593"/>
            <a:ext cx="8488516" cy="5549367"/>
          </a:xfrm>
          <a:custGeom>
            <a:avLst/>
            <a:gdLst/>
            <a:ahLst/>
            <a:cxnLst/>
            <a:rect r="r" b="b" t="t" l="l"/>
            <a:pathLst>
              <a:path h="5549367" w="8488516">
                <a:moveTo>
                  <a:pt x="8488516" y="5549368"/>
                </a:moveTo>
                <a:lnTo>
                  <a:pt x="0" y="5549368"/>
                </a:lnTo>
                <a:lnTo>
                  <a:pt x="0" y="0"/>
                </a:lnTo>
                <a:lnTo>
                  <a:pt x="8488516" y="0"/>
                </a:lnTo>
                <a:lnTo>
                  <a:pt x="8488516" y="5549368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6072776" y="7148347"/>
            <a:ext cx="4062174" cy="4062174"/>
          </a:xfrm>
          <a:custGeom>
            <a:avLst/>
            <a:gdLst/>
            <a:ahLst/>
            <a:cxnLst/>
            <a:rect r="r" b="b" t="t" l="l"/>
            <a:pathLst>
              <a:path h="4062174" w="4062174">
                <a:moveTo>
                  <a:pt x="0" y="0"/>
                </a:moveTo>
                <a:lnTo>
                  <a:pt x="4062174" y="0"/>
                </a:lnTo>
                <a:lnTo>
                  <a:pt x="4062174" y="4062173"/>
                </a:lnTo>
                <a:lnTo>
                  <a:pt x="0" y="406217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74000"/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10136528" y="3696260"/>
            <a:ext cx="532499" cy="532499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7C03F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114300"/>
              <a:ext cx="660400" cy="622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5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041755" y="834391"/>
            <a:ext cx="2809442" cy="863597"/>
            <a:chOff x="0" y="0"/>
            <a:chExt cx="739935" cy="227449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39935" cy="227449"/>
            </a:xfrm>
            <a:custGeom>
              <a:avLst/>
              <a:gdLst/>
              <a:ahLst/>
              <a:cxnLst/>
              <a:rect r="r" b="b" t="t" l="l"/>
              <a:pathLst>
                <a:path h="227449" w="739935">
                  <a:moveTo>
                    <a:pt x="113725" y="0"/>
                  </a:moveTo>
                  <a:lnTo>
                    <a:pt x="626211" y="0"/>
                  </a:lnTo>
                  <a:cubicBezTo>
                    <a:pt x="656372" y="0"/>
                    <a:pt x="685299" y="11982"/>
                    <a:pt x="706626" y="33309"/>
                  </a:cubicBezTo>
                  <a:cubicBezTo>
                    <a:pt x="727954" y="54637"/>
                    <a:pt x="739935" y="83563"/>
                    <a:pt x="739935" y="113725"/>
                  </a:cubicBezTo>
                  <a:lnTo>
                    <a:pt x="739935" y="113725"/>
                  </a:lnTo>
                  <a:cubicBezTo>
                    <a:pt x="739935" y="176533"/>
                    <a:pt x="689019" y="227449"/>
                    <a:pt x="626211" y="227449"/>
                  </a:cubicBezTo>
                  <a:lnTo>
                    <a:pt x="113725" y="227449"/>
                  </a:lnTo>
                  <a:cubicBezTo>
                    <a:pt x="83563" y="227449"/>
                    <a:pt x="54637" y="215468"/>
                    <a:pt x="33309" y="194140"/>
                  </a:cubicBezTo>
                  <a:cubicBezTo>
                    <a:pt x="11982" y="172813"/>
                    <a:pt x="0" y="143886"/>
                    <a:pt x="0" y="113725"/>
                  </a:cubicBezTo>
                  <a:lnTo>
                    <a:pt x="0" y="113725"/>
                  </a:lnTo>
                  <a:cubicBezTo>
                    <a:pt x="0" y="83563"/>
                    <a:pt x="11982" y="54637"/>
                    <a:pt x="33309" y="33309"/>
                  </a:cubicBezTo>
                  <a:cubicBezTo>
                    <a:pt x="54637" y="11982"/>
                    <a:pt x="83563" y="0"/>
                    <a:pt x="113725" y="0"/>
                  </a:cubicBezTo>
                  <a:close/>
                </a:path>
              </a:pathLst>
            </a:custGeom>
            <a:solidFill>
              <a:srgbClr val="F7C03F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739935" cy="2655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1459861" y="949347"/>
            <a:ext cx="392287" cy="573729"/>
          </a:xfrm>
          <a:custGeom>
            <a:avLst/>
            <a:gdLst/>
            <a:ahLst/>
            <a:cxnLst/>
            <a:rect r="r" b="b" t="t" l="l"/>
            <a:pathLst>
              <a:path h="573729" w="392287">
                <a:moveTo>
                  <a:pt x="0" y="0"/>
                </a:moveTo>
                <a:lnTo>
                  <a:pt x="392287" y="0"/>
                </a:lnTo>
                <a:lnTo>
                  <a:pt x="392287" y="573729"/>
                </a:lnTo>
                <a:lnTo>
                  <a:pt x="0" y="57372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true" flipV="false" rot="0">
            <a:off x="16680258" y="6311294"/>
            <a:ext cx="2635103" cy="3455872"/>
          </a:xfrm>
          <a:custGeom>
            <a:avLst/>
            <a:gdLst/>
            <a:ahLst/>
            <a:cxnLst/>
            <a:rect r="r" b="b" t="t" l="l"/>
            <a:pathLst>
              <a:path h="3455872" w="2635103">
                <a:moveTo>
                  <a:pt x="2635103" y="0"/>
                </a:moveTo>
                <a:lnTo>
                  <a:pt x="0" y="0"/>
                </a:lnTo>
                <a:lnTo>
                  <a:pt x="0" y="3455873"/>
                </a:lnTo>
                <a:lnTo>
                  <a:pt x="2635103" y="3455873"/>
                </a:lnTo>
                <a:lnTo>
                  <a:pt x="2635103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028700" y="1986550"/>
            <a:ext cx="5500677" cy="13248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21"/>
              </a:lnSpc>
            </a:pPr>
            <a:r>
              <a:rPr lang="en-US" sz="9824" b="true">
                <a:solidFill>
                  <a:srgbClr val="025A2C"/>
                </a:solidFill>
                <a:latin typeface="Gordita Bold"/>
                <a:ea typeface="Gordita Bold"/>
                <a:cs typeface="Gordita Bold"/>
                <a:sym typeface="Gordita Bold"/>
              </a:rPr>
              <a:t>Problem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487563" y="3530507"/>
            <a:ext cx="7349349" cy="52008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217"/>
              </a:lnSpc>
            </a:pPr>
            <a:r>
              <a:rPr lang="en-US" sz="2049">
                <a:solidFill>
                  <a:srgbClr val="023D1E"/>
                </a:solidFill>
                <a:latin typeface="Gordita"/>
                <a:ea typeface="Gordita"/>
                <a:cs typeface="Gordita"/>
                <a:sym typeface="Gordita"/>
              </a:rPr>
              <a:t>Sektor pertanian memiliki peran penting dalam menjaga kestabilan ekonomi daerah, khususnya di Provinsi Jawa Tengah yang dikenal sebagai salah satu wilayah dengan aktivitas pertanian cukup tinggi.</a:t>
            </a:r>
          </a:p>
          <a:p>
            <a:pPr algn="just">
              <a:lnSpc>
                <a:spcPts val="3217"/>
              </a:lnSpc>
            </a:pPr>
            <a:r>
              <a:rPr lang="en-US" sz="2049">
                <a:solidFill>
                  <a:srgbClr val="023D1E"/>
                </a:solidFill>
                <a:latin typeface="Gordita"/>
                <a:ea typeface="Gordita"/>
                <a:cs typeface="Gordita"/>
                <a:sym typeface="Gordita"/>
              </a:rPr>
              <a:t>Namun, kondisi ekonomi petani tidak selalu stabil. Perubahan harga hasil panen, biaya produksi, inflasi, hingga kondisi pasar dapat memengaruhi daya beli dan tingkat kesejahteraan petani.</a:t>
            </a:r>
          </a:p>
          <a:p>
            <a:pPr algn="just">
              <a:lnSpc>
                <a:spcPts val="3217"/>
              </a:lnSpc>
            </a:pPr>
            <a:r>
              <a:rPr lang="en-US" sz="2049">
                <a:solidFill>
                  <a:srgbClr val="023D1E"/>
                </a:solidFill>
                <a:latin typeface="Gordita"/>
                <a:ea typeface="Gordita"/>
                <a:cs typeface="Gordita"/>
                <a:sym typeface="Gordita"/>
              </a:rPr>
              <a:t>Salah satu indikator yang digunakan untuk melihat kondisi tersebut adalah Nilai Tukar Petani (NTP) — mencerminkan apakah pendapatan petani mampu mengimbangi pengeluaran produksi maupun rumah tangga.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9565331" y="3894709"/>
            <a:ext cx="7617525" cy="1185034"/>
            <a:chOff x="0" y="0"/>
            <a:chExt cx="2006262" cy="31210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006262" cy="312108"/>
            </a:xfrm>
            <a:custGeom>
              <a:avLst/>
              <a:gdLst/>
              <a:ahLst/>
              <a:cxnLst/>
              <a:rect r="r" b="b" t="t" l="l"/>
              <a:pathLst>
                <a:path h="312108" w="2006262">
                  <a:moveTo>
                    <a:pt x="35572" y="0"/>
                  </a:moveTo>
                  <a:lnTo>
                    <a:pt x="1970690" y="0"/>
                  </a:lnTo>
                  <a:cubicBezTo>
                    <a:pt x="1990336" y="0"/>
                    <a:pt x="2006262" y="15926"/>
                    <a:pt x="2006262" y="35572"/>
                  </a:cubicBezTo>
                  <a:lnTo>
                    <a:pt x="2006262" y="276536"/>
                  </a:lnTo>
                  <a:cubicBezTo>
                    <a:pt x="2006262" y="285970"/>
                    <a:pt x="2002514" y="295018"/>
                    <a:pt x="1995843" y="301689"/>
                  </a:cubicBezTo>
                  <a:cubicBezTo>
                    <a:pt x="1989172" y="308360"/>
                    <a:pt x="1980124" y="312108"/>
                    <a:pt x="1970690" y="312108"/>
                  </a:cubicBezTo>
                  <a:lnTo>
                    <a:pt x="35572" y="312108"/>
                  </a:lnTo>
                  <a:cubicBezTo>
                    <a:pt x="15926" y="312108"/>
                    <a:pt x="0" y="296182"/>
                    <a:pt x="0" y="276536"/>
                  </a:cubicBezTo>
                  <a:lnTo>
                    <a:pt x="0" y="35572"/>
                  </a:lnTo>
                  <a:cubicBezTo>
                    <a:pt x="0" y="26137"/>
                    <a:pt x="3748" y="17090"/>
                    <a:pt x="10419" y="10419"/>
                  </a:cubicBezTo>
                  <a:cubicBezTo>
                    <a:pt x="17090" y="3748"/>
                    <a:pt x="26137" y="0"/>
                    <a:pt x="35572" y="0"/>
                  </a:cubicBezTo>
                  <a:close/>
                </a:path>
              </a:pathLst>
            </a:custGeom>
            <a:solidFill>
              <a:srgbClr val="023D1E"/>
            </a:solidFill>
            <a:ln w="38100" cap="rnd">
              <a:solidFill>
                <a:srgbClr val="00813E"/>
              </a:solidFill>
              <a:prstDash val="solid"/>
              <a:round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2006262" cy="3502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2446476" y="8510919"/>
            <a:ext cx="2054877" cy="1447749"/>
            <a:chOff x="0" y="0"/>
            <a:chExt cx="1153656" cy="812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153656" cy="812800"/>
            </a:xfrm>
            <a:custGeom>
              <a:avLst/>
              <a:gdLst/>
              <a:ahLst/>
              <a:cxnLst/>
              <a:rect r="r" b="b" t="t" l="l"/>
              <a:pathLst>
                <a:path h="812800" w="1153656">
                  <a:moveTo>
                    <a:pt x="576828" y="0"/>
                  </a:moveTo>
                  <a:cubicBezTo>
                    <a:pt x="258255" y="0"/>
                    <a:pt x="0" y="181951"/>
                    <a:pt x="0" y="406400"/>
                  </a:cubicBezTo>
                  <a:cubicBezTo>
                    <a:pt x="0" y="630849"/>
                    <a:pt x="258255" y="812800"/>
                    <a:pt x="576828" y="812800"/>
                  </a:cubicBezTo>
                  <a:cubicBezTo>
                    <a:pt x="895401" y="812800"/>
                    <a:pt x="1153656" y="630849"/>
                    <a:pt x="1153656" y="406400"/>
                  </a:cubicBezTo>
                  <a:cubicBezTo>
                    <a:pt x="1153656" y="181951"/>
                    <a:pt x="895401" y="0"/>
                    <a:pt x="576828" y="0"/>
                  </a:cubicBezTo>
                  <a:close/>
                </a:path>
              </a:pathLst>
            </a:custGeom>
            <a:solidFill>
              <a:srgbClr val="F7C03F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108155" y="114300"/>
              <a:ext cx="937345" cy="622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40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4247385" y="8590908"/>
            <a:ext cx="4803361" cy="1367760"/>
            <a:chOff x="0" y="0"/>
            <a:chExt cx="1265083" cy="360233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265083" cy="360233"/>
            </a:xfrm>
            <a:custGeom>
              <a:avLst/>
              <a:gdLst/>
              <a:ahLst/>
              <a:cxnLst/>
              <a:rect r="r" b="b" t="t" l="l"/>
              <a:pathLst>
                <a:path h="360233" w="1265083">
                  <a:moveTo>
                    <a:pt x="153118" y="0"/>
                  </a:moveTo>
                  <a:lnTo>
                    <a:pt x="1111964" y="0"/>
                  </a:lnTo>
                  <a:cubicBezTo>
                    <a:pt x="1152574" y="0"/>
                    <a:pt x="1191520" y="16132"/>
                    <a:pt x="1220235" y="44847"/>
                  </a:cubicBezTo>
                  <a:cubicBezTo>
                    <a:pt x="1248951" y="73563"/>
                    <a:pt x="1265083" y="112509"/>
                    <a:pt x="1265083" y="153118"/>
                  </a:cubicBezTo>
                  <a:lnTo>
                    <a:pt x="1265083" y="207115"/>
                  </a:lnTo>
                  <a:cubicBezTo>
                    <a:pt x="1265083" y="247724"/>
                    <a:pt x="1248951" y="286671"/>
                    <a:pt x="1220235" y="315386"/>
                  </a:cubicBezTo>
                  <a:cubicBezTo>
                    <a:pt x="1191520" y="344101"/>
                    <a:pt x="1152574" y="360233"/>
                    <a:pt x="1111964" y="360233"/>
                  </a:cubicBezTo>
                  <a:lnTo>
                    <a:pt x="153118" y="360233"/>
                  </a:lnTo>
                  <a:cubicBezTo>
                    <a:pt x="112509" y="360233"/>
                    <a:pt x="73563" y="344101"/>
                    <a:pt x="44847" y="315386"/>
                  </a:cubicBezTo>
                  <a:cubicBezTo>
                    <a:pt x="16132" y="286671"/>
                    <a:pt x="0" y="247724"/>
                    <a:pt x="0" y="207115"/>
                  </a:cubicBezTo>
                  <a:lnTo>
                    <a:pt x="0" y="153118"/>
                  </a:lnTo>
                  <a:cubicBezTo>
                    <a:pt x="0" y="112509"/>
                    <a:pt x="16132" y="73563"/>
                    <a:pt x="44847" y="44847"/>
                  </a:cubicBezTo>
                  <a:cubicBezTo>
                    <a:pt x="73563" y="16132"/>
                    <a:pt x="112509" y="0"/>
                    <a:pt x="153118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813E"/>
              </a:solidFill>
              <a:prstDash val="solid"/>
              <a:round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1265083" cy="3983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4721563" y="8793500"/>
            <a:ext cx="3594389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16"/>
              </a:lnSpc>
            </a:pPr>
            <a:r>
              <a:rPr lang="en-US" sz="1430" b="true">
                <a:solidFill>
                  <a:srgbClr val="023D1E"/>
                </a:solidFill>
                <a:latin typeface="Gordita Bold"/>
                <a:ea typeface="Gordita Bold"/>
                <a:cs typeface="Gordita Bold"/>
                <a:sym typeface="Gordita Bold"/>
              </a:rPr>
              <a:t>selaras dengan Tujuan Pembangunan Berkelanjutan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2831040" y="8903134"/>
            <a:ext cx="1306170" cy="558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92"/>
              </a:lnSpc>
            </a:pPr>
            <a:r>
              <a:rPr lang="en-US" sz="2988" b="true">
                <a:solidFill>
                  <a:srgbClr val="023D1E"/>
                </a:solidFill>
                <a:latin typeface="Gordita Bold"/>
                <a:ea typeface="Gordita Bold"/>
                <a:cs typeface="Gordita Bold"/>
                <a:sym typeface="Gordita Bold"/>
              </a:rPr>
              <a:t>SDG 8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0308780" y="4121734"/>
            <a:ext cx="6432895" cy="636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560"/>
              </a:lnSpc>
            </a:pPr>
            <a:r>
              <a:rPr lang="en-US" sz="2000">
                <a:solidFill>
                  <a:srgbClr val="FFFFFF"/>
                </a:solidFill>
                <a:latin typeface="Gordita"/>
                <a:ea typeface="Gordita"/>
                <a:cs typeface="Gordita"/>
                <a:sym typeface="Gordita"/>
              </a:rPr>
              <a:t>Bagaimana perubahan NTP dari waktu ke waktu? Jelaskan tren yang terbentuk.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9565331" y="2746474"/>
            <a:ext cx="4140513" cy="1052985"/>
            <a:chOff x="0" y="0"/>
            <a:chExt cx="1090505" cy="277329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090505" cy="277329"/>
            </a:xfrm>
            <a:custGeom>
              <a:avLst/>
              <a:gdLst/>
              <a:ahLst/>
              <a:cxnLst/>
              <a:rect r="r" b="b" t="t" l="l"/>
              <a:pathLst>
                <a:path h="277329" w="1090505">
                  <a:moveTo>
                    <a:pt x="65443" y="0"/>
                  </a:moveTo>
                  <a:lnTo>
                    <a:pt x="1025063" y="0"/>
                  </a:lnTo>
                  <a:cubicBezTo>
                    <a:pt x="1061206" y="0"/>
                    <a:pt x="1090505" y="29300"/>
                    <a:pt x="1090505" y="65443"/>
                  </a:cubicBezTo>
                  <a:lnTo>
                    <a:pt x="1090505" y="211886"/>
                  </a:lnTo>
                  <a:cubicBezTo>
                    <a:pt x="1090505" y="248030"/>
                    <a:pt x="1061206" y="277329"/>
                    <a:pt x="1025063" y="277329"/>
                  </a:cubicBezTo>
                  <a:lnTo>
                    <a:pt x="65443" y="277329"/>
                  </a:lnTo>
                  <a:cubicBezTo>
                    <a:pt x="29300" y="277329"/>
                    <a:pt x="0" y="248030"/>
                    <a:pt x="0" y="211886"/>
                  </a:cubicBezTo>
                  <a:lnTo>
                    <a:pt x="0" y="65443"/>
                  </a:lnTo>
                  <a:cubicBezTo>
                    <a:pt x="0" y="29300"/>
                    <a:pt x="29300" y="0"/>
                    <a:pt x="65443" y="0"/>
                  </a:cubicBezTo>
                  <a:close/>
                </a:path>
              </a:pathLst>
            </a:custGeom>
            <a:solidFill>
              <a:srgbClr val="023D1E"/>
            </a:solidFill>
            <a:ln w="38100" cap="rnd">
              <a:solidFill>
                <a:srgbClr val="00813E"/>
              </a:solidFill>
              <a:prstDash val="solid"/>
              <a:round/>
            </a:ln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1090505" cy="3154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9565331" y="5172391"/>
            <a:ext cx="7617525" cy="1185034"/>
            <a:chOff x="0" y="0"/>
            <a:chExt cx="2006262" cy="312108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006262" cy="312108"/>
            </a:xfrm>
            <a:custGeom>
              <a:avLst/>
              <a:gdLst/>
              <a:ahLst/>
              <a:cxnLst/>
              <a:rect r="r" b="b" t="t" l="l"/>
              <a:pathLst>
                <a:path h="312108" w="2006262">
                  <a:moveTo>
                    <a:pt x="35572" y="0"/>
                  </a:moveTo>
                  <a:lnTo>
                    <a:pt x="1970690" y="0"/>
                  </a:lnTo>
                  <a:cubicBezTo>
                    <a:pt x="1990336" y="0"/>
                    <a:pt x="2006262" y="15926"/>
                    <a:pt x="2006262" y="35572"/>
                  </a:cubicBezTo>
                  <a:lnTo>
                    <a:pt x="2006262" y="276536"/>
                  </a:lnTo>
                  <a:cubicBezTo>
                    <a:pt x="2006262" y="285970"/>
                    <a:pt x="2002514" y="295018"/>
                    <a:pt x="1995843" y="301689"/>
                  </a:cubicBezTo>
                  <a:cubicBezTo>
                    <a:pt x="1989172" y="308360"/>
                    <a:pt x="1980124" y="312108"/>
                    <a:pt x="1970690" y="312108"/>
                  </a:cubicBezTo>
                  <a:lnTo>
                    <a:pt x="35572" y="312108"/>
                  </a:lnTo>
                  <a:cubicBezTo>
                    <a:pt x="15926" y="312108"/>
                    <a:pt x="0" y="296182"/>
                    <a:pt x="0" y="276536"/>
                  </a:cubicBezTo>
                  <a:lnTo>
                    <a:pt x="0" y="35572"/>
                  </a:lnTo>
                  <a:cubicBezTo>
                    <a:pt x="0" y="26137"/>
                    <a:pt x="3748" y="17090"/>
                    <a:pt x="10419" y="10419"/>
                  </a:cubicBezTo>
                  <a:cubicBezTo>
                    <a:pt x="17090" y="3748"/>
                    <a:pt x="26137" y="0"/>
                    <a:pt x="35572" y="0"/>
                  </a:cubicBezTo>
                  <a:close/>
                </a:path>
              </a:pathLst>
            </a:custGeom>
            <a:solidFill>
              <a:srgbClr val="023D1E"/>
            </a:solidFill>
            <a:ln w="38100" cap="rnd">
              <a:solidFill>
                <a:srgbClr val="00813E"/>
              </a:solidFill>
              <a:prstDash val="solid"/>
              <a:round/>
            </a:ln>
          </p:spPr>
        </p:sp>
        <p:sp>
          <p:nvSpPr>
            <p:cNvPr name="TextBox 39" id="39"/>
            <p:cNvSpPr txBox="true"/>
            <p:nvPr/>
          </p:nvSpPr>
          <p:spPr>
            <a:xfrm>
              <a:off x="0" y="-38100"/>
              <a:ext cx="2006262" cy="3502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9565331" y="6468264"/>
            <a:ext cx="7617525" cy="1185034"/>
            <a:chOff x="0" y="0"/>
            <a:chExt cx="2006262" cy="312108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2006262" cy="312108"/>
            </a:xfrm>
            <a:custGeom>
              <a:avLst/>
              <a:gdLst/>
              <a:ahLst/>
              <a:cxnLst/>
              <a:rect r="r" b="b" t="t" l="l"/>
              <a:pathLst>
                <a:path h="312108" w="2006262">
                  <a:moveTo>
                    <a:pt x="35572" y="0"/>
                  </a:moveTo>
                  <a:lnTo>
                    <a:pt x="1970690" y="0"/>
                  </a:lnTo>
                  <a:cubicBezTo>
                    <a:pt x="1990336" y="0"/>
                    <a:pt x="2006262" y="15926"/>
                    <a:pt x="2006262" y="35572"/>
                  </a:cubicBezTo>
                  <a:lnTo>
                    <a:pt x="2006262" y="276536"/>
                  </a:lnTo>
                  <a:cubicBezTo>
                    <a:pt x="2006262" y="285970"/>
                    <a:pt x="2002514" y="295018"/>
                    <a:pt x="1995843" y="301689"/>
                  </a:cubicBezTo>
                  <a:cubicBezTo>
                    <a:pt x="1989172" y="308360"/>
                    <a:pt x="1980124" y="312108"/>
                    <a:pt x="1970690" y="312108"/>
                  </a:cubicBezTo>
                  <a:lnTo>
                    <a:pt x="35572" y="312108"/>
                  </a:lnTo>
                  <a:cubicBezTo>
                    <a:pt x="15926" y="312108"/>
                    <a:pt x="0" y="296182"/>
                    <a:pt x="0" y="276536"/>
                  </a:cubicBezTo>
                  <a:lnTo>
                    <a:pt x="0" y="35572"/>
                  </a:lnTo>
                  <a:cubicBezTo>
                    <a:pt x="0" y="26137"/>
                    <a:pt x="3748" y="17090"/>
                    <a:pt x="10419" y="10419"/>
                  </a:cubicBezTo>
                  <a:cubicBezTo>
                    <a:pt x="17090" y="3748"/>
                    <a:pt x="26137" y="0"/>
                    <a:pt x="35572" y="0"/>
                  </a:cubicBezTo>
                  <a:close/>
                </a:path>
              </a:pathLst>
            </a:custGeom>
            <a:solidFill>
              <a:srgbClr val="023D1E"/>
            </a:solidFill>
            <a:ln w="38100" cap="rnd">
              <a:solidFill>
                <a:srgbClr val="00813E"/>
              </a:solidFill>
              <a:prstDash val="solid"/>
              <a:round/>
            </a:ln>
          </p:spPr>
        </p:sp>
        <p:sp>
          <p:nvSpPr>
            <p:cNvPr name="TextBox 42" id="42"/>
            <p:cNvSpPr txBox="true"/>
            <p:nvPr/>
          </p:nvSpPr>
          <p:spPr>
            <a:xfrm>
              <a:off x="0" y="-38100"/>
              <a:ext cx="2006262" cy="3502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43" id="43"/>
          <p:cNvSpPr txBox="true"/>
          <p:nvPr/>
        </p:nvSpPr>
        <p:spPr>
          <a:xfrm rot="0">
            <a:off x="10313554" y="6734248"/>
            <a:ext cx="6784580" cy="636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0"/>
              </a:lnSpc>
            </a:pPr>
            <a:r>
              <a:rPr lang="en-US" sz="2000">
                <a:solidFill>
                  <a:srgbClr val="FFFFFF"/>
                </a:solidFill>
                <a:latin typeface="Gordita"/>
                <a:ea typeface="Gordita"/>
                <a:cs typeface="Gordita"/>
                <a:sym typeface="Gordita"/>
              </a:rPr>
              <a:t>Bagaimana kondisi kesejahteraan petani Jawa Tengah berdasarkan data NTP?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0313554" y="5415864"/>
            <a:ext cx="6784580" cy="636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0"/>
              </a:lnSpc>
            </a:pPr>
            <a:r>
              <a:rPr lang="en-US" sz="2000">
                <a:solidFill>
                  <a:srgbClr val="FFFFFF"/>
                </a:solidFill>
                <a:latin typeface="Gordita"/>
                <a:ea typeface="Gordita"/>
                <a:cs typeface="Gordita"/>
                <a:sym typeface="Gordita"/>
              </a:rPr>
              <a:t>Kapan NTP mengalami kenaikan/penurunan paling signifikan? Apa faktornya?</a:t>
            </a:r>
          </a:p>
        </p:txBody>
      </p:sp>
      <p:grpSp>
        <p:nvGrpSpPr>
          <p:cNvPr name="Group 45" id="45"/>
          <p:cNvGrpSpPr/>
          <p:nvPr/>
        </p:nvGrpSpPr>
        <p:grpSpPr>
          <a:xfrm rot="0">
            <a:off x="9565331" y="7764137"/>
            <a:ext cx="7617525" cy="1185034"/>
            <a:chOff x="0" y="0"/>
            <a:chExt cx="2006262" cy="312108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2006262" cy="312108"/>
            </a:xfrm>
            <a:custGeom>
              <a:avLst/>
              <a:gdLst/>
              <a:ahLst/>
              <a:cxnLst/>
              <a:rect r="r" b="b" t="t" l="l"/>
              <a:pathLst>
                <a:path h="312108" w="2006262">
                  <a:moveTo>
                    <a:pt x="35572" y="0"/>
                  </a:moveTo>
                  <a:lnTo>
                    <a:pt x="1970690" y="0"/>
                  </a:lnTo>
                  <a:cubicBezTo>
                    <a:pt x="1990336" y="0"/>
                    <a:pt x="2006262" y="15926"/>
                    <a:pt x="2006262" y="35572"/>
                  </a:cubicBezTo>
                  <a:lnTo>
                    <a:pt x="2006262" y="276536"/>
                  </a:lnTo>
                  <a:cubicBezTo>
                    <a:pt x="2006262" y="285970"/>
                    <a:pt x="2002514" y="295018"/>
                    <a:pt x="1995843" y="301689"/>
                  </a:cubicBezTo>
                  <a:cubicBezTo>
                    <a:pt x="1989172" y="308360"/>
                    <a:pt x="1980124" y="312108"/>
                    <a:pt x="1970690" y="312108"/>
                  </a:cubicBezTo>
                  <a:lnTo>
                    <a:pt x="35572" y="312108"/>
                  </a:lnTo>
                  <a:cubicBezTo>
                    <a:pt x="15926" y="312108"/>
                    <a:pt x="0" y="296182"/>
                    <a:pt x="0" y="276536"/>
                  </a:cubicBezTo>
                  <a:lnTo>
                    <a:pt x="0" y="35572"/>
                  </a:lnTo>
                  <a:cubicBezTo>
                    <a:pt x="0" y="26137"/>
                    <a:pt x="3748" y="17090"/>
                    <a:pt x="10419" y="10419"/>
                  </a:cubicBezTo>
                  <a:cubicBezTo>
                    <a:pt x="17090" y="3748"/>
                    <a:pt x="26137" y="0"/>
                    <a:pt x="35572" y="0"/>
                  </a:cubicBezTo>
                  <a:close/>
                </a:path>
              </a:pathLst>
            </a:custGeom>
            <a:solidFill>
              <a:srgbClr val="023D1E"/>
            </a:solidFill>
            <a:ln w="38100" cap="rnd">
              <a:solidFill>
                <a:srgbClr val="00813E"/>
              </a:solidFill>
              <a:prstDash val="solid"/>
              <a:round/>
            </a:ln>
          </p:spPr>
        </p:sp>
        <p:sp>
          <p:nvSpPr>
            <p:cNvPr name="TextBox 47" id="47"/>
            <p:cNvSpPr txBox="true"/>
            <p:nvPr/>
          </p:nvSpPr>
          <p:spPr>
            <a:xfrm>
              <a:off x="0" y="-38100"/>
              <a:ext cx="2006262" cy="3502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48" id="48"/>
          <p:cNvSpPr/>
          <p:nvPr/>
        </p:nvSpPr>
        <p:spPr>
          <a:xfrm flipH="true" flipV="false" rot="0">
            <a:off x="8536161" y="8274305"/>
            <a:ext cx="1029170" cy="1349732"/>
          </a:xfrm>
          <a:custGeom>
            <a:avLst/>
            <a:gdLst/>
            <a:ahLst/>
            <a:cxnLst/>
            <a:rect r="r" b="b" t="t" l="l"/>
            <a:pathLst>
              <a:path h="1349732" w="1029170">
                <a:moveTo>
                  <a:pt x="1029170" y="0"/>
                </a:moveTo>
                <a:lnTo>
                  <a:pt x="0" y="0"/>
                </a:lnTo>
                <a:lnTo>
                  <a:pt x="0" y="1349732"/>
                </a:lnTo>
                <a:lnTo>
                  <a:pt x="1029170" y="1349732"/>
                </a:lnTo>
                <a:lnTo>
                  <a:pt x="102917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49" id="49"/>
          <p:cNvSpPr txBox="true"/>
          <p:nvPr/>
        </p:nvSpPr>
        <p:spPr>
          <a:xfrm rot="0">
            <a:off x="10313554" y="8007610"/>
            <a:ext cx="7588411" cy="636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0"/>
              </a:lnSpc>
            </a:pPr>
            <a:r>
              <a:rPr lang="en-US" sz="2000">
                <a:solidFill>
                  <a:srgbClr val="FFFFFF"/>
                </a:solidFill>
                <a:latin typeface="Gordita"/>
                <a:ea typeface="Gordita"/>
                <a:cs typeface="Gordita"/>
                <a:sym typeface="Gordita"/>
              </a:rPr>
              <a:t>Apa rekomendasi strategis untuk menjaga kestabilan kesejahteraan petani?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9839487" y="4272087"/>
            <a:ext cx="374139" cy="3933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63"/>
              </a:lnSpc>
            </a:pPr>
            <a:r>
              <a:rPr lang="en-US" sz="2904" b="true">
                <a:solidFill>
                  <a:srgbClr val="FFFFFF"/>
                </a:solidFill>
                <a:latin typeface="Gordita Bold"/>
                <a:ea typeface="Gordita Bold"/>
                <a:cs typeface="Gordita Bold"/>
                <a:sym typeface="Gordita Bold"/>
              </a:rPr>
              <a:t>1.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9839487" y="5553915"/>
            <a:ext cx="374139" cy="3933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63"/>
              </a:lnSpc>
            </a:pPr>
            <a:r>
              <a:rPr lang="en-US" sz="2904" b="true">
                <a:solidFill>
                  <a:srgbClr val="FFFFFF"/>
                </a:solidFill>
                <a:latin typeface="Gordita Bold"/>
                <a:ea typeface="Gordita Bold"/>
                <a:cs typeface="Gordita Bold"/>
                <a:sym typeface="Gordita Bold"/>
              </a:rPr>
              <a:t>2.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9839487" y="6835743"/>
            <a:ext cx="374139" cy="3933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63"/>
              </a:lnSpc>
            </a:pPr>
            <a:r>
              <a:rPr lang="en-US" sz="2904" b="true">
                <a:solidFill>
                  <a:srgbClr val="FFFFFF"/>
                </a:solidFill>
                <a:latin typeface="Gordita Bold"/>
                <a:ea typeface="Gordita Bold"/>
                <a:cs typeface="Gordita Bold"/>
                <a:sym typeface="Gordita Bold"/>
              </a:rPr>
              <a:t>3.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9839487" y="8117571"/>
            <a:ext cx="451351" cy="3933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63"/>
              </a:lnSpc>
            </a:pPr>
            <a:r>
              <a:rPr lang="en-US" sz="2904" b="true">
                <a:solidFill>
                  <a:srgbClr val="FFFFFF"/>
                </a:solidFill>
                <a:latin typeface="Gordita Bold"/>
                <a:ea typeface="Gordita Bold"/>
                <a:cs typeface="Gordita Bold"/>
                <a:sym typeface="Gordita Bold"/>
              </a:rPr>
              <a:t>4.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9839487" y="2910053"/>
            <a:ext cx="3825788" cy="7862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22"/>
              </a:lnSpc>
            </a:pPr>
            <a:r>
              <a:rPr lang="en-US" sz="5806" b="true">
                <a:solidFill>
                  <a:srgbClr val="F7C03F"/>
                </a:solidFill>
                <a:latin typeface="Gordita Bold"/>
                <a:ea typeface="Gordita Bold"/>
                <a:cs typeface="Gordita Bold"/>
                <a:sym typeface="Gordita Bold"/>
              </a:rPr>
              <a:t>Question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852148" y="1098849"/>
            <a:ext cx="1631977" cy="312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3"/>
              </a:lnSpc>
              <a:spcBef>
                <a:spcPct val="0"/>
              </a:spcBef>
            </a:pPr>
            <a:r>
              <a:rPr lang="en-US" sz="2317">
                <a:solidFill>
                  <a:srgbClr val="023D1E"/>
                </a:solidFill>
                <a:latin typeface="Gordita"/>
                <a:ea typeface="Gordita"/>
                <a:cs typeface="Gordita"/>
                <a:sym typeface="Gordita"/>
              </a:rPr>
              <a:t>DCL 2026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4721563" y="9274788"/>
            <a:ext cx="3814598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16"/>
              </a:lnSpc>
            </a:pPr>
            <a:r>
              <a:rPr lang="en-US" sz="1430">
                <a:solidFill>
                  <a:srgbClr val="023D1E"/>
                </a:solidFill>
                <a:latin typeface="Gordita"/>
                <a:ea typeface="Gordita"/>
                <a:cs typeface="Gordita"/>
                <a:sym typeface="Gordita"/>
              </a:rPr>
              <a:t>Decent Work Economic Growth - kesejahteraan ekonomi petani pedesaan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25A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96391" y="5009312"/>
            <a:ext cx="3659633" cy="3659633"/>
          </a:xfrm>
          <a:custGeom>
            <a:avLst/>
            <a:gdLst/>
            <a:ahLst/>
            <a:cxnLst/>
            <a:rect r="r" b="b" t="t" l="l"/>
            <a:pathLst>
              <a:path h="3659633" w="3659633">
                <a:moveTo>
                  <a:pt x="0" y="0"/>
                </a:moveTo>
                <a:lnTo>
                  <a:pt x="3659633" y="0"/>
                </a:lnTo>
                <a:lnTo>
                  <a:pt x="3659633" y="3659632"/>
                </a:lnTo>
                <a:lnTo>
                  <a:pt x="0" y="36596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4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690301" y="5009312"/>
            <a:ext cx="3659633" cy="3659633"/>
          </a:xfrm>
          <a:custGeom>
            <a:avLst/>
            <a:gdLst/>
            <a:ahLst/>
            <a:cxnLst/>
            <a:rect r="r" b="b" t="t" l="l"/>
            <a:pathLst>
              <a:path h="3659633" w="3659633">
                <a:moveTo>
                  <a:pt x="0" y="0"/>
                </a:moveTo>
                <a:lnTo>
                  <a:pt x="3659633" y="0"/>
                </a:lnTo>
                <a:lnTo>
                  <a:pt x="3659633" y="3659632"/>
                </a:lnTo>
                <a:lnTo>
                  <a:pt x="0" y="36596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4000"/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041755" y="5022123"/>
            <a:ext cx="4901627" cy="4609321"/>
            <a:chOff x="0" y="0"/>
            <a:chExt cx="1290964" cy="121397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90964" cy="1213978"/>
            </a:xfrm>
            <a:custGeom>
              <a:avLst/>
              <a:gdLst/>
              <a:ahLst/>
              <a:cxnLst/>
              <a:rect r="r" b="b" t="t" l="l"/>
              <a:pathLst>
                <a:path h="1213978" w="1290964">
                  <a:moveTo>
                    <a:pt x="154787" y="0"/>
                  </a:moveTo>
                  <a:lnTo>
                    <a:pt x="1136177" y="0"/>
                  </a:lnTo>
                  <a:cubicBezTo>
                    <a:pt x="1221663" y="0"/>
                    <a:pt x="1290964" y="69300"/>
                    <a:pt x="1290964" y="154787"/>
                  </a:cubicBezTo>
                  <a:lnTo>
                    <a:pt x="1290964" y="1059191"/>
                  </a:lnTo>
                  <a:cubicBezTo>
                    <a:pt x="1290964" y="1144677"/>
                    <a:pt x="1221663" y="1213978"/>
                    <a:pt x="1136177" y="1213978"/>
                  </a:cubicBezTo>
                  <a:lnTo>
                    <a:pt x="154787" y="1213978"/>
                  </a:lnTo>
                  <a:cubicBezTo>
                    <a:pt x="69300" y="1213978"/>
                    <a:pt x="0" y="1144677"/>
                    <a:pt x="0" y="1059191"/>
                  </a:cubicBezTo>
                  <a:lnTo>
                    <a:pt x="0" y="154787"/>
                  </a:lnTo>
                  <a:cubicBezTo>
                    <a:pt x="0" y="69300"/>
                    <a:pt x="69300" y="0"/>
                    <a:pt x="154787" y="0"/>
                  </a:cubicBezTo>
                  <a:close/>
                </a:path>
              </a:pathLst>
            </a:custGeom>
            <a:solidFill>
              <a:srgbClr val="023D1E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38100"/>
              <a:ext cx="1290964" cy="11758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40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true" flipV="true" rot="0">
            <a:off x="11084220" y="-475593"/>
            <a:ext cx="8488516" cy="5549367"/>
          </a:xfrm>
          <a:custGeom>
            <a:avLst/>
            <a:gdLst/>
            <a:ahLst/>
            <a:cxnLst/>
            <a:rect r="r" b="b" t="t" l="l"/>
            <a:pathLst>
              <a:path h="5549367" w="8488516">
                <a:moveTo>
                  <a:pt x="8488516" y="5549368"/>
                </a:moveTo>
                <a:lnTo>
                  <a:pt x="0" y="5549368"/>
                </a:lnTo>
                <a:lnTo>
                  <a:pt x="0" y="0"/>
                </a:lnTo>
                <a:lnTo>
                  <a:pt x="8488516" y="0"/>
                </a:lnTo>
                <a:lnTo>
                  <a:pt x="8488516" y="5549368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1816889" y="1841332"/>
            <a:ext cx="6604336" cy="6604336"/>
          </a:xfrm>
          <a:custGeom>
            <a:avLst/>
            <a:gdLst/>
            <a:ahLst/>
            <a:cxnLst/>
            <a:rect r="r" b="b" t="t" l="l"/>
            <a:pathLst>
              <a:path h="6604336" w="6604336">
                <a:moveTo>
                  <a:pt x="0" y="0"/>
                </a:moveTo>
                <a:lnTo>
                  <a:pt x="6604336" y="0"/>
                </a:lnTo>
                <a:lnTo>
                  <a:pt x="6604336" y="6604336"/>
                </a:lnTo>
                <a:lnTo>
                  <a:pt x="0" y="66043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4000"/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1816889" y="2878860"/>
            <a:ext cx="5442411" cy="6401236"/>
            <a:chOff x="0" y="0"/>
            <a:chExt cx="691053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91053" cy="812800"/>
            </a:xfrm>
            <a:custGeom>
              <a:avLst/>
              <a:gdLst/>
              <a:ahLst/>
              <a:cxnLst/>
              <a:rect r="r" b="b" t="t" l="l"/>
              <a:pathLst>
                <a:path h="812800" w="691053">
                  <a:moveTo>
                    <a:pt x="142252" y="0"/>
                  </a:moveTo>
                  <a:lnTo>
                    <a:pt x="548801" y="0"/>
                  </a:lnTo>
                  <a:cubicBezTo>
                    <a:pt x="627365" y="0"/>
                    <a:pt x="691053" y="63688"/>
                    <a:pt x="691053" y="142252"/>
                  </a:cubicBezTo>
                  <a:lnTo>
                    <a:pt x="691053" y="670548"/>
                  </a:lnTo>
                  <a:cubicBezTo>
                    <a:pt x="691053" y="749112"/>
                    <a:pt x="627365" y="812800"/>
                    <a:pt x="548801" y="812800"/>
                  </a:cubicBezTo>
                  <a:lnTo>
                    <a:pt x="142252" y="812800"/>
                  </a:lnTo>
                  <a:cubicBezTo>
                    <a:pt x="63688" y="812800"/>
                    <a:pt x="0" y="749112"/>
                    <a:pt x="0" y="670548"/>
                  </a:cubicBezTo>
                  <a:lnTo>
                    <a:pt x="0" y="142252"/>
                  </a:lnTo>
                  <a:cubicBezTo>
                    <a:pt x="0" y="63688"/>
                    <a:pt x="63688" y="0"/>
                    <a:pt x="142252" y="0"/>
                  </a:cubicBezTo>
                  <a:close/>
                </a:path>
              </a:pathLst>
            </a:custGeom>
            <a:blipFill>
              <a:blip r:embed="rId5"/>
              <a:stretch>
                <a:fillRect l="-79705" t="-14508" r="-22317" b="0"/>
              </a:stretch>
            </a:blipFill>
            <a:ln w="247650" cap="rnd">
              <a:solidFill>
                <a:srgbClr val="FFFFFF"/>
              </a:solidFill>
              <a:prstDash val="solid"/>
              <a:round/>
            </a:ln>
          </p:spPr>
        </p:sp>
      </p:grpSp>
      <p:sp>
        <p:nvSpPr>
          <p:cNvPr name="Freeform 11" id="11"/>
          <p:cNvSpPr/>
          <p:nvPr/>
        </p:nvSpPr>
        <p:spPr>
          <a:xfrm flipH="true" flipV="false" rot="0">
            <a:off x="13606072" y="5346887"/>
            <a:ext cx="5554087" cy="3933209"/>
          </a:xfrm>
          <a:custGeom>
            <a:avLst/>
            <a:gdLst/>
            <a:ahLst/>
            <a:cxnLst/>
            <a:rect r="r" b="b" t="t" l="l"/>
            <a:pathLst>
              <a:path h="3933209" w="5554087">
                <a:moveTo>
                  <a:pt x="5554087" y="0"/>
                </a:moveTo>
                <a:lnTo>
                  <a:pt x="0" y="0"/>
                </a:lnTo>
                <a:lnTo>
                  <a:pt x="0" y="3933209"/>
                </a:lnTo>
                <a:lnTo>
                  <a:pt x="5554087" y="3933209"/>
                </a:lnTo>
                <a:lnTo>
                  <a:pt x="5554087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37091" r="-474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6237524" y="7313659"/>
            <a:ext cx="1021776" cy="1012836"/>
          </a:xfrm>
          <a:custGeom>
            <a:avLst/>
            <a:gdLst/>
            <a:ahLst/>
            <a:cxnLst/>
            <a:rect r="r" b="b" t="t" l="l"/>
            <a:pathLst>
              <a:path h="1012836" w="1021776">
                <a:moveTo>
                  <a:pt x="0" y="0"/>
                </a:moveTo>
                <a:lnTo>
                  <a:pt x="1021776" y="0"/>
                </a:lnTo>
                <a:lnTo>
                  <a:pt x="1021776" y="1012836"/>
                </a:lnTo>
                <a:lnTo>
                  <a:pt x="0" y="101283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1041755" y="834391"/>
            <a:ext cx="2809442" cy="863597"/>
            <a:chOff x="0" y="0"/>
            <a:chExt cx="739935" cy="22744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39935" cy="227449"/>
            </a:xfrm>
            <a:custGeom>
              <a:avLst/>
              <a:gdLst/>
              <a:ahLst/>
              <a:cxnLst/>
              <a:rect r="r" b="b" t="t" l="l"/>
              <a:pathLst>
                <a:path h="227449" w="739935">
                  <a:moveTo>
                    <a:pt x="113725" y="0"/>
                  </a:moveTo>
                  <a:lnTo>
                    <a:pt x="626211" y="0"/>
                  </a:lnTo>
                  <a:cubicBezTo>
                    <a:pt x="656372" y="0"/>
                    <a:pt x="685299" y="11982"/>
                    <a:pt x="706626" y="33309"/>
                  </a:cubicBezTo>
                  <a:cubicBezTo>
                    <a:pt x="727954" y="54637"/>
                    <a:pt x="739935" y="83563"/>
                    <a:pt x="739935" y="113725"/>
                  </a:cubicBezTo>
                  <a:lnTo>
                    <a:pt x="739935" y="113725"/>
                  </a:lnTo>
                  <a:cubicBezTo>
                    <a:pt x="739935" y="176533"/>
                    <a:pt x="689019" y="227449"/>
                    <a:pt x="626211" y="227449"/>
                  </a:cubicBezTo>
                  <a:lnTo>
                    <a:pt x="113725" y="227449"/>
                  </a:lnTo>
                  <a:cubicBezTo>
                    <a:pt x="83563" y="227449"/>
                    <a:pt x="54637" y="215468"/>
                    <a:pt x="33309" y="194140"/>
                  </a:cubicBezTo>
                  <a:cubicBezTo>
                    <a:pt x="11982" y="172813"/>
                    <a:pt x="0" y="143886"/>
                    <a:pt x="0" y="113725"/>
                  </a:cubicBezTo>
                  <a:lnTo>
                    <a:pt x="0" y="113725"/>
                  </a:lnTo>
                  <a:cubicBezTo>
                    <a:pt x="0" y="83563"/>
                    <a:pt x="11982" y="54637"/>
                    <a:pt x="33309" y="33309"/>
                  </a:cubicBezTo>
                  <a:cubicBezTo>
                    <a:pt x="54637" y="11982"/>
                    <a:pt x="83563" y="0"/>
                    <a:pt x="113725" y="0"/>
                  </a:cubicBezTo>
                  <a:close/>
                </a:path>
              </a:pathLst>
            </a:custGeom>
            <a:solidFill>
              <a:srgbClr val="F7C03F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739935" cy="2655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1459861" y="949347"/>
            <a:ext cx="392287" cy="573729"/>
          </a:xfrm>
          <a:custGeom>
            <a:avLst/>
            <a:gdLst/>
            <a:ahLst/>
            <a:cxnLst/>
            <a:rect r="r" b="b" t="t" l="l"/>
            <a:pathLst>
              <a:path h="573729" w="392287">
                <a:moveTo>
                  <a:pt x="0" y="0"/>
                </a:moveTo>
                <a:lnTo>
                  <a:pt x="392287" y="0"/>
                </a:lnTo>
                <a:lnTo>
                  <a:pt x="392287" y="573729"/>
                </a:lnTo>
                <a:lnTo>
                  <a:pt x="0" y="57372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728387" y="5502352"/>
            <a:ext cx="3368322" cy="547352"/>
          </a:xfrm>
          <a:custGeom>
            <a:avLst/>
            <a:gdLst/>
            <a:ahLst/>
            <a:cxnLst/>
            <a:rect r="r" b="b" t="t" l="l"/>
            <a:pathLst>
              <a:path h="547352" w="3368322">
                <a:moveTo>
                  <a:pt x="0" y="0"/>
                </a:moveTo>
                <a:lnTo>
                  <a:pt x="3368322" y="0"/>
                </a:lnTo>
                <a:lnTo>
                  <a:pt x="3368322" y="547353"/>
                </a:lnTo>
                <a:lnTo>
                  <a:pt x="0" y="547353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618405" y="4831593"/>
            <a:ext cx="3653705" cy="972799"/>
          </a:xfrm>
          <a:custGeom>
            <a:avLst/>
            <a:gdLst/>
            <a:ahLst/>
            <a:cxnLst/>
            <a:rect r="r" b="b" t="t" l="l"/>
            <a:pathLst>
              <a:path h="972799" w="3653705">
                <a:moveTo>
                  <a:pt x="0" y="0"/>
                </a:moveTo>
                <a:lnTo>
                  <a:pt x="3653706" y="0"/>
                </a:lnTo>
                <a:lnTo>
                  <a:pt x="3653706" y="972799"/>
                </a:lnTo>
                <a:lnTo>
                  <a:pt x="0" y="972799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9" id="19"/>
          <p:cNvGrpSpPr/>
          <p:nvPr/>
        </p:nvGrpSpPr>
        <p:grpSpPr>
          <a:xfrm rot="0">
            <a:off x="6186376" y="5022123"/>
            <a:ext cx="4901627" cy="4609321"/>
            <a:chOff x="0" y="0"/>
            <a:chExt cx="1290964" cy="1213978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290964" cy="1213978"/>
            </a:xfrm>
            <a:custGeom>
              <a:avLst/>
              <a:gdLst/>
              <a:ahLst/>
              <a:cxnLst/>
              <a:rect r="r" b="b" t="t" l="l"/>
              <a:pathLst>
                <a:path h="1213978" w="1290964">
                  <a:moveTo>
                    <a:pt x="154787" y="0"/>
                  </a:moveTo>
                  <a:lnTo>
                    <a:pt x="1136177" y="0"/>
                  </a:lnTo>
                  <a:cubicBezTo>
                    <a:pt x="1221663" y="0"/>
                    <a:pt x="1290964" y="69300"/>
                    <a:pt x="1290964" y="154787"/>
                  </a:cubicBezTo>
                  <a:lnTo>
                    <a:pt x="1290964" y="1059191"/>
                  </a:lnTo>
                  <a:cubicBezTo>
                    <a:pt x="1290964" y="1144677"/>
                    <a:pt x="1221663" y="1213978"/>
                    <a:pt x="1136177" y="1213978"/>
                  </a:cubicBezTo>
                  <a:lnTo>
                    <a:pt x="154787" y="1213978"/>
                  </a:lnTo>
                  <a:cubicBezTo>
                    <a:pt x="69300" y="1213978"/>
                    <a:pt x="0" y="1144677"/>
                    <a:pt x="0" y="1059191"/>
                  </a:cubicBezTo>
                  <a:lnTo>
                    <a:pt x="0" y="154787"/>
                  </a:lnTo>
                  <a:cubicBezTo>
                    <a:pt x="0" y="69300"/>
                    <a:pt x="69300" y="0"/>
                    <a:pt x="154787" y="0"/>
                  </a:cubicBezTo>
                  <a:close/>
                </a:path>
              </a:pathLst>
            </a:custGeom>
            <a:solidFill>
              <a:srgbClr val="023D1E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38100"/>
              <a:ext cx="1290964" cy="11758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40"/>
                </a:lnSpc>
              </a:pPr>
            </a:p>
          </p:txBody>
        </p:sp>
      </p:grpSp>
      <p:sp>
        <p:nvSpPr>
          <p:cNvPr name="Freeform 22" id="22"/>
          <p:cNvSpPr/>
          <p:nvPr/>
        </p:nvSpPr>
        <p:spPr>
          <a:xfrm flipH="false" flipV="false" rot="0">
            <a:off x="6873008" y="5502352"/>
            <a:ext cx="3368322" cy="547352"/>
          </a:xfrm>
          <a:custGeom>
            <a:avLst/>
            <a:gdLst/>
            <a:ahLst/>
            <a:cxnLst/>
            <a:rect r="r" b="b" t="t" l="l"/>
            <a:pathLst>
              <a:path h="547352" w="3368322">
                <a:moveTo>
                  <a:pt x="0" y="0"/>
                </a:moveTo>
                <a:lnTo>
                  <a:pt x="3368322" y="0"/>
                </a:lnTo>
                <a:lnTo>
                  <a:pt x="3368322" y="547353"/>
                </a:lnTo>
                <a:lnTo>
                  <a:pt x="0" y="547353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6947235" y="4869693"/>
            <a:ext cx="3219868" cy="857290"/>
          </a:xfrm>
          <a:custGeom>
            <a:avLst/>
            <a:gdLst/>
            <a:ahLst/>
            <a:cxnLst/>
            <a:rect r="r" b="b" t="t" l="l"/>
            <a:pathLst>
              <a:path h="857290" w="3219868">
                <a:moveTo>
                  <a:pt x="0" y="0"/>
                </a:moveTo>
                <a:lnTo>
                  <a:pt x="3219868" y="0"/>
                </a:lnTo>
                <a:lnTo>
                  <a:pt x="3219868" y="857290"/>
                </a:lnTo>
                <a:lnTo>
                  <a:pt x="0" y="85729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1028700" y="1862725"/>
            <a:ext cx="9829364" cy="13199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21"/>
              </a:lnSpc>
            </a:pPr>
            <a:r>
              <a:rPr lang="en-US" sz="9824" b="true">
                <a:solidFill>
                  <a:srgbClr val="FFFFFF"/>
                </a:solidFill>
                <a:latin typeface="Gordita Bold"/>
                <a:ea typeface="Gordita Bold"/>
                <a:cs typeface="Gordita Bold"/>
                <a:sym typeface="Gordita Bold"/>
              </a:rPr>
              <a:t>Penjelasan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28700" y="3353717"/>
            <a:ext cx="3227324" cy="7254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59"/>
              </a:lnSpc>
            </a:pPr>
            <a:r>
              <a:rPr lang="en-US" sz="5747" i="true">
                <a:solidFill>
                  <a:srgbClr val="F7C03F"/>
                </a:solidFill>
                <a:latin typeface="Gordita Italics"/>
                <a:ea typeface="Gordita Italics"/>
                <a:cs typeface="Gordita Italics"/>
                <a:sym typeface="Gordita Italics"/>
              </a:rPr>
              <a:t>Dataset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10386344" y="3606746"/>
            <a:ext cx="324010" cy="324010"/>
            <a:chOff x="0" y="0"/>
            <a:chExt cx="812800" cy="812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7C03F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76200" y="114300"/>
              <a:ext cx="660400" cy="622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59"/>
                </a:lnSpc>
              </a:pPr>
            </a:p>
          </p:txBody>
        </p:sp>
      </p:grpSp>
      <p:sp>
        <p:nvSpPr>
          <p:cNvPr name="Freeform 29" id="29"/>
          <p:cNvSpPr/>
          <p:nvPr/>
        </p:nvSpPr>
        <p:spPr>
          <a:xfrm flipH="true" flipV="false" rot="0">
            <a:off x="8114830" y="1815100"/>
            <a:ext cx="1029170" cy="1349732"/>
          </a:xfrm>
          <a:custGeom>
            <a:avLst/>
            <a:gdLst/>
            <a:ahLst/>
            <a:cxnLst/>
            <a:rect r="r" b="b" t="t" l="l"/>
            <a:pathLst>
              <a:path h="1349732" w="1029170">
                <a:moveTo>
                  <a:pt x="1029170" y="0"/>
                </a:moveTo>
                <a:lnTo>
                  <a:pt x="0" y="0"/>
                </a:lnTo>
                <a:lnTo>
                  <a:pt x="0" y="1349731"/>
                </a:lnTo>
                <a:lnTo>
                  <a:pt x="1029170" y="1349731"/>
                </a:lnTo>
                <a:lnTo>
                  <a:pt x="102917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true" flipV="false" rot="0">
            <a:off x="13379009" y="8165872"/>
            <a:ext cx="1324212" cy="1736671"/>
          </a:xfrm>
          <a:custGeom>
            <a:avLst/>
            <a:gdLst/>
            <a:ahLst/>
            <a:cxnLst/>
            <a:rect r="r" b="b" t="t" l="l"/>
            <a:pathLst>
              <a:path h="1736671" w="1324212">
                <a:moveTo>
                  <a:pt x="1324211" y="0"/>
                </a:moveTo>
                <a:lnTo>
                  <a:pt x="0" y="0"/>
                </a:lnTo>
                <a:lnTo>
                  <a:pt x="0" y="1736670"/>
                </a:lnTo>
                <a:lnTo>
                  <a:pt x="1324211" y="1736670"/>
                </a:lnTo>
                <a:lnTo>
                  <a:pt x="1324211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grpSp>
        <p:nvGrpSpPr>
          <p:cNvPr name="Group 31" id="31"/>
          <p:cNvGrpSpPr/>
          <p:nvPr/>
        </p:nvGrpSpPr>
        <p:grpSpPr>
          <a:xfrm rot="0">
            <a:off x="1728387" y="6543948"/>
            <a:ext cx="3580769" cy="330588"/>
            <a:chOff x="0" y="0"/>
            <a:chExt cx="943083" cy="87068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943083" cy="87068"/>
            </a:xfrm>
            <a:custGeom>
              <a:avLst/>
              <a:gdLst/>
              <a:ahLst/>
              <a:cxnLst/>
              <a:rect r="r" b="b" t="t" l="l"/>
              <a:pathLst>
                <a:path h="87068" w="943083">
                  <a:moveTo>
                    <a:pt x="0" y="0"/>
                  </a:moveTo>
                  <a:lnTo>
                    <a:pt x="943083" y="0"/>
                  </a:lnTo>
                  <a:lnTo>
                    <a:pt x="943083" y="87068"/>
                  </a:lnTo>
                  <a:lnTo>
                    <a:pt x="0" y="87068"/>
                  </a:lnTo>
                  <a:close/>
                </a:path>
              </a:pathLst>
            </a:custGeom>
            <a:solidFill>
              <a:srgbClr val="2D5B09">
                <a:alpha val="72941"/>
              </a:srgbClr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0" y="38100"/>
              <a:ext cx="943083" cy="489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40"/>
                </a:lnSpc>
              </a:pP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1753280" y="5896248"/>
            <a:ext cx="3655824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FFFFFF"/>
                </a:solidFill>
                <a:latin typeface="Gordita"/>
                <a:ea typeface="Gordita"/>
                <a:cs typeface="Gordita"/>
                <a:sym typeface="Gordita"/>
              </a:rPr>
              <a:t>Dataset ini sederhana, hanya terdiri dari 2 kolom: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853227" y="5067693"/>
            <a:ext cx="3060243" cy="3924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59"/>
              </a:lnSpc>
              <a:spcBef>
                <a:spcPct val="0"/>
              </a:spcBef>
            </a:pPr>
            <a:r>
              <a:rPr lang="en-US" b="true" sz="2999">
                <a:solidFill>
                  <a:srgbClr val="025A2C"/>
                </a:solidFill>
                <a:latin typeface="Gordita Bold"/>
                <a:ea typeface="Gordita Bold"/>
                <a:cs typeface="Gordita Bold"/>
                <a:sym typeface="Gordita Bold"/>
              </a:rPr>
              <a:t>Struktur Kolom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6493784" y="5848623"/>
            <a:ext cx="4271262" cy="1857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100"/>
              </a:lnSpc>
            </a:pPr>
            <a:r>
              <a:rPr lang="en-US" sz="1500">
                <a:solidFill>
                  <a:srgbClr val="FFFFFF"/>
                </a:solidFill>
                <a:latin typeface="Gordita"/>
                <a:ea typeface="Gordita"/>
                <a:cs typeface="Gordita"/>
                <a:sym typeface="Gordita"/>
              </a:rPr>
              <a:t>NTP adalah rasio antara indeks harga yang diterima petani (It) dengan indeks harga yang dibayar petani (Ib), dikali 100. NTP mencerminkan daya tukar produk pertanian terhadap barang/jasa yang dikonsumsi dan digunakan dalam proses produksi oleh petani.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7751714" y="5038145"/>
            <a:ext cx="1790002" cy="3924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59"/>
              </a:lnSpc>
              <a:spcBef>
                <a:spcPct val="0"/>
              </a:spcBef>
            </a:pPr>
            <a:r>
              <a:rPr lang="en-US" b="true" sz="2999">
                <a:solidFill>
                  <a:srgbClr val="025A2C"/>
                </a:solidFill>
                <a:latin typeface="Gordita Bold"/>
                <a:ea typeface="Gordita Bold"/>
                <a:cs typeface="Gordita Bold"/>
                <a:sym typeface="Gordita Bold"/>
              </a:rPr>
              <a:t>NTP?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028700" y="4288668"/>
            <a:ext cx="7340402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FFFFFF"/>
                </a:solidFill>
                <a:latin typeface="Gordita"/>
                <a:ea typeface="Gordita"/>
                <a:cs typeface="Gordita"/>
                <a:sym typeface="Gordita"/>
              </a:rPr>
              <a:t>Nilai Tukar Petani (NTP) Provinsi Jawa Tengah Sumber: BPS Jawa Tengah</a:t>
            </a:r>
          </a:p>
          <a:p>
            <a:pPr algn="l">
              <a:lnSpc>
                <a:spcPts val="2100"/>
              </a:lnSpc>
            </a:pPr>
          </a:p>
        </p:txBody>
      </p:sp>
      <p:grpSp>
        <p:nvGrpSpPr>
          <p:cNvPr name="Group 39" id="39"/>
          <p:cNvGrpSpPr/>
          <p:nvPr/>
        </p:nvGrpSpPr>
        <p:grpSpPr>
          <a:xfrm rot="0">
            <a:off x="1852148" y="6591573"/>
            <a:ext cx="1826833" cy="228600"/>
            <a:chOff x="0" y="0"/>
            <a:chExt cx="2435777" cy="304800"/>
          </a:xfrm>
        </p:grpSpPr>
        <p:sp>
          <p:nvSpPr>
            <p:cNvPr name="TextBox 40" id="40"/>
            <p:cNvSpPr txBox="true"/>
            <p:nvPr/>
          </p:nvSpPr>
          <p:spPr>
            <a:xfrm rot="0">
              <a:off x="0" y="-28575"/>
              <a:ext cx="983973" cy="333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500">
                  <a:solidFill>
                    <a:srgbClr val="FFFFFF"/>
                  </a:solidFill>
                  <a:latin typeface="Gordita"/>
                  <a:ea typeface="Gordita"/>
                  <a:cs typeface="Gordita"/>
                  <a:sym typeface="Gordita"/>
                </a:rPr>
                <a:t>Kolom</a:t>
              </a:r>
            </a:p>
          </p:txBody>
        </p:sp>
        <p:sp>
          <p:nvSpPr>
            <p:cNvPr name="TextBox 41" id="41"/>
            <p:cNvSpPr txBox="true"/>
            <p:nvPr/>
          </p:nvSpPr>
          <p:spPr>
            <a:xfrm rot="0">
              <a:off x="1451804" y="-28575"/>
              <a:ext cx="983973" cy="333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500">
                  <a:solidFill>
                    <a:srgbClr val="FFFFFF"/>
                  </a:solidFill>
                  <a:latin typeface="Gordita"/>
                  <a:ea typeface="Gordita"/>
                  <a:cs typeface="Gordita"/>
                  <a:sym typeface="Gordita"/>
                </a:rPr>
                <a:t>Isi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728387" y="6874535"/>
            <a:ext cx="832272" cy="878898"/>
            <a:chOff x="0" y="0"/>
            <a:chExt cx="219199" cy="231479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219199" cy="231479"/>
            </a:xfrm>
            <a:custGeom>
              <a:avLst/>
              <a:gdLst/>
              <a:ahLst/>
              <a:cxnLst/>
              <a:rect r="r" b="b" t="t" l="l"/>
              <a:pathLst>
                <a:path h="231479" w="219199">
                  <a:moveTo>
                    <a:pt x="0" y="0"/>
                  </a:moveTo>
                  <a:lnTo>
                    <a:pt x="219199" y="0"/>
                  </a:lnTo>
                  <a:lnTo>
                    <a:pt x="219199" y="231479"/>
                  </a:lnTo>
                  <a:lnTo>
                    <a:pt x="0" y="231479"/>
                  </a:lnTo>
                  <a:close/>
                </a:path>
              </a:pathLst>
            </a:custGeom>
            <a:solidFill>
              <a:srgbClr val="FFFFFF">
                <a:alpha val="26667"/>
              </a:srgbClr>
            </a:solidFill>
          </p:spPr>
        </p:sp>
        <p:sp>
          <p:nvSpPr>
            <p:cNvPr name="TextBox 44" id="44"/>
            <p:cNvSpPr txBox="true"/>
            <p:nvPr/>
          </p:nvSpPr>
          <p:spPr>
            <a:xfrm>
              <a:off x="0" y="38100"/>
              <a:ext cx="219199" cy="1933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40"/>
                </a:lnSpc>
              </a:pP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853227" y="6901135"/>
            <a:ext cx="3455929" cy="228600"/>
            <a:chOff x="0" y="0"/>
            <a:chExt cx="4607906" cy="304800"/>
          </a:xfrm>
        </p:grpSpPr>
        <p:sp>
          <p:nvSpPr>
            <p:cNvPr name="TextBox 46" id="46"/>
            <p:cNvSpPr txBox="true"/>
            <p:nvPr/>
          </p:nvSpPr>
          <p:spPr>
            <a:xfrm rot="0">
              <a:off x="0" y="-28575"/>
              <a:ext cx="983973" cy="333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500">
                  <a:solidFill>
                    <a:srgbClr val="FFFFFF"/>
                  </a:solidFill>
                  <a:latin typeface="Gordita"/>
                  <a:ea typeface="Gordita"/>
                  <a:cs typeface="Gordita"/>
                  <a:sym typeface="Gordita"/>
                </a:rPr>
                <a:t>Bulan</a:t>
              </a:r>
            </a:p>
          </p:txBody>
        </p:sp>
        <p:sp>
          <p:nvSpPr>
            <p:cNvPr name="TextBox 47" id="47"/>
            <p:cNvSpPr txBox="true"/>
            <p:nvPr/>
          </p:nvSpPr>
          <p:spPr>
            <a:xfrm rot="0">
              <a:off x="1451804" y="-28575"/>
              <a:ext cx="3156101" cy="333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500">
                  <a:solidFill>
                    <a:srgbClr val="FFFFFF"/>
                  </a:solidFill>
                  <a:latin typeface="Gordita"/>
                  <a:ea typeface="Gordita"/>
                  <a:cs typeface="Gordita"/>
                  <a:sym typeface="Gordita"/>
                </a:rPr>
                <a:t>Periode waktu (bulanan)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853227" y="7210698"/>
            <a:ext cx="3240155" cy="495300"/>
            <a:chOff x="0" y="0"/>
            <a:chExt cx="4320206" cy="660400"/>
          </a:xfrm>
        </p:grpSpPr>
        <p:sp>
          <p:nvSpPr>
            <p:cNvPr name="TextBox 49" id="49"/>
            <p:cNvSpPr txBox="true"/>
            <p:nvPr/>
          </p:nvSpPr>
          <p:spPr>
            <a:xfrm rot="0">
              <a:off x="0" y="-28575"/>
              <a:ext cx="983973" cy="333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500">
                  <a:solidFill>
                    <a:srgbClr val="FFFFFF"/>
                  </a:solidFill>
                  <a:latin typeface="Gordita"/>
                  <a:ea typeface="Gordita"/>
                  <a:cs typeface="Gordita"/>
                  <a:sym typeface="Gordita"/>
                </a:rPr>
                <a:t>NTP</a:t>
              </a:r>
            </a:p>
          </p:txBody>
        </p:sp>
        <p:sp>
          <p:nvSpPr>
            <p:cNvPr name="TextBox 50" id="50"/>
            <p:cNvSpPr txBox="true"/>
            <p:nvPr/>
          </p:nvSpPr>
          <p:spPr>
            <a:xfrm rot="0">
              <a:off x="1451804" y="-28575"/>
              <a:ext cx="2868402" cy="6889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500">
                  <a:solidFill>
                    <a:srgbClr val="FFFFFF"/>
                  </a:solidFill>
                  <a:latin typeface="Gordita"/>
                  <a:ea typeface="Gordita"/>
                  <a:cs typeface="Gordita"/>
                  <a:sym typeface="Gordita"/>
                </a:rPr>
                <a:t>Nilai Tukar Petani (angka indeks)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2612986" y="6874535"/>
            <a:ext cx="2696171" cy="878898"/>
            <a:chOff x="0" y="0"/>
            <a:chExt cx="710103" cy="231479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710103" cy="231479"/>
            </a:xfrm>
            <a:custGeom>
              <a:avLst/>
              <a:gdLst/>
              <a:ahLst/>
              <a:cxnLst/>
              <a:rect r="r" b="b" t="t" l="l"/>
              <a:pathLst>
                <a:path h="231479" w="710103">
                  <a:moveTo>
                    <a:pt x="0" y="0"/>
                  </a:moveTo>
                  <a:lnTo>
                    <a:pt x="710103" y="0"/>
                  </a:lnTo>
                  <a:lnTo>
                    <a:pt x="710103" y="231479"/>
                  </a:lnTo>
                  <a:lnTo>
                    <a:pt x="0" y="231479"/>
                  </a:lnTo>
                  <a:close/>
                </a:path>
              </a:pathLst>
            </a:custGeom>
            <a:solidFill>
              <a:srgbClr val="FFFFFF">
                <a:alpha val="26667"/>
              </a:srgbClr>
            </a:solidFill>
          </p:spPr>
        </p:sp>
        <p:sp>
          <p:nvSpPr>
            <p:cNvPr name="TextBox 53" id="53"/>
            <p:cNvSpPr txBox="true"/>
            <p:nvPr/>
          </p:nvSpPr>
          <p:spPr>
            <a:xfrm>
              <a:off x="0" y="38100"/>
              <a:ext cx="710103" cy="1933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40"/>
                </a:lnSpc>
              </a:pPr>
            </a:p>
          </p:txBody>
        </p:sp>
      </p:grpSp>
      <p:sp>
        <p:nvSpPr>
          <p:cNvPr name="TextBox 54" id="54"/>
          <p:cNvSpPr txBox="true"/>
          <p:nvPr/>
        </p:nvSpPr>
        <p:spPr>
          <a:xfrm rot="0">
            <a:off x="1753280" y="7956121"/>
            <a:ext cx="3655824" cy="1323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FFFFFF"/>
                </a:solidFill>
                <a:latin typeface="Gordita"/>
                <a:ea typeface="Gordita"/>
                <a:cs typeface="Gordita"/>
                <a:sym typeface="Gordita"/>
              </a:rPr>
              <a:t>Cakupan Waktu</a:t>
            </a:r>
          </a:p>
          <a:p>
            <a:pPr algn="l" marL="323850" indent="-161925" lvl="1">
              <a:lnSpc>
                <a:spcPts val="2100"/>
              </a:lnSpc>
              <a:buFont typeface="Arial"/>
              <a:buChar char="•"/>
            </a:pPr>
            <a:r>
              <a:rPr lang="en-US" sz="1500">
                <a:solidFill>
                  <a:srgbClr val="FFFFFF"/>
                </a:solidFill>
                <a:latin typeface="Gordita"/>
                <a:ea typeface="Gordita"/>
                <a:cs typeface="Gordita"/>
                <a:sym typeface="Gordita"/>
              </a:rPr>
              <a:t>Mulai: Januari 2019</a:t>
            </a:r>
          </a:p>
          <a:p>
            <a:pPr algn="l" marL="323850" indent="-161925" lvl="1">
              <a:lnSpc>
                <a:spcPts val="2100"/>
              </a:lnSpc>
              <a:buFont typeface="Arial"/>
              <a:buChar char="•"/>
            </a:pPr>
            <a:r>
              <a:rPr lang="en-US" sz="1500">
                <a:solidFill>
                  <a:srgbClr val="FFFFFF"/>
                </a:solidFill>
                <a:latin typeface="Gordita"/>
                <a:ea typeface="Gordita"/>
                <a:cs typeface="Gordita"/>
                <a:sym typeface="Gordita"/>
              </a:rPr>
              <a:t>Selesai: April 2026</a:t>
            </a:r>
          </a:p>
          <a:p>
            <a:pPr algn="l" marL="323850" indent="-161925" lvl="1">
              <a:lnSpc>
                <a:spcPts val="2100"/>
              </a:lnSpc>
              <a:buFont typeface="Arial"/>
              <a:buChar char="•"/>
            </a:pPr>
            <a:r>
              <a:rPr lang="en-US" sz="1500">
                <a:solidFill>
                  <a:srgbClr val="FFFFFF"/>
                </a:solidFill>
                <a:latin typeface="Gordita"/>
                <a:ea typeface="Gordita"/>
                <a:cs typeface="Gordita"/>
                <a:sym typeface="Gordita"/>
              </a:rPr>
              <a:t>Total data: 88 baris (88 bulan)</a:t>
            </a:r>
          </a:p>
          <a:p>
            <a:pPr algn="l">
              <a:lnSpc>
                <a:spcPts val="2100"/>
              </a:lnSpc>
            </a:pPr>
          </a:p>
        </p:txBody>
      </p:sp>
      <p:grpSp>
        <p:nvGrpSpPr>
          <p:cNvPr name="Group 55" id="55"/>
          <p:cNvGrpSpPr/>
          <p:nvPr/>
        </p:nvGrpSpPr>
        <p:grpSpPr>
          <a:xfrm rot="0">
            <a:off x="6493784" y="7858398"/>
            <a:ext cx="4271262" cy="330588"/>
            <a:chOff x="0" y="0"/>
            <a:chExt cx="1124941" cy="87068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1124941" cy="87068"/>
            </a:xfrm>
            <a:custGeom>
              <a:avLst/>
              <a:gdLst/>
              <a:ahLst/>
              <a:cxnLst/>
              <a:rect r="r" b="b" t="t" l="l"/>
              <a:pathLst>
                <a:path h="87068" w="1124941">
                  <a:moveTo>
                    <a:pt x="0" y="0"/>
                  </a:moveTo>
                  <a:lnTo>
                    <a:pt x="1124941" y="0"/>
                  </a:lnTo>
                  <a:lnTo>
                    <a:pt x="1124941" y="87068"/>
                  </a:lnTo>
                  <a:lnTo>
                    <a:pt x="0" y="87068"/>
                  </a:lnTo>
                  <a:close/>
                </a:path>
              </a:pathLst>
            </a:custGeom>
            <a:solidFill>
              <a:srgbClr val="2D5B09">
                <a:alpha val="72941"/>
              </a:srgbClr>
            </a:solidFill>
          </p:spPr>
        </p:sp>
        <p:sp>
          <p:nvSpPr>
            <p:cNvPr name="TextBox 57" id="57"/>
            <p:cNvSpPr txBox="true"/>
            <p:nvPr/>
          </p:nvSpPr>
          <p:spPr>
            <a:xfrm>
              <a:off x="0" y="38100"/>
              <a:ext cx="1124941" cy="489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40"/>
                </a:lnSpc>
              </a:pP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6641410" y="7906023"/>
            <a:ext cx="2642889" cy="228600"/>
            <a:chOff x="0" y="0"/>
            <a:chExt cx="3523852" cy="304800"/>
          </a:xfrm>
        </p:grpSpPr>
        <p:sp>
          <p:nvSpPr>
            <p:cNvPr name="TextBox 59" id="59"/>
            <p:cNvSpPr txBox="true"/>
            <p:nvPr/>
          </p:nvSpPr>
          <p:spPr>
            <a:xfrm rot="0">
              <a:off x="0" y="-28575"/>
              <a:ext cx="1173716" cy="333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500">
                  <a:solidFill>
                    <a:srgbClr val="FFFFFF"/>
                  </a:solidFill>
                  <a:latin typeface="Gordita"/>
                  <a:ea typeface="Gordita"/>
                  <a:cs typeface="Gordita"/>
                  <a:sym typeface="Gordita"/>
                </a:rPr>
                <a:t>NTP</a:t>
              </a:r>
            </a:p>
          </p:txBody>
        </p:sp>
        <p:sp>
          <p:nvSpPr>
            <p:cNvPr name="TextBox 60" id="60"/>
            <p:cNvSpPr txBox="true"/>
            <p:nvPr/>
          </p:nvSpPr>
          <p:spPr>
            <a:xfrm rot="0">
              <a:off x="1931444" y="-28575"/>
              <a:ext cx="1592407" cy="333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500">
                  <a:solidFill>
                    <a:srgbClr val="FFFFFF"/>
                  </a:solidFill>
                  <a:latin typeface="Gordita"/>
                  <a:ea typeface="Gordita"/>
                  <a:cs typeface="Gordita"/>
                  <a:sym typeface="Gordita"/>
                </a:rPr>
                <a:t>Keterangan 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6493784" y="8188985"/>
            <a:ext cx="1501982" cy="878898"/>
            <a:chOff x="0" y="0"/>
            <a:chExt cx="395584" cy="231479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395584" cy="231479"/>
            </a:xfrm>
            <a:custGeom>
              <a:avLst/>
              <a:gdLst/>
              <a:ahLst/>
              <a:cxnLst/>
              <a:rect r="r" b="b" t="t" l="l"/>
              <a:pathLst>
                <a:path h="231479" w="395584">
                  <a:moveTo>
                    <a:pt x="0" y="0"/>
                  </a:moveTo>
                  <a:lnTo>
                    <a:pt x="395584" y="0"/>
                  </a:lnTo>
                  <a:lnTo>
                    <a:pt x="395584" y="231479"/>
                  </a:lnTo>
                  <a:lnTo>
                    <a:pt x="0" y="231479"/>
                  </a:lnTo>
                  <a:close/>
                </a:path>
              </a:pathLst>
            </a:custGeom>
            <a:solidFill>
              <a:srgbClr val="FFFFFF">
                <a:alpha val="26667"/>
              </a:srgbClr>
            </a:solidFill>
          </p:spPr>
        </p:sp>
        <p:sp>
          <p:nvSpPr>
            <p:cNvPr name="TextBox 63" id="63"/>
            <p:cNvSpPr txBox="true"/>
            <p:nvPr/>
          </p:nvSpPr>
          <p:spPr>
            <a:xfrm>
              <a:off x="0" y="38100"/>
              <a:ext cx="395584" cy="1933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40"/>
                </a:lnSpc>
              </a:pP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8052026" y="8188985"/>
            <a:ext cx="2713020" cy="878898"/>
            <a:chOff x="0" y="0"/>
            <a:chExt cx="714540" cy="231479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714540" cy="231479"/>
            </a:xfrm>
            <a:custGeom>
              <a:avLst/>
              <a:gdLst/>
              <a:ahLst/>
              <a:cxnLst/>
              <a:rect r="r" b="b" t="t" l="l"/>
              <a:pathLst>
                <a:path h="231479" w="714540">
                  <a:moveTo>
                    <a:pt x="0" y="0"/>
                  </a:moveTo>
                  <a:lnTo>
                    <a:pt x="714540" y="0"/>
                  </a:lnTo>
                  <a:lnTo>
                    <a:pt x="714540" y="231479"/>
                  </a:lnTo>
                  <a:lnTo>
                    <a:pt x="0" y="231479"/>
                  </a:lnTo>
                  <a:close/>
                </a:path>
              </a:pathLst>
            </a:custGeom>
            <a:solidFill>
              <a:srgbClr val="FFFFFF">
                <a:alpha val="26667"/>
              </a:srgbClr>
            </a:solidFill>
          </p:spPr>
        </p:sp>
        <p:sp>
          <p:nvSpPr>
            <p:cNvPr name="TextBox 66" id="66"/>
            <p:cNvSpPr txBox="true"/>
            <p:nvPr/>
          </p:nvSpPr>
          <p:spPr>
            <a:xfrm>
              <a:off x="0" y="38100"/>
              <a:ext cx="714540" cy="1933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40"/>
                </a:lnSpc>
              </a:pPr>
            </a:p>
          </p:txBody>
        </p:sp>
      </p:grpSp>
      <p:sp>
        <p:nvSpPr>
          <p:cNvPr name="TextBox 67" id="67"/>
          <p:cNvSpPr txBox="true"/>
          <p:nvPr/>
        </p:nvSpPr>
        <p:spPr>
          <a:xfrm rot="0">
            <a:off x="8167911" y="8233299"/>
            <a:ext cx="1757065" cy="7711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8"/>
              </a:lnSpc>
            </a:pPr>
            <a:r>
              <a:rPr lang="en-US" sz="1800">
                <a:solidFill>
                  <a:srgbClr val="FFFFFF"/>
                </a:solidFill>
                <a:latin typeface="Gordita"/>
                <a:ea typeface="Gordita"/>
                <a:cs typeface="Gordita"/>
                <a:sym typeface="Gordita"/>
              </a:rPr>
              <a:t>(Petani Sulplus)</a:t>
            </a:r>
          </a:p>
          <a:p>
            <a:pPr algn="l">
              <a:lnSpc>
                <a:spcPts val="2088"/>
              </a:lnSpc>
            </a:pPr>
            <a:r>
              <a:rPr lang="en-US" sz="1800">
                <a:solidFill>
                  <a:srgbClr val="FFFFFF"/>
                </a:solidFill>
                <a:latin typeface="Gordita"/>
                <a:ea typeface="Gordita"/>
                <a:cs typeface="Gordita"/>
                <a:sym typeface="Gordita"/>
              </a:rPr>
              <a:t>(Petani Impas)</a:t>
            </a:r>
          </a:p>
          <a:p>
            <a:pPr algn="l">
              <a:lnSpc>
                <a:spcPts val="2088"/>
              </a:lnSpc>
            </a:pPr>
            <a:r>
              <a:rPr lang="en-US" sz="1800">
                <a:solidFill>
                  <a:srgbClr val="FFFFFF"/>
                </a:solidFill>
                <a:latin typeface="Gordita"/>
                <a:ea typeface="Gordita"/>
                <a:cs typeface="Gordita"/>
                <a:sym typeface="Gordita"/>
              </a:rPr>
              <a:t>(Petani Defisit)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6718438" y="8291221"/>
            <a:ext cx="1191221" cy="221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17"/>
              </a:lnSpc>
              <a:spcBef>
                <a:spcPct val="0"/>
              </a:spcBef>
            </a:pPr>
            <a:r>
              <a:rPr lang="en-US" sz="1586">
                <a:solidFill>
                  <a:srgbClr val="FFFFFF"/>
                </a:solidFill>
                <a:latin typeface="Gordita"/>
                <a:ea typeface="Gordita"/>
                <a:cs typeface="Gordita"/>
                <a:sym typeface="Gordita"/>
              </a:rPr>
              <a:t>NTP&gt;100 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6718438" y="8531447"/>
            <a:ext cx="1191221" cy="221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17"/>
              </a:lnSpc>
              <a:spcBef>
                <a:spcPct val="0"/>
              </a:spcBef>
            </a:pPr>
            <a:r>
              <a:rPr lang="en-US" sz="1586">
                <a:solidFill>
                  <a:srgbClr val="FFFFFF"/>
                </a:solidFill>
                <a:latin typeface="Gordita"/>
                <a:ea typeface="Gordita"/>
                <a:cs typeface="Gordita"/>
                <a:sym typeface="Gordita"/>
              </a:rPr>
              <a:t>NTP=100 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6720948" y="8771446"/>
            <a:ext cx="1188711" cy="221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17"/>
              </a:lnSpc>
              <a:spcBef>
                <a:spcPct val="0"/>
              </a:spcBef>
            </a:pPr>
            <a:r>
              <a:rPr lang="en-US" sz="1586">
                <a:solidFill>
                  <a:srgbClr val="FFFFFF"/>
                </a:solidFill>
                <a:latin typeface="Gordita"/>
                <a:ea typeface="Gordita"/>
                <a:cs typeface="Gordita"/>
                <a:sym typeface="Gordita"/>
              </a:rPr>
              <a:t>NTP&lt;100 </a:t>
            </a:r>
          </a:p>
        </p:txBody>
      </p:sp>
      <p:grpSp>
        <p:nvGrpSpPr>
          <p:cNvPr name="Group 71" id="71"/>
          <p:cNvGrpSpPr/>
          <p:nvPr/>
        </p:nvGrpSpPr>
        <p:grpSpPr>
          <a:xfrm rot="0">
            <a:off x="6564383" y="8774003"/>
            <a:ext cx="154055" cy="163932"/>
            <a:chOff x="0" y="0"/>
            <a:chExt cx="763830" cy="81280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763830" cy="812800"/>
            </a:xfrm>
            <a:custGeom>
              <a:avLst/>
              <a:gdLst/>
              <a:ahLst/>
              <a:cxnLst/>
              <a:rect r="r" b="b" t="t" l="l"/>
              <a:pathLst>
                <a:path h="812800" w="763830">
                  <a:moveTo>
                    <a:pt x="381915" y="0"/>
                  </a:moveTo>
                  <a:cubicBezTo>
                    <a:pt x="170989" y="0"/>
                    <a:pt x="0" y="181951"/>
                    <a:pt x="0" y="406400"/>
                  </a:cubicBezTo>
                  <a:cubicBezTo>
                    <a:pt x="0" y="630849"/>
                    <a:pt x="170989" y="812800"/>
                    <a:pt x="381915" y="812800"/>
                  </a:cubicBezTo>
                  <a:cubicBezTo>
                    <a:pt x="592841" y="812800"/>
                    <a:pt x="763830" y="630849"/>
                    <a:pt x="763830" y="406400"/>
                  </a:cubicBezTo>
                  <a:cubicBezTo>
                    <a:pt x="763830" y="181951"/>
                    <a:pt x="592841" y="0"/>
                    <a:pt x="381915" y="0"/>
                  </a:cubicBezTo>
                  <a:close/>
                </a:path>
              </a:pathLst>
            </a:custGeom>
            <a:solidFill>
              <a:srgbClr val="C11F1F"/>
            </a:solidFill>
          </p:spPr>
        </p:sp>
        <p:sp>
          <p:nvSpPr>
            <p:cNvPr name="TextBox 73" id="73"/>
            <p:cNvSpPr txBox="true"/>
            <p:nvPr/>
          </p:nvSpPr>
          <p:spPr>
            <a:xfrm>
              <a:off x="71609" y="0"/>
              <a:ext cx="620612" cy="736600"/>
            </a:xfrm>
            <a:prstGeom prst="rect">
              <a:avLst/>
            </a:prstGeom>
          </p:spPr>
          <p:txBody>
            <a:bodyPr anchor="ctr" rtlCol="false" tIns="43203" lIns="43203" bIns="43203" rIns="43203"/>
            <a:lstStyle/>
            <a:p>
              <a:pPr algn="ctr">
                <a:lnSpc>
                  <a:spcPts val="5953"/>
                </a:lnSpc>
              </a:pP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6564383" y="8543558"/>
            <a:ext cx="154055" cy="163932"/>
            <a:chOff x="0" y="0"/>
            <a:chExt cx="763830" cy="81280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763830" cy="812800"/>
            </a:xfrm>
            <a:custGeom>
              <a:avLst/>
              <a:gdLst/>
              <a:ahLst/>
              <a:cxnLst/>
              <a:rect r="r" b="b" t="t" l="l"/>
              <a:pathLst>
                <a:path h="812800" w="763830">
                  <a:moveTo>
                    <a:pt x="381915" y="0"/>
                  </a:moveTo>
                  <a:cubicBezTo>
                    <a:pt x="170989" y="0"/>
                    <a:pt x="0" y="181951"/>
                    <a:pt x="0" y="406400"/>
                  </a:cubicBezTo>
                  <a:cubicBezTo>
                    <a:pt x="0" y="630849"/>
                    <a:pt x="170989" y="812800"/>
                    <a:pt x="381915" y="812800"/>
                  </a:cubicBezTo>
                  <a:cubicBezTo>
                    <a:pt x="592841" y="812800"/>
                    <a:pt x="763830" y="630849"/>
                    <a:pt x="763830" y="406400"/>
                  </a:cubicBezTo>
                  <a:cubicBezTo>
                    <a:pt x="763830" y="181951"/>
                    <a:pt x="592841" y="0"/>
                    <a:pt x="381915" y="0"/>
                  </a:cubicBezTo>
                  <a:close/>
                </a:path>
              </a:pathLst>
            </a:custGeom>
            <a:solidFill>
              <a:srgbClr val="E6B142"/>
            </a:solidFill>
          </p:spPr>
        </p:sp>
        <p:sp>
          <p:nvSpPr>
            <p:cNvPr name="TextBox 76" id="76"/>
            <p:cNvSpPr txBox="true"/>
            <p:nvPr/>
          </p:nvSpPr>
          <p:spPr>
            <a:xfrm>
              <a:off x="71609" y="0"/>
              <a:ext cx="620612" cy="736600"/>
            </a:xfrm>
            <a:prstGeom prst="rect">
              <a:avLst/>
            </a:prstGeom>
          </p:spPr>
          <p:txBody>
            <a:bodyPr anchor="ctr" rtlCol="false" tIns="43203" lIns="43203" bIns="43203" rIns="43203"/>
            <a:lstStyle/>
            <a:p>
              <a:pPr algn="ctr">
                <a:lnSpc>
                  <a:spcPts val="5953"/>
                </a:lnSpc>
              </a:pP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6564383" y="8313114"/>
            <a:ext cx="154055" cy="163932"/>
            <a:chOff x="0" y="0"/>
            <a:chExt cx="763830" cy="81280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763830" cy="812800"/>
            </a:xfrm>
            <a:custGeom>
              <a:avLst/>
              <a:gdLst/>
              <a:ahLst/>
              <a:cxnLst/>
              <a:rect r="r" b="b" t="t" l="l"/>
              <a:pathLst>
                <a:path h="812800" w="763830">
                  <a:moveTo>
                    <a:pt x="381915" y="0"/>
                  </a:moveTo>
                  <a:cubicBezTo>
                    <a:pt x="170989" y="0"/>
                    <a:pt x="0" y="181951"/>
                    <a:pt x="0" y="406400"/>
                  </a:cubicBezTo>
                  <a:cubicBezTo>
                    <a:pt x="0" y="630849"/>
                    <a:pt x="170989" y="812800"/>
                    <a:pt x="381915" y="812800"/>
                  </a:cubicBezTo>
                  <a:cubicBezTo>
                    <a:pt x="592841" y="812800"/>
                    <a:pt x="763830" y="630849"/>
                    <a:pt x="763830" y="406400"/>
                  </a:cubicBezTo>
                  <a:cubicBezTo>
                    <a:pt x="763830" y="181951"/>
                    <a:pt x="592841" y="0"/>
                    <a:pt x="381915" y="0"/>
                  </a:cubicBezTo>
                  <a:close/>
                </a:path>
              </a:pathLst>
            </a:custGeom>
            <a:solidFill>
              <a:srgbClr val="93A62F"/>
            </a:solidFill>
          </p:spPr>
        </p:sp>
        <p:sp>
          <p:nvSpPr>
            <p:cNvPr name="TextBox 79" id="79"/>
            <p:cNvSpPr txBox="true"/>
            <p:nvPr/>
          </p:nvSpPr>
          <p:spPr>
            <a:xfrm>
              <a:off x="71609" y="0"/>
              <a:ext cx="620612" cy="736600"/>
            </a:xfrm>
            <a:prstGeom prst="rect">
              <a:avLst/>
            </a:prstGeom>
          </p:spPr>
          <p:txBody>
            <a:bodyPr anchor="ctr" rtlCol="false" tIns="43203" lIns="43203" bIns="43203" rIns="43203"/>
            <a:lstStyle/>
            <a:p>
              <a:pPr algn="ctr">
                <a:lnSpc>
                  <a:spcPts val="5953"/>
                </a:lnSpc>
              </a:pPr>
            </a:p>
          </p:txBody>
        </p:sp>
      </p:grpSp>
      <p:sp>
        <p:nvSpPr>
          <p:cNvPr name="TextBox 80" id="80"/>
          <p:cNvSpPr txBox="true"/>
          <p:nvPr/>
        </p:nvSpPr>
        <p:spPr>
          <a:xfrm rot="0">
            <a:off x="1949215" y="1128827"/>
            <a:ext cx="1631977" cy="312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3"/>
              </a:lnSpc>
              <a:spcBef>
                <a:spcPct val="0"/>
              </a:spcBef>
            </a:pPr>
            <a:r>
              <a:rPr lang="en-US" sz="2317">
                <a:solidFill>
                  <a:srgbClr val="023D1E"/>
                </a:solidFill>
                <a:latin typeface="Gordita"/>
                <a:ea typeface="Gordita"/>
                <a:cs typeface="Gordita"/>
                <a:sym typeface="Gordita"/>
              </a:rPr>
              <a:t>DCL 2026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1659808" y="-840052"/>
            <a:ext cx="8488516" cy="5549367"/>
          </a:xfrm>
          <a:custGeom>
            <a:avLst/>
            <a:gdLst/>
            <a:ahLst/>
            <a:cxnLst/>
            <a:rect r="r" b="b" t="t" l="l"/>
            <a:pathLst>
              <a:path h="5549367" w="8488516">
                <a:moveTo>
                  <a:pt x="8488516" y="5549368"/>
                </a:moveTo>
                <a:lnTo>
                  <a:pt x="0" y="5549368"/>
                </a:lnTo>
                <a:lnTo>
                  <a:pt x="0" y="0"/>
                </a:lnTo>
                <a:lnTo>
                  <a:pt x="8488516" y="0"/>
                </a:lnTo>
                <a:lnTo>
                  <a:pt x="8488516" y="5549368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612418" y="4235264"/>
            <a:ext cx="6604336" cy="6604336"/>
          </a:xfrm>
          <a:custGeom>
            <a:avLst/>
            <a:gdLst/>
            <a:ahLst/>
            <a:cxnLst/>
            <a:rect r="r" b="b" t="t" l="l"/>
            <a:pathLst>
              <a:path h="6604336" w="6604336">
                <a:moveTo>
                  <a:pt x="0" y="0"/>
                </a:moveTo>
                <a:lnTo>
                  <a:pt x="6604336" y="0"/>
                </a:lnTo>
                <a:lnTo>
                  <a:pt x="6604336" y="6604336"/>
                </a:lnTo>
                <a:lnTo>
                  <a:pt x="0" y="660433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74000"/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5587381" y="4920986"/>
            <a:ext cx="3277768" cy="3855233"/>
            <a:chOff x="0" y="0"/>
            <a:chExt cx="691053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91053" cy="812800"/>
            </a:xfrm>
            <a:custGeom>
              <a:avLst/>
              <a:gdLst/>
              <a:ahLst/>
              <a:cxnLst/>
              <a:rect r="r" b="b" t="t" l="l"/>
              <a:pathLst>
                <a:path h="812800" w="691053">
                  <a:moveTo>
                    <a:pt x="139355" y="0"/>
                  </a:moveTo>
                  <a:lnTo>
                    <a:pt x="551698" y="0"/>
                  </a:lnTo>
                  <a:cubicBezTo>
                    <a:pt x="628661" y="0"/>
                    <a:pt x="691053" y="62391"/>
                    <a:pt x="691053" y="139355"/>
                  </a:cubicBezTo>
                  <a:lnTo>
                    <a:pt x="691053" y="673445"/>
                  </a:lnTo>
                  <a:cubicBezTo>
                    <a:pt x="691053" y="750409"/>
                    <a:pt x="628661" y="812800"/>
                    <a:pt x="551698" y="812800"/>
                  </a:cubicBezTo>
                  <a:lnTo>
                    <a:pt x="139355" y="812800"/>
                  </a:lnTo>
                  <a:cubicBezTo>
                    <a:pt x="62391" y="812800"/>
                    <a:pt x="0" y="750409"/>
                    <a:pt x="0" y="673445"/>
                  </a:cubicBezTo>
                  <a:lnTo>
                    <a:pt x="0" y="139355"/>
                  </a:lnTo>
                  <a:cubicBezTo>
                    <a:pt x="0" y="62391"/>
                    <a:pt x="62391" y="0"/>
                    <a:pt x="139355" y="0"/>
                  </a:cubicBezTo>
                  <a:close/>
                </a:path>
              </a:pathLst>
            </a:custGeom>
            <a:blipFill>
              <a:blip r:embed="rId6"/>
              <a:stretch>
                <a:fillRect l="-79705" t="-14508" r="-22317" b="0"/>
              </a:stretch>
            </a:blipFill>
            <a:ln w="247650" cap="rnd">
              <a:solidFill>
                <a:srgbClr val="FFFFFF"/>
              </a:solidFill>
              <a:prstDash val="solid"/>
              <a:round/>
            </a:ln>
          </p:spPr>
        </p:sp>
      </p:grpSp>
      <p:sp>
        <p:nvSpPr>
          <p:cNvPr name="Freeform 7" id="7"/>
          <p:cNvSpPr/>
          <p:nvPr/>
        </p:nvSpPr>
        <p:spPr>
          <a:xfrm flipH="true" flipV="false" rot="0">
            <a:off x="15473081" y="5256502"/>
            <a:ext cx="5554087" cy="3933209"/>
          </a:xfrm>
          <a:custGeom>
            <a:avLst/>
            <a:gdLst/>
            <a:ahLst/>
            <a:cxnLst/>
            <a:rect r="r" b="b" t="t" l="l"/>
            <a:pathLst>
              <a:path h="3933209" w="5554087">
                <a:moveTo>
                  <a:pt x="5554087" y="0"/>
                </a:moveTo>
                <a:lnTo>
                  <a:pt x="0" y="0"/>
                </a:lnTo>
                <a:lnTo>
                  <a:pt x="0" y="3933210"/>
                </a:lnTo>
                <a:lnTo>
                  <a:pt x="5554087" y="3933210"/>
                </a:lnTo>
                <a:lnTo>
                  <a:pt x="5554087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-37091" r="-474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6237524" y="7313659"/>
            <a:ext cx="1021776" cy="1012836"/>
          </a:xfrm>
          <a:custGeom>
            <a:avLst/>
            <a:gdLst/>
            <a:ahLst/>
            <a:cxnLst/>
            <a:rect r="r" b="b" t="t" l="l"/>
            <a:pathLst>
              <a:path h="1012836" w="1021776">
                <a:moveTo>
                  <a:pt x="0" y="0"/>
                </a:moveTo>
                <a:lnTo>
                  <a:pt x="1021776" y="0"/>
                </a:lnTo>
                <a:lnTo>
                  <a:pt x="1021776" y="1012836"/>
                </a:lnTo>
                <a:lnTo>
                  <a:pt x="0" y="101283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941882" y="552624"/>
            <a:ext cx="7985004" cy="10052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50"/>
              </a:lnSpc>
            </a:pPr>
            <a:r>
              <a:rPr lang="en-US" sz="7500" b="true">
                <a:solidFill>
                  <a:srgbClr val="FFFFFF"/>
                </a:solidFill>
                <a:latin typeface="Gordita Bold"/>
                <a:ea typeface="Gordita Bold"/>
                <a:cs typeface="Gordita Bold"/>
                <a:sym typeface="Gordita Bold"/>
              </a:rPr>
              <a:t>Alur Pengerjaan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41882" y="1607312"/>
            <a:ext cx="3735157" cy="632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3"/>
              </a:lnSpc>
            </a:pPr>
            <a:r>
              <a:rPr lang="en-US" sz="5003" i="true">
                <a:solidFill>
                  <a:srgbClr val="F7C03F"/>
                </a:solidFill>
                <a:latin typeface="Gordita Italics"/>
                <a:ea typeface="Gordita Italics"/>
                <a:cs typeface="Gordita Italics"/>
                <a:sym typeface="Gordita Italics"/>
              </a:rPr>
              <a:t>Studi Kasus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6586407" y="2239439"/>
            <a:ext cx="324010" cy="324010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7C03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114300"/>
              <a:ext cx="660400" cy="622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59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true" flipV="false" rot="0">
            <a:off x="13348981" y="585389"/>
            <a:ext cx="1029170" cy="1349732"/>
          </a:xfrm>
          <a:custGeom>
            <a:avLst/>
            <a:gdLst/>
            <a:ahLst/>
            <a:cxnLst/>
            <a:rect r="r" b="b" t="t" l="l"/>
            <a:pathLst>
              <a:path h="1349732" w="1029170">
                <a:moveTo>
                  <a:pt x="1029171" y="0"/>
                </a:moveTo>
                <a:lnTo>
                  <a:pt x="0" y="0"/>
                </a:lnTo>
                <a:lnTo>
                  <a:pt x="0" y="1349732"/>
                </a:lnTo>
                <a:lnTo>
                  <a:pt x="1029171" y="1349732"/>
                </a:lnTo>
                <a:lnTo>
                  <a:pt x="1029171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true" flipV="false" rot="0">
            <a:off x="15214152" y="8776220"/>
            <a:ext cx="1324212" cy="1736671"/>
          </a:xfrm>
          <a:custGeom>
            <a:avLst/>
            <a:gdLst/>
            <a:ahLst/>
            <a:cxnLst/>
            <a:rect r="r" b="b" t="t" l="l"/>
            <a:pathLst>
              <a:path h="1736671" w="1324212">
                <a:moveTo>
                  <a:pt x="1324212" y="0"/>
                </a:moveTo>
                <a:lnTo>
                  <a:pt x="0" y="0"/>
                </a:lnTo>
                <a:lnTo>
                  <a:pt x="0" y="1736671"/>
                </a:lnTo>
                <a:lnTo>
                  <a:pt x="1324212" y="1736671"/>
                </a:lnTo>
                <a:lnTo>
                  <a:pt x="1324212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AutoShape 16" id="16"/>
          <p:cNvSpPr/>
          <p:nvPr/>
        </p:nvSpPr>
        <p:spPr>
          <a:xfrm flipH="true" flipV="true">
            <a:off x="1545352" y="3304529"/>
            <a:ext cx="0" cy="2370368"/>
          </a:xfrm>
          <a:prstGeom prst="line">
            <a:avLst/>
          </a:prstGeom>
          <a:ln cap="flat" w="47625">
            <a:solidFill>
              <a:srgbClr val="74B8F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7" id="17"/>
          <p:cNvSpPr/>
          <p:nvPr/>
        </p:nvSpPr>
        <p:spPr>
          <a:xfrm flipV="true">
            <a:off x="6252473" y="3304529"/>
            <a:ext cx="0" cy="2370368"/>
          </a:xfrm>
          <a:prstGeom prst="line">
            <a:avLst/>
          </a:prstGeom>
          <a:ln cap="flat" w="47625">
            <a:solidFill>
              <a:srgbClr val="00D5B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8" id="18"/>
          <p:cNvSpPr/>
          <p:nvPr/>
        </p:nvSpPr>
        <p:spPr>
          <a:xfrm>
            <a:off x="3969033" y="6292313"/>
            <a:ext cx="0" cy="2370368"/>
          </a:xfrm>
          <a:prstGeom prst="line">
            <a:avLst/>
          </a:prstGeom>
          <a:ln cap="flat" w="47625">
            <a:solidFill>
              <a:srgbClr val="02CFD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9" id="19"/>
          <p:cNvSpPr/>
          <p:nvPr/>
        </p:nvSpPr>
        <p:spPr>
          <a:xfrm>
            <a:off x="8676154" y="6292313"/>
            <a:ext cx="0" cy="2370368"/>
          </a:xfrm>
          <a:prstGeom prst="line">
            <a:avLst/>
          </a:prstGeom>
          <a:ln cap="flat" w="47625">
            <a:solidFill>
              <a:srgbClr val="81D65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0" id="20"/>
          <p:cNvGrpSpPr/>
          <p:nvPr/>
        </p:nvGrpSpPr>
        <p:grpSpPr>
          <a:xfrm rot="0">
            <a:off x="1236644" y="5674897"/>
            <a:ext cx="2983120" cy="617415"/>
            <a:chOff x="0" y="0"/>
            <a:chExt cx="785678" cy="16261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85678" cy="162611"/>
            </a:xfrm>
            <a:custGeom>
              <a:avLst/>
              <a:gdLst/>
              <a:ahLst/>
              <a:cxnLst/>
              <a:rect r="r" b="b" t="t" l="l"/>
              <a:pathLst>
                <a:path h="162611" w="785678">
                  <a:moveTo>
                    <a:pt x="81306" y="0"/>
                  </a:moveTo>
                  <a:lnTo>
                    <a:pt x="704372" y="0"/>
                  </a:lnTo>
                  <a:cubicBezTo>
                    <a:pt x="749276" y="0"/>
                    <a:pt x="785678" y="36402"/>
                    <a:pt x="785678" y="81306"/>
                  </a:cubicBezTo>
                  <a:lnTo>
                    <a:pt x="785678" y="81306"/>
                  </a:lnTo>
                  <a:cubicBezTo>
                    <a:pt x="785678" y="126210"/>
                    <a:pt x="749276" y="162611"/>
                    <a:pt x="704372" y="162611"/>
                  </a:cubicBezTo>
                  <a:lnTo>
                    <a:pt x="81306" y="162611"/>
                  </a:lnTo>
                  <a:cubicBezTo>
                    <a:pt x="36402" y="162611"/>
                    <a:pt x="0" y="126210"/>
                    <a:pt x="0" y="81306"/>
                  </a:cubicBezTo>
                  <a:lnTo>
                    <a:pt x="0" y="81306"/>
                  </a:lnTo>
                  <a:cubicBezTo>
                    <a:pt x="0" y="36402"/>
                    <a:pt x="36402" y="0"/>
                    <a:pt x="81306" y="0"/>
                  </a:cubicBezTo>
                  <a:close/>
                </a:path>
              </a:pathLst>
            </a:custGeom>
            <a:solidFill>
              <a:srgbClr val="74B8F5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785678" cy="2007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1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5943766" y="5674897"/>
            <a:ext cx="2983120" cy="617415"/>
            <a:chOff x="0" y="0"/>
            <a:chExt cx="785678" cy="162611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85678" cy="162611"/>
            </a:xfrm>
            <a:custGeom>
              <a:avLst/>
              <a:gdLst/>
              <a:ahLst/>
              <a:cxnLst/>
              <a:rect r="r" b="b" t="t" l="l"/>
              <a:pathLst>
                <a:path h="162611" w="785678">
                  <a:moveTo>
                    <a:pt x="81306" y="0"/>
                  </a:moveTo>
                  <a:lnTo>
                    <a:pt x="704372" y="0"/>
                  </a:lnTo>
                  <a:cubicBezTo>
                    <a:pt x="749276" y="0"/>
                    <a:pt x="785678" y="36402"/>
                    <a:pt x="785678" y="81306"/>
                  </a:cubicBezTo>
                  <a:lnTo>
                    <a:pt x="785678" y="81306"/>
                  </a:lnTo>
                  <a:cubicBezTo>
                    <a:pt x="785678" y="126210"/>
                    <a:pt x="749276" y="162611"/>
                    <a:pt x="704372" y="162611"/>
                  </a:cubicBezTo>
                  <a:lnTo>
                    <a:pt x="81306" y="162611"/>
                  </a:lnTo>
                  <a:cubicBezTo>
                    <a:pt x="36402" y="162611"/>
                    <a:pt x="0" y="126210"/>
                    <a:pt x="0" y="81306"/>
                  </a:cubicBezTo>
                  <a:lnTo>
                    <a:pt x="0" y="81306"/>
                  </a:lnTo>
                  <a:cubicBezTo>
                    <a:pt x="0" y="36402"/>
                    <a:pt x="36402" y="0"/>
                    <a:pt x="81306" y="0"/>
                  </a:cubicBezTo>
                  <a:close/>
                </a:path>
              </a:pathLst>
            </a:custGeom>
            <a:solidFill>
              <a:srgbClr val="00D5BA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785678" cy="2007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19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3660325" y="5674897"/>
            <a:ext cx="2901590" cy="617415"/>
            <a:chOff x="0" y="0"/>
            <a:chExt cx="764205" cy="162611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764205" cy="162611"/>
            </a:xfrm>
            <a:custGeom>
              <a:avLst/>
              <a:gdLst/>
              <a:ahLst/>
              <a:cxnLst/>
              <a:rect r="r" b="b" t="t" l="l"/>
              <a:pathLst>
                <a:path h="162611" w="764205">
                  <a:moveTo>
                    <a:pt x="81306" y="0"/>
                  </a:moveTo>
                  <a:lnTo>
                    <a:pt x="682899" y="0"/>
                  </a:lnTo>
                  <a:cubicBezTo>
                    <a:pt x="727803" y="0"/>
                    <a:pt x="764205" y="36402"/>
                    <a:pt x="764205" y="81306"/>
                  </a:cubicBezTo>
                  <a:lnTo>
                    <a:pt x="764205" y="81306"/>
                  </a:lnTo>
                  <a:cubicBezTo>
                    <a:pt x="764205" y="126210"/>
                    <a:pt x="727803" y="162611"/>
                    <a:pt x="682899" y="162611"/>
                  </a:cubicBezTo>
                  <a:lnTo>
                    <a:pt x="81306" y="162611"/>
                  </a:lnTo>
                  <a:cubicBezTo>
                    <a:pt x="36402" y="162611"/>
                    <a:pt x="0" y="126210"/>
                    <a:pt x="0" y="81306"/>
                  </a:cubicBezTo>
                  <a:lnTo>
                    <a:pt x="0" y="81306"/>
                  </a:lnTo>
                  <a:cubicBezTo>
                    <a:pt x="0" y="36402"/>
                    <a:pt x="36402" y="0"/>
                    <a:pt x="81306" y="0"/>
                  </a:cubicBezTo>
                  <a:close/>
                </a:path>
              </a:pathLst>
            </a:custGeom>
            <a:solidFill>
              <a:srgbClr val="02CFDE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764205" cy="2007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19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8367447" y="5674897"/>
            <a:ext cx="2983120" cy="617415"/>
            <a:chOff x="0" y="0"/>
            <a:chExt cx="785678" cy="162611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785678" cy="162611"/>
            </a:xfrm>
            <a:custGeom>
              <a:avLst/>
              <a:gdLst/>
              <a:ahLst/>
              <a:cxnLst/>
              <a:rect r="r" b="b" t="t" l="l"/>
              <a:pathLst>
                <a:path h="162611" w="785678">
                  <a:moveTo>
                    <a:pt x="81306" y="0"/>
                  </a:moveTo>
                  <a:lnTo>
                    <a:pt x="704372" y="0"/>
                  </a:lnTo>
                  <a:cubicBezTo>
                    <a:pt x="749276" y="0"/>
                    <a:pt x="785678" y="36402"/>
                    <a:pt x="785678" y="81306"/>
                  </a:cubicBezTo>
                  <a:lnTo>
                    <a:pt x="785678" y="81306"/>
                  </a:lnTo>
                  <a:cubicBezTo>
                    <a:pt x="785678" y="126210"/>
                    <a:pt x="749276" y="162611"/>
                    <a:pt x="704372" y="162611"/>
                  </a:cubicBezTo>
                  <a:lnTo>
                    <a:pt x="81306" y="162611"/>
                  </a:lnTo>
                  <a:cubicBezTo>
                    <a:pt x="36402" y="162611"/>
                    <a:pt x="0" y="126210"/>
                    <a:pt x="0" y="81306"/>
                  </a:cubicBezTo>
                  <a:lnTo>
                    <a:pt x="0" y="81306"/>
                  </a:lnTo>
                  <a:cubicBezTo>
                    <a:pt x="0" y="36402"/>
                    <a:pt x="36402" y="0"/>
                    <a:pt x="81306" y="0"/>
                  </a:cubicBezTo>
                  <a:close/>
                </a:path>
              </a:pathLst>
            </a:custGeom>
            <a:solidFill>
              <a:srgbClr val="81D65B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785678" cy="2007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19"/>
                </a:lnSpc>
              </a:pPr>
            </a:p>
          </p:txBody>
        </p:sp>
      </p:grpSp>
      <p:sp>
        <p:nvSpPr>
          <p:cNvPr name="Freeform 32" id="32"/>
          <p:cNvSpPr/>
          <p:nvPr/>
        </p:nvSpPr>
        <p:spPr>
          <a:xfrm flipH="false" flipV="false" rot="0">
            <a:off x="1211560" y="5640982"/>
            <a:ext cx="762834" cy="761447"/>
          </a:xfrm>
          <a:custGeom>
            <a:avLst/>
            <a:gdLst/>
            <a:ahLst/>
            <a:cxnLst/>
            <a:rect r="r" b="b" t="t" l="l"/>
            <a:pathLst>
              <a:path h="761447" w="762834">
                <a:moveTo>
                  <a:pt x="0" y="0"/>
                </a:moveTo>
                <a:lnTo>
                  <a:pt x="762834" y="0"/>
                </a:lnTo>
                <a:lnTo>
                  <a:pt x="762834" y="761446"/>
                </a:lnTo>
                <a:lnTo>
                  <a:pt x="0" y="761446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grpSp>
        <p:nvGrpSpPr>
          <p:cNvPr name="Group 33" id="33"/>
          <p:cNvGrpSpPr/>
          <p:nvPr/>
        </p:nvGrpSpPr>
        <p:grpSpPr>
          <a:xfrm rot="0">
            <a:off x="1236644" y="2687114"/>
            <a:ext cx="617415" cy="617415"/>
            <a:chOff x="0" y="0"/>
            <a:chExt cx="812800" cy="8128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4B8F5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36" id="36"/>
          <p:cNvSpPr/>
          <p:nvPr/>
        </p:nvSpPr>
        <p:spPr>
          <a:xfrm flipH="false" flipV="false" rot="0">
            <a:off x="5918682" y="5640982"/>
            <a:ext cx="762834" cy="761447"/>
          </a:xfrm>
          <a:custGeom>
            <a:avLst/>
            <a:gdLst/>
            <a:ahLst/>
            <a:cxnLst/>
            <a:rect r="r" b="b" t="t" l="l"/>
            <a:pathLst>
              <a:path h="761447" w="762834">
                <a:moveTo>
                  <a:pt x="0" y="0"/>
                </a:moveTo>
                <a:lnTo>
                  <a:pt x="762833" y="0"/>
                </a:lnTo>
                <a:lnTo>
                  <a:pt x="762833" y="761446"/>
                </a:lnTo>
                <a:lnTo>
                  <a:pt x="0" y="761446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37" id="37"/>
          <p:cNvSpPr/>
          <p:nvPr/>
        </p:nvSpPr>
        <p:spPr>
          <a:xfrm flipH="false" flipV="false" rot="0">
            <a:off x="3635241" y="5640982"/>
            <a:ext cx="762834" cy="761447"/>
          </a:xfrm>
          <a:custGeom>
            <a:avLst/>
            <a:gdLst/>
            <a:ahLst/>
            <a:cxnLst/>
            <a:rect r="r" b="b" t="t" l="l"/>
            <a:pathLst>
              <a:path h="761447" w="762834">
                <a:moveTo>
                  <a:pt x="0" y="0"/>
                </a:moveTo>
                <a:lnTo>
                  <a:pt x="762833" y="0"/>
                </a:lnTo>
                <a:lnTo>
                  <a:pt x="762833" y="761446"/>
                </a:lnTo>
                <a:lnTo>
                  <a:pt x="0" y="761446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38" id="38"/>
          <p:cNvSpPr/>
          <p:nvPr/>
        </p:nvSpPr>
        <p:spPr>
          <a:xfrm flipH="false" flipV="false" rot="0">
            <a:off x="8342362" y="5640982"/>
            <a:ext cx="762834" cy="761447"/>
          </a:xfrm>
          <a:custGeom>
            <a:avLst/>
            <a:gdLst/>
            <a:ahLst/>
            <a:cxnLst/>
            <a:rect r="r" b="b" t="t" l="l"/>
            <a:pathLst>
              <a:path h="761447" w="762834">
                <a:moveTo>
                  <a:pt x="0" y="0"/>
                </a:moveTo>
                <a:lnTo>
                  <a:pt x="762834" y="0"/>
                </a:lnTo>
                <a:lnTo>
                  <a:pt x="762834" y="761446"/>
                </a:lnTo>
                <a:lnTo>
                  <a:pt x="0" y="761446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grpSp>
        <p:nvGrpSpPr>
          <p:cNvPr name="Group 39" id="39"/>
          <p:cNvGrpSpPr/>
          <p:nvPr/>
        </p:nvGrpSpPr>
        <p:grpSpPr>
          <a:xfrm rot="0">
            <a:off x="1236644" y="5674897"/>
            <a:ext cx="617415" cy="617415"/>
            <a:chOff x="0" y="0"/>
            <a:chExt cx="812800" cy="8128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4B8F5"/>
            </a:solidFill>
            <a:ln w="1143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41" id="4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19"/>
                </a:lnSpc>
              </a:pP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5943766" y="5674897"/>
            <a:ext cx="617415" cy="617415"/>
            <a:chOff x="0" y="0"/>
            <a:chExt cx="812800" cy="8128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D5BA"/>
            </a:solidFill>
            <a:ln w="1143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44" id="4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19"/>
                </a:lnSpc>
              </a:pP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3660325" y="5674897"/>
            <a:ext cx="617415" cy="617415"/>
            <a:chOff x="0" y="0"/>
            <a:chExt cx="812800" cy="81280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2CFDE"/>
            </a:solidFill>
            <a:ln w="1143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47" id="4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19"/>
                </a:lnSpc>
              </a:pP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8367447" y="5674897"/>
            <a:ext cx="617415" cy="617415"/>
            <a:chOff x="0" y="0"/>
            <a:chExt cx="812800" cy="81280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1D65B"/>
            </a:solidFill>
            <a:ln w="1143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50" id="5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19"/>
                </a:lnSpc>
              </a:pP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5943766" y="2687114"/>
            <a:ext cx="617415" cy="617415"/>
            <a:chOff x="0" y="0"/>
            <a:chExt cx="812800" cy="81280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D5BA"/>
            </a:solidFill>
          </p:spPr>
        </p:sp>
        <p:sp>
          <p:nvSpPr>
            <p:cNvPr name="TextBox 53" id="53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4" id="54"/>
          <p:cNvGrpSpPr/>
          <p:nvPr/>
        </p:nvGrpSpPr>
        <p:grpSpPr>
          <a:xfrm rot="-10800000">
            <a:off x="3660325" y="8662681"/>
            <a:ext cx="617415" cy="617415"/>
            <a:chOff x="0" y="0"/>
            <a:chExt cx="812800" cy="81280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2CFDE"/>
            </a:solidFill>
          </p:spPr>
        </p:sp>
        <p:sp>
          <p:nvSpPr>
            <p:cNvPr name="TextBox 56" id="56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7" id="57"/>
          <p:cNvGrpSpPr/>
          <p:nvPr/>
        </p:nvGrpSpPr>
        <p:grpSpPr>
          <a:xfrm rot="-10800000">
            <a:off x="8367447" y="8662681"/>
            <a:ext cx="617415" cy="617415"/>
            <a:chOff x="0" y="0"/>
            <a:chExt cx="812800" cy="81280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1D65B"/>
            </a:solidFill>
          </p:spPr>
        </p:sp>
        <p:sp>
          <p:nvSpPr>
            <p:cNvPr name="TextBox 59" id="59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60" id="60"/>
          <p:cNvSpPr/>
          <p:nvPr/>
        </p:nvSpPr>
        <p:spPr>
          <a:xfrm flipV="true">
            <a:off x="10959595" y="3304529"/>
            <a:ext cx="0" cy="2370368"/>
          </a:xfrm>
          <a:prstGeom prst="line">
            <a:avLst/>
          </a:prstGeom>
          <a:ln cap="flat" w="47625">
            <a:solidFill>
              <a:srgbClr val="BFCE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1" id="61"/>
          <p:cNvSpPr/>
          <p:nvPr/>
        </p:nvSpPr>
        <p:spPr>
          <a:xfrm>
            <a:off x="13383276" y="6292313"/>
            <a:ext cx="0" cy="2370368"/>
          </a:xfrm>
          <a:prstGeom prst="line">
            <a:avLst/>
          </a:prstGeom>
          <a:ln cap="flat" w="47625">
            <a:solidFill>
              <a:srgbClr val="FABE22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2" id="62"/>
          <p:cNvGrpSpPr/>
          <p:nvPr/>
        </p:nvGrpSpPr>
        <p:grpSpPr>
          <a:xfrm rot="0">
            <a:off x="10650887" y="5674897"/>
            <a:ext cx="2983120" cy="617415"/>
            <a:chOff x="0" y="0"/>
            <a:chExt cx="785678" cy="162611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785678" cy="162611"/>
            </a:xfrm>
            <a:custGeom>
              <a:avLst/>
              <a:gdLst/>
              <a:ahLst/>
              <a:cxnLst/>
              <a:rect r="r" b="b" t="t" l="l"/>
              <a:pathLst>
                <a:path h="162611" w="785678">
                  <a:moveTo>
                    <a:pt x="81306" y="0"/>
                  </a:moveTo>
                  <a:lnTo>
                    <a:pt x="704372" y="0"/>
                  </a:lnTo>
                  <a:cubicBezTo>
                    <a:pt x="749276" y="0"/>
                    <a:pt x="785678" y="36402"/>
                    <a:pt x="785678" y="81306"/>
                  </a:cubicBezTo>
                  <a:lnTo>
                    <a:pt x="785678" y="81306"/>
                  </a:lnTo>
                  <a:cubicBezTo>
                    <a:pt x="785678" y="126210"/>
                    <a:pt x="749276" y="162611"/>
                    <a:pt x="704372" y="162611"/>
                  </a:cubicBezTo>
                  <a:lnTo>
                    <a:pt x="81306" y="162611"/>
                  </a:lnTo>
                  <a:cubicBezTo>
                    <a:pt x="36402" y="162611"/>
                    <a:pt x="0" y="126210"/>
                    <a:pt x="0" y="81306"/>
                  </a:cubicBezTo>
                  <a:lnTo>
                    <a:pt x="0" y="81306"/>
                  </a:lnTo>
                  <a:cubicBezTo>
                    <a:pt x="0" y="36402"/>
                    <a:pt x="36402" y="0"/>
                    <a:pt x="81306" y="0"/>
                  </a:cubicBezTo>
                  <a:close/>
                </a:path>
              </a:pathLst>
            </a:custGeom>
            <a:solidFill>
              <a:srgbClr val="BFCE30"/>
            </a:solid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38100"/>
              <a:ext cx="785678" cy="2007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19"/>
                </a:lnSpc>
              </a:pP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13074568" y="5674897"/>
            <a:ext cx="2983120" cy="617415"/>
            <a:chOff x="0" y="0"/>
            <a:chExt cx="785678" cy="162611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785678" cy="162611"/>
            </a:xfrm>
            <a:custGeom>
              <a:avLst/>
              <a:gdLst/>
              <a:ahLst/>
              <a:cxnLst/>
              <a:rect r="r" b="b" t="t" l="l"/>
              <a:pathLst>
                <a:path h="162611" w="785678">
                  <a:moveTo>
                    <a:pt x="81306" y="0"/>
                  </a:moveTo>
                  <a:lnTo>
                    <a:pt x="704372" y="0"/>
                  </a:lnTo>
                  <a:cubicBezTo>
                    <a:pt x="749276" y="0"/>
                    <a:pt x="785678" y="36402"/>
                    <a:pt x="785678" y="81306"/>
                  </a:cubicBezTo>
                  <a:lnTo>
                    <a:pt x="785678" y="81306"/>
                  </a:lnTo>
                  <a:cubicBezTo>
                    <a:pt x="785678" y="126210"/>
                    <a:pt x="749276" y="162611"/>
                    <a:pt x="704372" y="162611"/>
                  </a:cubicBezTo>
                  <a:lnTo>
                    <a:pt x="81306" y="162611"/>
                  </a:lnTo>
                  <a:cubicBezTo>
                    <a:pt x="36402" y="162611"/>
                    <a:pt x="0" y="126210"/>
                    <a:pt x="0" y="81306"/>
                  </a:cubicBezTo>
                  <a:lnTo>
                    <a:pt x="0" y="81306"/>
                  </a:lnTo>
                  <a:cubicBezTo>
                    <a:pt x="0" y="36402"/>
                    <a:pt x="36402" y="0"/>
                    <a:pt x="81306" y="0"/>
                  </a:cubicBezTo>
                  <a:close/>
                </a:path>
              </a:pathLst>
            </a:custGeom>
            <a:solidFill>
              <a:srgbClr val="FABE22"/>
            </a:solid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38100"/>
              <a:ext cx="785678" cy="2007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19"/>
                </a:lnSpc>
              </a:pPr>
            </a:p>
          </p:txBody>
        </p:sp>
      </p:grpSp>
      <p:sp>
        <p:nvSpPr>
          <p:cNvPr name="Freeform 68" id="68"/>
          <p:cNvSpPr/>
          <p:nvPr/>
        </p:nvSpPr>
        <p:spPr>
          <a:xfrm flipH="false" flipV="false" rot="0">
            <a:off x="10625803" y="5640982"/>
            <a:ext cx="762834" cy="761447"/>
          </a:xfrm>
          <a:custGeom>
            <a:avLst/>
            <a:gdLst/>
            <a:ahLst/>
            <a:cxnLst/>
            <a:rect r="r" b="b" t="t" l="l"/>
            <a:pathLst>
              <a:path h="761447" w="762834">
                <a:moveTo>
                  <a:pt x="0" y="0"/>
                </a:moveTo>
                <a:lnTo>
                  <a:pt x="762834" y="0"/>
                </a:lnTo>
                <a:lnTo>
                  <a:pt x="762834" y="761446"/>
                </a:lnTo>
                <a:lnTo>
                  <a:pt x="0" y="761446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69" id="69"/>
          <p:cNvSpPr/>
          <p:nvPr/>
        </p:nvSpPr>
        <p:spPr>
          <a:xfrm flipH="false" flipV="false" rot="0">
            <a:off x="13049484" y="5640982"/>
            <a:ext cx="762834" cy="761447"/>
          </a:xfrm>
          <a:custGeom>
            <a:avLst/>
            <a:gdLst/>
            <a:ahLst/>
            <a:cxnLst/>
            <a:rect r="r" b="b" t="t" l="l"/>
            <a:pathLst>
              <a:path h="761447" w="762834">
                <a:moveTo>
                  <a:pt x="0" y="0"/>
                </a:moveTo>
                <a:lnTo>
                  <a:pt x="762834" y="0"/>
                </a:lnTo>
                <a:lnTo>
                  <a:pt x="762834" y="761446"/>
                </a:lnTo>
                <a:lnTo>
                  <a:pt x="0" y="761446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grpSp>
        <p:nvGrpSpPr>
          <p:cNvPr name="Group 70" id="70"/>
          <p:cNvGrpSpPr/>
          <p:nvPr/>
        </p:nvGrpSpPr>
        <p:grpSpPr>
          <a:xfrm rot="0">
            <a:off x="10650887" y="5674897"/>
            <a:ext cx="617415" cy="617415"/>
            <a:chOff x="0" y="0"/>
            <a:chExt cx="812800" cy="81280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FCE30"/>
            </a:solidFill>
            <a:ln w="1143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72" id="7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19"/>
                </a:lnSpc>
              </a:pP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13074568" y="5674897"/>
            <a:ext cx="617415" cy="617415"/>
            <a:chOff x="0" y="0"/>
            <a:chExt cx="812800" cy="812800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ABE22"/>
            </a:solidFill>
            <a:ln w="1143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75" id="7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19"/>
                </a:lnSpc>
              </a:pP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10650887" y="2687114"/>
            <a:ext cx="617415" cy="617415"/>
            <a:chOff x="0" y="0"/>
            <a:chExt cx="812800" cy="812800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FCE30"/>
            </a:solidFill>
          </p:spPr>
        </p:sp>
        <p:sp>
          <p:nvSpPr>
            <p:cNvPr name="TextBox 78" id="78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9" id="79"/>
          <p:cNvGrpSpPr/>
          <p:nvPr/>
        </p:nvGrpSpPr>
        <p:grpSpPr>
          <a:xfrm rot="-10800000">
            <a:off x="13074568" y="8662681"/>
            <a:ext cx="617415" cy="617415"/>
            <a:chOff x="0" y="0"/>
            <a:chExt cx="812800" cy="812800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ABE22"/>
            </a:solidFill>
          </p:spPr>
        </p:sp>
        <p:sp>
          <p:nvSpPr>
            <p:cNvPr name="TextBox 81" id="81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82" id="82"/>
          <p:cNvSpPr/>
          <p:nvPr/>
        </p:nvSpPr>
        <p:spPr>
          <a:xfrm flipH="false" flipV="false" rot="0">
            <a:off x="13227942" y="8860961"/>
            <a:ext cx="310667" cy="220856"/>
          </a:xfrm>
          <a:custGeom>
            <a:avLst/>
            <a:gdLst/>
            <a:ahLst/>
            <a:cxnLst/>
            <a:rect r="r" b="b" t="t" l="l"/>
            <a:pathLst>
              <a:path h="220856" w="310667">
                <a:moveTo>
                  <a:pt x="0" y="0"/>
                </a:moveTo>
                <a:lnTo>
                  <a:pt x="310667" y="0"/>
                </a:lnTo>
                <a:lnTo>
                  <a:pt x="310667" y="220855"/>
                </a:lnTo>
                <a:lnTo>
                  <a:pt x="0" y="220855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83" id="83"/>
          <p:cNvSpPr/>
          <p:nvPr/>
        </p:nvSpPr>
        <p:spPr>
          <a:xfrm flipH="false" flipV="false" rot="0">
            <a:off x="3831758" y="8827302"/>
            <a:ext cx="274550" cy="288173"/>
          </a:xfrm>
          <a:custGeom>
            <a:avLst/>
            <a:gdLst/>
            <a:ahLst/>
            <a:cxnLst/>
            <a:rect r="r" b="b" t="t" l="l"/>
            <a:pathLst>
              <a:path h="288173" w="274550">
                <a:moveTo>
                  <a:pt x="0" y="0"/>
                </a:moveTo>
                <a:lnTo>
                  <a:pt x="274550" y="0"/>
                </a:lnTo>
                <a:lnTo>
                  <a:pt x="274550" y="288173"/>
                </a:lnTo>
                <a:lnTo>
                  <a:pt x="0" y="288173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4" id="84"/>
          <p:cNvSpPr/>
          <p:nvPr/>
        </p:nvSpPr>
        <p:spPr>
          <a:xfrm flipH="false" flipV="false" rot="0">
            <a:off x="6094656" y="2828254"/>
            <a:ext cx="315636" cy="335135"/>
          </a:xfrm>
          <a:custGeom>
            <a:avLst/>
            <a:gdLst/>
            <a:ahLst/>
            <a:cxnLst/>
            <a:rect r="r" b="b" t="t" l="l"/>
            <a:pathLst>
              <a:path h="335135" w="315636">
                <a:moveTo>
                  <a:pt x="0" y="0"/>
                </a:moveTo>
                <a:lnTo>
                  <a:pt x="315635" y="0"/>
                </a:lnTo>
                <a:lnTo>
                  <a:pt x="315635" y="335135"/>
                </a:lnTo>
                <a:lnTo>
                  <a:pt x="0" y="335135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5" id="85"/>
          <p:cNvSpPr/>
          <p:nvPr/>
        </p:nvSpPr>
        <p:spPr>
          <a:xfrm flipH="false" flipV="false" rot="0">
            <a:off x="8519674" y="8814908"/>
            <a:ext cx="312960" cy="312960"/>
          </a:xfrm>
          <a:custGeom>
            <a:avLst/>
            <a:gdLst/>
            <a:ahLst/>
            <a:cxnLst/>
            <a:rect r="r" b="b" t="t" l="l"/>
            <a:pathLst>
              <a:path h="312960" w="312960">
                <a:moveTo>
                  <a:pt x="0" y="0"/>
                </a:moveTo>
                <a:lnTo>
                  <a:pt x="312960" y="0"/>
                </a:lnTo>
                <a:lnTo>
                  <a:pt x="312960" y="312961"/>
                </a:lnTo>
                <a:lnTo>
                  <a:pt x="0" y="312961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6" id="86"/>
          <p:cNvSpPr/>
          <p:nvPr/>
        </p:nvSpPr>
        <p:spPr>
          <a:xfrm flipH="false" flipV="false" rot="0">
            <a:off x="10836814" y="2828254"/>
            <a:ext cx="245562" cy="335135"/>
          </a:xfrm>
          <a:custGeom>
            <a:avLst/>
            <a:gdLst/>
            <a:ahLst/>
            <a:cxnLst/>
            <a:rect r="r" b="b" t="t" l="l"/>
            <a:pathLst>
              <a:path h="335135" w="245562">
                <a:moveTo>
                  <a:pt x="0" y="0"/>
                </a:moveTo>
                <a:lnTo>
                  <a:pt x="245562" y="0"/>
                </a:lnTo>
                <a:lnTo>
                  <a:pt x="245562" y="335135"/>
                </a:lnTo>
                <a:lnTo>
                  <a:pt x="0" y="335135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7" id="87"/>
          <p:cNvSpPr/>
          <p:nvPr/>
        </p:nvSpPr>
        <p:spPr>
          <a:xfrm flipH="false" flipV="false" rot="0">
            <a:off x="1410163" y="2839943"/>
            <a:ext cx="270378" cy="311756"/>
          </a:xfrm>
          <a:custGeom>
            <a:avLst/>
            <a:gdLst/>
            <a:ahLst/>
            <a:cxnLst/>
            <a:rect r="r" b="b" t="t" l="l"/>
            <a:pathLst>
              <a:path h="311756" w="270378">
                <a:moveTo>
                  <a:pt x="0" y="0"/>
                </a:moveTo>
                <a:lnTo>
                  <a:pt x="270378" y="0"/>
                </a:lnTo>
                <a:lnTo>
                  <a:pt x="270378" y="311757"/>
                </a:lnTo>
                <a:lnTo>
                  <a:pt x="0" y="311757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8" id="88"/>
          <p:cNvSpPr txBox="true"/>
          <p:nvPr/>
        </p:nvSpPr>
        <p:spPr>
          <a:xfrm rot="0">
            <a:off x="2133710" y="5815556"/>
            <a:ext cx="1222613" cy="2979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74"/>
              </a:lnSpc>
              <a:spcBef>
                <a:spcPct val="0"/>
              </a:spcBef>
            </a:pPr>
            <a:r>
              <a:rPr lang="en-US" b="true" sz="1767">
                <a:solidFill>
                  <a:srgbClr val="000000"/>
                </a:solidFill>
                <a:latin typeface="Gordita Bold"/>
                <a:ea typeface="Gordita Bold"/>
                <a:cs typeface="Gordita Bold"/>
                <a:sym typeface="Gordita Bold"/>
              </a:rPr>
              <a:t>STEP 1</a:t>
            </a:r>
          </a:p>
        </p:txBody>
      </p:sp>
      <p:sp>
        <p:nvSpPr>
          <p:cNvPr name="TextBox 89" id="89"/>
          <p:cNvSpPr txBox="true"/>
          <p:nvPr/>
        </p:nvSpPr>
        <p:spPr>
          <a:xfrm rot="0">
            <a:off x="4499813" y="5815556"/>
            <a:ext cx="1222613" cy="2979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74"/>
              </a:lnSpc>
              <a:spcBef>
                <a:spcPct val="0"/>
              </a:spcBef>
            </a:pPr>
            <a:r>
              <a:rPr lang="en-US" b="true" sz="1767">
                <a:solidFill>
                  <a:srgbClr val="000000"/>
                </a:solidFill>
                <a:latin typeface="Gordita Bold"/>
                <a:ea typeface="Gordita Bold"/>
                <a:cs typeface="Gordita Bold"/>
                <a:sym typeface="Gordita Bold"/>
              </a:rPr>
              <a:t>STEP 2</a:t>
            </a:r>
          </a:p>
        </p:txBody>
      </p:sp>
      <p:sp>
        <p:nvSpPr>
          <p:cNvPr name="TextBox 90" id="90"/>
          <p:cNvSpPr txBox="true"/>
          <p:nvPr/>
        </p:nvSpPr>
        <p:spPr>
          <a:xfrm rot="0">
            <a:off x="1854060" y="3564852"/>
            <a:ext cx="2856281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9"/>
              </a:lnSpc>
              <a:spcBef>
                <a:spcPct val="0"/>
              </a:spcBef>
            </a:pPr>
            <a:r>
              <a:rPr lang="en-US" b="true" sz="1799">
                <a:solidFill>
                  <a:srgbClr val="FFFFFF"/>
                </a:solidFill>
                <a:latin typeface="Gordita Bold"/>
                <a:ea typeface="Gordita Bold"/>
                <a:cs typeface="Gordita Bold"/>
                <a:sym typeface="Gordita Bold"/>
              </a:rPr>
              <a:t>DATA COLLECTING</a:t>
            </a:r>
          </a:p>
        </p:txBody>
      </p:sp>
      <p:sp>
        <p:nvSpPr>
          <p:cNvPr name="TextBox 91" id="91"/>
          <p:cNvSpPr txBox="true"/>
          <p:nvPr/>
        </p:nvSpPr>
        <p:spPr>
          <a:xfrm rot="0">
            <a:off x="1854060" y="3998689"/>
            <a:ext cx="1954991" cy="1092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FFFFFF"/>
                </a:solidFill>
                <a:latin typeface="Gordita"/>
                <a:ea typeface="Gordita"/>
                <a:cs typeface="Gordita"/>
                <a:sym typeface="Gordita"/>
              </a:rPr>
              <a:t>NTP</a:t>
            </a:r>
            <a:r>
              <a:rPr lang="en-US" sz="1599">
                <a:solidFill>
                  <a:srgbClr val="FFFFFF"/>
                </a:solidFill>
                <a:latin typeface="Gordita"/>
                <a:ea typeface="Gordita"/>
                <a:cs typeface="Gordita"/>
                <a:sym typeface="Gordita"/>
              </a:rPr>
              <a:t> Provinsi Jawa Tengah 2019–2026 dari BPS Prov. Jawa Tengah</a:t>
            </a:r>
          </a:p>
        </p:txBody>
      </p:sp>
      <p:sp>
        <p:nvSpPr>
          <p:cNvPr name="TextBox 92" id="92"/>
          <p:cNvSpPr txBox="true"/>
          <p:nvPr/>
        </p:nvSpPr>
        <p:spPr>
          <a:xfrm rot="0">
            <a:off x="6561181" y="3564852"/>
            <a:ext cx="3342356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9"/>
              </a:lnSpc>
              <a:spcBef>
                <a:spcPct val="0"/>
              </a:spcBef>
            </a:pPr>
            <a:r>
              <a:rPr lang="en-US" b="true" sz="1799">
                <a:solidFill>
                  <a:srgbClr val="FFFFFF"/>
                </a:solidFill>
                <a:latin typeface="Gordita Bold"/>
                <a:ea typeface="Gordita Bold"/>
                <a:cs typeface="Gordita Bold"/>
                <a:sym typeface="Gordita Bold"/>
              </a:rPr>
              <a:t>PEMODELAN TIME SERIES</a:t>
            </a:r>
          </a:p>
        </p:txBody>
      </p:sp>
      <p:sp>
        <p:nvSpPr>
          <p:cNvPr name="TextBox 93" id="93"/>
          <p:cNvSpPr txBox="true"/>
          <p:nvPr/>
        </p:nvSpPr>
        <p:spPr>
          <a:xfrm rot="0">
            <a:off x="6561181" y="3998689"/>
            <a:ext cx="1954991" cy="1092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FFFFFF"/>
                </a:solidFill>
                <a:latin typeface="Gordita"/>
                <a:ea typeface="Gordita"/>
                <a:cs typeface="Gordita"/>
                <a:sym typeface="Gordita"/>
              </a:rPr>
              <a:t>Perbandingan Mov</a:t>
            </a:r>
            <a:r>
              <a:rPr lang="en-US" sz="1599">
                <a:solidFill>
                  <a:srgbClr val="FFFFFF"/>
                </a:solidFill>
                <a:latin typeface="Gordita"/>
                <a:ea typeface="Gordita"/>
                <a:cs typeface="Gordita"/>
                <a:sym typeface="Gordita"/>
              </a:rPr>
              <a:t>ing Average, Holt-Winters, SARIMA</a:t>
            </a:r>
          </a:p>
        </p:txBody>
      </p:sp>
      <p:sp>
        <p:nvSpPr>
          <p:cNvPr name="TextBox 94" id="94"/>
          <p:cNvSpPr txBox="true"/>
          <p:nvPr/>
        </p:nvSpPr>
        <p:spPr>
          <a:xfrm rot="0">
            <a:off x="4277740" y="6916402"/>
            <a:ext cx="2287716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9"/>
              </a:lnSpc>
              <a:spcBef>
                <a:spcPct val="0"/>
              </a:spcBef>
            </a:pPr>
            <a:r>
              <a:rPr lang="en-US" b="true" sz="1799">
                <a:solidFill>
                  <a:srgbClr val="FFFFFF"/>
                </a:solidFill>
                <a:latin typeface="Gordita Bold"/>
                <a:ea typeface="Gordita Bold"/>
                <a:cs typeface="Gordita Bold"/>
                <a:sym typeface="Gordita Bold"/>
              </a:rPr>
              <a:t>EKSPLORASI DATA</a:t>
            </a:r>
          </a:p>
        </p:txBody>
      </p:sp>
      <p:sp>
        <p:nvSpPr>
          <p:cNvPr name="TextBox 95" id="95"/>
          <p:cNvSpPr txBox="true"/>
          <p:nvPr/>
        </p:nvSpPr>
        <p:spPr>
          <a:xfrm rot="0">
            <a:off x="4277740" y="7340714"/>
            <a:ext cx="3260936" cy="7002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2"/>
              </a:lnSpc>
              <a:spcBef>
                <a:spcPct val="0"/>
              </a:spcBef>
            </a:pPr>
            <a:r>
              <a:rPr lang="en-US" sz="2044">
                <a:solidFill>
                  <a:srgbClr val="FFFFFF"/>
                </a:solidFill>
                <a:latin typeface="Gordita"/>
                <a:ea typeface="Gordita"/>
                <a:cs typeface="Gordita"/>
                <a:sym typeface="Gordita"/>
              </a:rPr>
              <a:t>ide</a:t>
            </a:r>
            <a:r>
              <a:rPr lang="en-US" sz="2044">
                <a:solidFill>
                  <a:srgbClr val="FFFFFF"/>
                </a:solidFill>
                <a:latin typeface="Gordita"/>
                <a:ea typeface="Gordita"/>
                <a:cs typeface="Gordita"/>
                <a:sym typeface="Gordita"/>
              </a:rPr>
              <a:t>ntifikasi pola musiman/trend/residual</a:t>
            </a:r>
          </a:p>
        </p:txBody>
      </p:sp>
      <p:sp>
        <p:nvSpPr>
          <p:cNvPr name="TextBox 96" id="96"/>
          <p:cNvSpPr txBox="true"/>
          <p:nvPr/>
        </p:nvSpPr>
        <p:spPr>
          <a:xfrm rot="0">
            <a:off x="8984862" y="6916402"/>
            <a:ext cx="2403775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9"/>
              </a:lnSpc>
              <a:spcBef>
                <a:spcPct val="0"/>
              </a:spcBef>
            </a:pPr>
            <a:r>
              <a:rPr lang="en-US" b="true" sz="1799">
                <a:solidFill>
                  <a:srgbClr val="FFFFFF"/>
                </a:solidFill>
                <a:latin typeface="Gordita Bold"/>
                <a:ea typeface="Gordita Bold"/>
                <a:cs typeface="Gordita Bold"/>
                <a:sym typeface="Gordita Bold"/>
              </a:rPr>
              <a:t>EVALUASI MODEL</a:t>
            </a:r>
          </a:p>
        </p:txBody>
      </p:sp>
      <p:sp>
        <p:nvSpPr>
          <p:cNvPr name="TextBox 97" id="97"/>
          <p:cNvSpPr txBox="true"/>
          <p:nvPr/>
        </p:nvSpPr>
        <p:spPr>
          <a:xfrm rot="0">
            <a:off x="8984862" y="7350239"/>
            <a:ext cx="1814751" cy="540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FFFFFF"/>
                </a:solidFill>
                <a:latin typeface="Gordita"/>
                <a:ea typeface="Gordita"/>
                <a:cs typeface="Gordita"/>
                <a:sym typeface="Gordita"/>
              </a:rPr>
              <a:t>MAE,</a:t>
            </a:r>
            <a:r>
              <a:rPr lang="en-US" sz="1599">
                <a:solidFill>
                  <a:srgbClr val="FFFFFF"/>
                </a:solidFill>
                <a:latin typeface="Gordita"/>
                <a:ea typeface="Gordita"/>
                <a:cs typeface="Gordita"/>
                <a:sym typeface="Gordita"/>
              </a:rPr>
              <a:t> RMSE, MAPE</a:t>
            </a:r>
          </a:p>
        </p:txBody>
      </p:sp>
      <p:sp>
        <p:nvSpPr>
          <p:cNvPr name="TextBox 98" id="98"/>
          <p:cNvSpPr txBox="true"/>
          <p:nvPr/>
        </p:nvSpPr>
        <p:spPr>
          <a:xfrm rot="0">
            <a:off x="11268303" y="3564852"/>
            <a:ext cx="1954991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9"/>
              </a:lnSpc>
              <a:spcBef>
                <a:spcPct val="0"/>
              </a:spcBef>
            </a:pPr>
            <a:r>
              <a:rPr lang="en-US" b="true" sz="1799">
                <a:solidFill>
                  <a:srgbClr val="FFFFFF"/>
                </a:solidFill>
                <a:latin typeface="Gordita Bold"/>
                <a:ea typeface="Gordita Bold"/>
                <a:cs typeface="Gordita Bold"/>
                <a:sym typeface="Gordita Bold"/>
              </a:rPr>
              <a:t>PREDIKSI NTP</a:t>
            </a:r>
          </a:p>
        </p:txBody>
      </p:sp>
      <p:sp>
        <p:nvSpPr>
          <p:cNvPr name="TextBox 99" id="99"/>
          <p:cNvSpPr txBox="true"/>
          <p:nvPr/>
        </p:nvSpPr>
        <p:spPr>
          <a:xfrm rot="0">
            <a:off x="11268303" y="3998689"/>
            <a:ext cx="1954991" cy="816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FFFFFF"/>
                </a:solidFill>
                <a:latin typeface="Gordita"/>
                <a:ea typeface="Gordita"/>
                <a:cs typeface="Gordita"/>
                <a:sym typeface="Gordita"/>
              </a:rPr>
              <a:t>Prediksi NTP dari Mei 2026-Desember 2027</a:t>
            </a:r>
          </a:p>
        </p:txBody>
      </p:sp>
      <p:sp>
        <p:nvSpPr>
          <p:cNvPr name="TextBox 100" id="100"/>
          <p:cNvSpPr txBox="true"/>
          <p:nvPr/>
        </p:nvSpPr>
        <p:spPr>
          <a:xfrm rot="0">
            <a:off x="13691983" y="6916402"/>
            <a:ext cx="1945357" cy="621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9"/>
              </a:lnSpc>
              <a:spcBef>
                <a:spcPct val="0"/>
              </a:spcBef>
            </a:pPr>
            <a:r>
              <a:rPr lang="en-US" b="true" sz="1799">
                <a:solidFill>
                  <a:srgbClr val="FFFFFF"/>
                </a:solidFill>
                <a:latin typeface="Gordita Bold"/>
                <a:ea typeface="Gordita Bold"/>
                <a:cs typeface="Gordita Bold"/>
                <a:sym typeface="Gordita Bold"/>
              </a:rPr>
              <a:t>INSIGHT &amp; KESIMPULAN</a:t>
            </a:r>
          </a:p>
        </p:txBody>
      </p:sp>
      <p:sp>
        <p:nvSpPr>
          <p:cNvPr name="TextBox 101" id="101"/>
          <p:cNvSpPr txBox="true"/>
          <p:nvPr/>
        </p:nvSpPr>
        <p:spPr>
          <a:xfrm rot="0">
            <a:off x="13691983" y="7684146"/>
            <a:ext cx="1945357" cy="540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FFFFFF"/>
                </a:solidFill>
                <a:latin typeface="Gordita"/>
                <a:ea typeface="Gordita"/>
                <a:cs typeface="Gordita"/>
                <a:sym typeface="Gordita"/>
              </a:rPr>
              <a:t>hasil akhir yang didapat</a:t>
            </a:r>
          </a:p>
        </p:txBody>
      </p:sp>
      <p:sp>
        <p:nvSpPr>
          <p:cNvPr name="TextBox 102" id="102"/>
          <p:cNvSpPr txBox="true"/>
          <p:nvPr/>
        </p:nvSpPr>
        <p:spPr>
          <a:xfrm rot="0">
            <a:off x="6865916" y="5815556"/>
            <a:ext cx="1222613" cy="2979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74"/>
              </a:lnSpc>
              <a:spcBef>
                <a:spcPct val="0"/>
              </a:spcBef>
            </a:pPr>
            <a:r>
              <a:rPr lang="en-US" b="true" sz="1767">
                <a:solidFill>
                  <a:srgbClr val="000000"/>
                </a:solidFill>
                <a:latin typeface="Gordita Bold"/>
                <a:ea typeface="Gordita Bold"/>
                <a:cs typeface="Gordita Bold"/>
                <a:sym typeface="Gordita Bold"/>
              </a:rPr>
              <a:t>STEP 3</a:t>
            </a:r>
          </a:p>
        </p:txBody>
      </p:sp>
      <p:sp>
        <p:nvSpPr>
          <p:cNvPr name="TextBox 103" id="103"/>
          <p:cNvSpPr txBox="true"/>
          <p:nvPr/>
        </p:nvSpPr>
        <p:spPr>
          <a:xfrm rot="0">
            <a:off x="9232019" y="5815556"/>
            <a:ext cx="1222613" cy="2979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74"/>
              </a:lnSpc>
              <a:spcBef>
                <a:spcPct val="0"/>
              </a:spcBef>
            </a:pPr>
            <a:r>
              <a:rPr lang="en-US" b="true" sz="1767">
                <a:solidFill>
                  <a:srgbClr val="000000"/>
                </a:solidFill>
                <a:latin typeface="Gordita Bold"/>
                <a:ea typeface="Gordita Bold"/>
                <a:cs typeface="Gordita Bold"/>
                <a:sym typeface="Gordita Bold"/>
              </a:rPr>
              <a:t>STEP 4</a:t>
            </a:r>
          </a:p>
        </p:txBody>
      </p:sp>
      <p:sp>
        <p:nvSpPr>
          <p:cNvPr name="TextBox 104" id="104"/>
          <p:cNvSpPr txBox="true"/>
          <p:nvPr/>
        </p:nvSpPr>
        <p:spPr>
          <a:xfrm rot="0">
            <a:off x="11598122" y="5815556"/>
            <a:ext cx="1222613" cy="2979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74"/>
              </a:lnSpc>
              <a:spcBef>
                <a:spcPct val="0"/>
              </a:spcBef>
            </a:pPr>
            <a:r>
              <a:rPr lang="en-US" b="true" sz="1767">
                <a:solidFill>
                  <a:srgbClr val="000000"/>
                </a:solidFill>
                <a:latin typeface="Gordita Bold"/>
                <a:ea typeface="Gordita Bold"/>
                <a:cs typeface="Gordita Bold"/>
                <a:sym typeface="Gordita Bold"/>
              </a:rPr>
              <a:t>STEP 5</a:t>
            </a:r>
          </a:p>
        </p:txBody>
      </p:sp>
      <p:sp>
        <p:nvSpPr>
          <p:cNvPr name="TextBox 105" id="105"/>
          <p:cNvSpPr txBox="true"/>
          <p:nvPr/>
        </p:nvSpPr>
        <p:spPr>
          <a:xfrm rot="0">
            <a:off x="14117118" y="5815556"/>
            <a:ext cx="1222613" cy="2979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74"/>
              </a:lnSpc>
              <a:spcBef>
                <a:spcPct val="0"/>
              </a:spcBef>
            </a:pPr>
            <a:r>
              <a:rPr lang="en-US" b="true" sz="1767">
                <a:solidFill>
                  <a:srgbClr val="000000"/>
                </a:solidFill>
                <a:latin typeface="Gordita Bold"/>
                <a:ea typeface="Gordita Bold"/>
                <a:cs typeface="Gordita Bold"/>
                <a:sym typeface="Gordita Bold"/>
              </a:rPr>
              <a:t>STEP 6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1592477" y="-888552"/>
            <a:ext cx="8488516" cy="5549367"/>
          </a:xfrm>
          <a:custGeom>
            <a:avLst/>
            <a:gdLst/>
            <a:ahLst/>
            <a:cxnLst/>
            <a:rect r="r" b="b" t="t" l="l"/>
            <a:pathLst>
              <a:path h="5549367" w="8488516">
                <a:moveTo>
                  <a:pt x="8488516" y="5549367"/>
                </a:moveTo>
                <a:lnTo>
                  <a:pt x="0" y="5549367"/>
                </a:lnTo>
                <a:lnTo>
                  <a:pt x="0" y="0"/>
                </a:lnTo>
                <a:lnTo>
                  <a:pt x="8488516" y="0"/>
                </a:lnTo>
                <a:lnTo>
                  <a:pt x="8488516" y="5549367"/>
                </a:lnTo>
                <a:close/>
              </a:path>
            </a:pathLst>
          </a:custGeom>
          <a:blipFill>
            <a:blip r:embed="rId3">
              <a:alphaModFix amt="86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704811" y="2261846"/>
            <a:ext cx="16878379" cy="5623857"/>
            <a:chOff x="0" y="0"/>
            <a:chExt cx="2396045" cy="7983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396045" cy="798360"/>
            </a:xfrm>
            <a:custGeom>
              <a:avLst/>
              <a:gdLst/>
              <a:ahLst/>
              <a:cxnLst/>
              <a:rect r="r" b="b" t="t" l="l"/>
              <a:pathLst>
                <a:path h="798360" w="2396045">
                  <a:moveTo>
                    <a:pt x="20182" y="0"/>
                  </a:moveTo>
                  <a:lnTo>
                    <a:pt x="2375863" y="0"/>
                  </a:lnTo>
                  <a:cubicBezTo>
                    <a:pt x="2381216" y="0"/>
                    <a:pt x="2386349" y="2126"/>
                    <a:pt x="2390134" y="5911"/>
                  </a:cubicBezTo>
                  <a:cubicBezTo>
                    <a:pt x="2393919" y="9696"/>
                    <a:pt x="2396045" y="14830"/>
                    <a:pt x="2396045" y="20182"/>
                  </a:cubicBezTo>
                  <a:lnTo>
                    <a:pt x="2396045" y="778177"/>
                  </a:lnTo>
                  <a:cubicBezTo>
                    <a:pt x="2396045" y="789324"/>
                    <a:pt x="2387009" y="798360"/>
                    <a:pt x="2375863" y="798360"/>
                  </a:cubicBezTo>
                  <a:lnTo>
                    <a:pt x="20182" y="798360"/>
                  </a:lnTo>
                  <a:cubicBezTo>
                    <a:pt x="9036" y="798360"/>
                    <a:pt x="0" y="789324"/>
                    <a:pt x="0" y="778177"/>
                  </a:cubicBezTo>
                  <a:lnTo>
                    <a:pt x="0" y="20182"/>
                  </a:lnTo>
                  <a:cubicBezTo>
                    <a:pt x="0" y="9036"/>
                    <a:pt x="9036" y="0"/>
                    <a:pt x="20182" y="0"/>
                  </a:cubicBezTo>
                  <a:close/>
                </a:path>
              </a:pathLst>
            </a:custGeom>
            <a:blipFill>
              <a:blip r:embed="rId5"/>
              <a:stretch>
                <a:fillRect l="0" t="-5042" r="0" b="0"/>
              </a:stretch>
            </a:blipFill>
            <a:ln w="104775" cap="rnd">
              <a:solidFill>
                <a:srgbClr val="FFFFFF"/>
              </a:solidFill>
              <a:prstDash val="solid"/>
              <a:round/>
            </a:ln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1459861" y="949347"/>
            <a:ext cx="392287" cy="573729"/>
          </a:xfrm>
          <a:custGeom>
            <a:avLst/>
            <a:gdLst/>
            <a:ahLst/>
            <a:cxnLst/>
            <a:rect r="r" b="b" t="t" l="l"/>
            <a:pathLst>
              <a:path h="573729" w="392287">
                <a:moveTo>
                  <a:pt x="0" y="0"/>
                </a:moveTo>
                <a:lnTo>
                  <a:pt x="392287" y="0"/>
                </a:lnTo>
                <a:lnTo>
                  <a:pt x="392287" y="573729"/>
                </a:lnTo>
                <a:lnTo>
                  <a:pt x="0" y="57372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738035" y="502314"/>
            <a:ext cx="8677325" cy="1160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846"/>
              </a:lnSpc>
            </a:pPr>
            <a:r>
              <a:rPr lang="en-US" sz="8673" b="true">
                <a:solidFill>
                  <a:srgbClr val="FFFFFF"/>
                </a:solidFill>
                <a:latin typeface="Gordita Bold"/>
                <a:ea typeface="Gordita Bold"/>
                <a:cs typeface="Gordita Bold"/>
                <a:sym typeface="Gordita Bold"/>
              </a:rPr>
              <a:t>Hasil Analisis </a:t>
            </a:r>
            <a:r>
              <a:rPr lang="en-US" sz="8673">
                <a:solidFill>
                  <a:srgbClr val="FFFFFF"/>
                </a:solidFill>
                <a:latin typeface="Gordita"/>
                <a:ea typeface="Gordita"/>
                <a:cs typeface="Gordita"/>
                <a:sym typeface="Gordita"/>
              </a:rPr>
              <a:t>-</a:t>
            </a:r>
            <a:r>
              <a:rPr lang="en-US" sz="8673" b="true">
                <a:solidFill>
                  <a:srgbClr val="FFFFFF"/>
                </a:solidFill>
                <a:latin typeface="Gordita Bold"/>
                <a:ea typeface="Gordita Bold"/>
                <a:cs typeface="Gordita Bold"/>
                <a:sym typeface="Gordita Bold"/>
              </a:rPr>
              <a:t>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38035" y="1665923"/>
            <a:ext cx="8405965" cy="4270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64"/>
              </a:lnSpc>
            </a:pPr>
            <a:r>
              <a:rPr lang="en-US" sz="3330" i="true">
                <a:solidFill>
                  <a:srgbClr val="F7C03F"/>
                </a:solidFill>
                <a:latin typeface="Gordita Italics"/>
                <a:ea typeface="Gordita Italics"/>
                <a:cs typeface="Gordita Italics"/>
                <a:sym typeface="Gordita Italics"/>
              </a:rPr>
              <a:t>NTP Jawa Tengah Periode 2019-2026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0696059" y="4573288"/>
            <a:ext cx="324010" cy="324010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7C03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114300"/>
              <a:ext cx="660400" cy="622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59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true" flipV="false" rot="0">
            <a:off x="16043885" y="2060546"/>
            <a:ext cx="1029170" cy="1349732"/>
          </a:xfrm>
          <a:custGeom>
            <a:avLst/>
            <a:gdLst/>
            <a:ahLst/>
            <a:cxnLst/>
            <a:rect r="r" b="b" t="t" l="l"/>
            <a:pathLst>
              <a:path h="1349732" w="1029170">
                <a:moveTo>
                  <a:pt x="1029170" y="0"/>
                </a:moveTo>
                <a:lnTo>
                  <a:pt x="0" y="0"/>
                </a:lnTo>
                <a:lnTo>
                  <a:pt x="0" y="1349732"/>
                </a:lnTo>
                <a:lnTo>
                  <a:pt x="1029170" y="1349732"/>
                </a:lnTo>
                <a:lnTo>
                  <a:pt x="102917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-1224436" y="5489961"/>
            <a:ext cx="8488516" cy="5549367"/>
          </a:xfrm>
          <a:custGeom>
            <a:avLst/>
            <a:gdLst/>
            <a:ahLst/>
            <a:cxnLst/>
            <a:rect r="r" b="b" t="t" l="l"/>
            <a:pathLst>
              <a:path h="5549367" w="8488516">
                <a:moveTo>
                  <a:pt x="0" y="0"/>
                </a:moveTo>
                <a:lnTo>
                  <a:pt x="8488516" y="0"/>
                </a:lnTo>
                <a:lnTo>
                  <a:pt x="8488516" y="5549368"/>
                </a:lnTo>
                <a:lnTo>
                  <a:pt x="0" y="554936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704811" y="8057153"/>
            <a:ext cx="7900445" cy="1995462"/>
            <a:chOff x="0" y="0"/>
            <a:chExt cx="2633303" cy="66510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633303" cy="665109"/>
            </a:xfrm>
            <a:custGeom>
              <a:avLst/>
              <a:gdLst/>
              <a:ahLst/>
              <a:cxnLst/>
              <a:rect r="r" b="b" t="t" l="l"/>
              <a:pathLst>
                <a:path h="665109" w="2633303">
                  <a:moveTo>
                    <a:pt x="49977" y="0"/>
                  </a:moveTo>
                  <a:lnTo>
                    <a:pt x="2583326" y="0"/>
                  </a:lnTo>
                  <a:cubicBezTo>
                    <a:pt x="2596581" y="0"/>
                    <a:pt x="2609292" y="5265"/>
                    <a:pt x="2618665" y="14638"/>
                  </a:cubicBezTo>
                  <a:cubicBezTo>
                    <a:pt x="2628037" y="24010"/>
                    <a:pt x="2633303" y="36722"/>
                    <a:pt x="2633303" y="49977"/>
                  </a:cubicBezTo>
                  <a:lnTo>
                    <a:pt x="2633303" y="615132"/>
                  </a:lnTo>
                  <a:cubicBezTo>
                    <a:pt x="2633303" y="628387"/>
                    <a:pt x="2628037" y="641099"/>
                    <a:pt x="2618665" y="650471"/>
                  </a:cubicBezTo>
                  <a:cubicBezTo>
                    <a:pt x="2609292" y="659843"/>
                    <a:pt x="2596581" y="665109"/>
                    <a:pt x="2583326" y="665109"/>
                  </a:cubicBezTo>
                  <a:lnTo>
                    <a:pt x="49977" y="665109"/>
                  </a:lnTo>
                  <a:cubicBezTo>
                    <a:pt x="36722" y="665109"/>
                    <a:pt x="24010" y="659843"/>
                    <a:pt x="14638" y="650471"/>
                  </a:cubicBezTo>
                  <a:cubicBezTo>
                    <a:pt x="5265" y="641099"/>
                    <a:pt x="0" y="628387"/>
                    <a:pt x="0" y="615132"/>
                  </a:cubicBezTo>
                  <a:lnTo>
                    <a:pt x="0" y="49977"/>
                  </a:lnTo>
                  <a:cubicBezTo>
                    <a:pt x="0" y="36722"/>
                    <a:pt x="5265" y="24010"/>
                    <a:pt x="14638" y="14638"/>
                  </a:cubicBezTo>
                  <a:cubicBezTo>
                    <a:pt x="24010" y="5265"/>
                    <a:pt x="36722" y="0"/>
                    <a:pt x="4997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38100"/>
              <a:ext cx="2633303" cy="6270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40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8261568" y="9534371"/>
            <a:ext cx="687375" cy="687375"/>
            <a:chOff x="0" y="0"/>
            <a:chExt cx="916501" cy="916501"/>
          </a:xfrm>
        </p:grpSpPr>
        <p:grpSp>
          <p:nvGrpSpPr>
            <p:cNvPr name="Group 18" id="18"/>
            <p:cNvGrpSpPr/>
            <p:nvPr/>
          </p:nvGrpSpPr>
          <p:grpSpPr>
            <a:xfrm rot="0">
              <a:off x="0" y="0"/>
              <a:ext cx="916501" cy="916501"/>
              <a:chOff x="0" y="0"/>
              <a:chExt cx="812800" cy="812800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7C03F"/>
              </a:soli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76200" y="114300"/>
                <a:ext cx="660400" cy="6223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040"/>
                  </a:lnSpc>
                </a:pPr>
              </a:p>
            </p:txBody>
          </p:sp>
        </p:grpSp>
        <p:sp>
          <p:nvSpPr>
            <p:cNvPr name="Freeform 21" id="21"/>
            <p:cNvSpPr/>
            <p:nvPr/>
          </p:nvSpPr>
          <p:spPr>
            <a:xfrm flipH="false" flipV="false" rot="0">
              <a:off x="165344" y="167907"/>
              <a:ext cx="585812" cy="580686"/>
            </a:xfrm>
            <a:custGeom>
              <a:avLst/>
              <a:gdLst/>
              <a:ahLst/>
              <a:cxnLst/>
              <a:rect r="r" b="b" t="t" l="l"/>
              <a:pathLst>
                <a:path h="580686" w="585812">
                  <a:moveTo>
                    <a:pt x="0" y="0"/>
                  </a:moveTo>
                  <a:lnTo>
                    <a:pt x="585812" y="0"/>
                  </a:lnTo>
                  <a:lnTo>
                    <a:pt x="585812" y="580686"/>
                  </a:lnTo>
                  <a:lnTo>
                    <a:pt x="0" y="5806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9144000" y="8057153"/>
            <a:ext cx="8439189" cy="1995462"/>
            <a:chOff x="0" y="0"/>
            <a:chExt cx="2812872" cy="665109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812872" cy="665109"/>
            </a:xfrm>
            <a:custGeom>
              <a:avLst/>
              <a:gdLst/>
              <a:ahLst/>
              <a:cxnLst/>
              <a:rect r="r" b="b" t="t" l="l"/>
              <a:pathLst>
                <a:path h="665109" w="2812872">
                  <a:moveTo>
                    <a:pt x="46786" y="0"/>
                  </a:moveTo>
                  <a:lnTo>
                    <a:pt x="2766086" y="0"/>
                  </a:lnTo>
                  <a:cubicBezTo>
                    <a:pt x="2791925" y="0"/>
                    <a:pt x="2812872" y="20947"/>
                    <a:pt x="2812872" y="46786"/>
                  </a:cubicBezTo>
                  <a:lnTo>
                    <a:pt x="2812872" y="618323"/>
                  </a:lnTo>
                  <a:cubicBezTo>
                    <a:pt x="2812872" y="630731"/>
                    <a:pt x="2807943" y="642631"/>
                    <a:pt x="2799169" y="651405"/>
                  </a:cubicBezTo>
                  <a:cubicBezTo>
                    <a:pt x="2790395" y="660180"/>
                    <a:pt x="2778495" y="665109"/>
                    <a:pt x="2766086" y="665109"/>
                  </a:cubicBezTo>
                  <a:lnTo>
                    <a:pt x="46786" y="665109"/>
                  </a:lnTo>
                  <a:cubicBezTo>
                    <a:pt x="20947" y="665109"/>
                    <a:pt x="0" y="644162"/>
                    <a:pt x="0" y="618323"/>
                  </a:cubicBezTo>
                  <a:lnTo>
                    <a:pt x="0" y="46786"/>
                  </a:lnTo>
                  <a:cubicBezTo>
                    <a:pt x="0" y="20947"/>
                    <a:pt x="20947" y="0"/>
                    <a:pt x="4678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38100"/>
              <a:ext cx="2812872" cy="6270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40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855817" y="8183573"/>
            <a:ext cx="3697649" cy="446836"/>
            <a:chOff x="0" y="0"/>
            <a:chExt cx="973866" cy="117685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973866" cy="117685"/>
            </a:xfrm>
            <a:custGeom>
              <a:avLst/>
              <a:gdLst/>
              <a:ahLst/>
              <a:cxnLst/>
              <a:rect r="r" b="b" t="t" l="l"/>
              <a:pathLst>
                <a:path h="117685" w="973866">
                  <a:moveTo>
                    <a:pt x="58843" y="0"/>
                  </a:moveTo>
                  <a:lnTo>
                    <a:pt x="915024" y="0"/>
                  </a:lnTo>
                  <a:cubicBezTo>
                    <a:pt x="930630" y="0"/>
                    <a:pt x="945597" y="6199"/>
                    <a:pt x="956632" y="17235"/>
                  </a:cubicBezTo>
                  <a:cubicBezTo>
                    <a:pt x="967667" y="28270"/>
                    <a:pt x="973866" y="43237"/>
                    <a:pt x="973866" y="58843"/>
                  </a:cubicBezTo>
                  <a:lnTo>
                    <a:pt x="973866" y="58843"/>
                  </a:lnTo>
                  <a:cubicBezTo>
                    <a:pt x="973866" y="74449"/>
                    <a:pt x="967667" y="89415"/>
                    <a:pt x="956632" y="100451"/>
                  </a:cubicBezTo>
                  <a:cubicBezTo>
                    <a:pt x="945597" y="111486"/>
                    <a:pt x="930630" y="117685"/>
                    <a:pt x="915024" y="117685"/>
                  </a:cubicBezTo>
                  <a:lnTo>
                    <a:pt x="58843" y="117685"/>
                  </a:lnTo>
                  <a:cubicBezTo>
                    <a:pt x="43237" y="117685"/>
                    <a:pt x="28270" y="111486"/>
                    <a:pt x="17235" y="100451"/>
                  </a:cubicBezTo>
                  <a:cubicBezTo>
                    <a:pt x="6199" y="89415"/>
                    <a:pt x="0" y="74449"/>
                    <a:pt x="0" y="58843"/>
                  </a:cubicBezTo>
                  <a:lnTo>
                    <a:pt x="0" y="58843"/>
                  </a:lnTo>
                  <a:cubicBezTo>
                    <a:pt x="0" y="43237"/>
                    <a:pt x="6199" y="28270"/>
                    <a:pt x="17235" y="17235"/>
                  </a:cubicBezTo>
                  <a:cubicBezTo>
                    <a:pt x="28270" y="6199"/>
                    <a:pt x="43237" y="0"/>
                    <a:pt x="58843" y="0"/>
                  </a:cubicBezTo>
                  <a:close/>
                </a:path>
              </a:pathLst>
            </a:custGeom>
            <a:solidFill>
              <a:srgbClr val="F7C03F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973866" cy="1557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28" id="28"/>
          <p:cNvSpPr/>
          <p:nvPr/>
        </p:nvSpPr>
        <p:spPr>
          <a:xfrm flipH="false" flipV="false" rot="0">
            <a:off x="991391" y="8172772"/>
            <a:ext cx="375728" cy="549511"/>
          </a:xfrm>
          <a:custGeom>
            <a:avLst/>
            <a:gdLst/>
            <a:ahLst/>
            <a:cxnLst/>
            <a:rect r="r" b="b" t="t" l="l"/>
            <a:pathLst>
              <a:path h="549511" w="375728">
                <a:moveTo>
                  <a:pt x="0" y="0"/>
                </a:moveTo>
                <a:lnTo>
                  <a:pt x="375729" y="0"/>
                </a:lnTo>
                <a:lnTo>
                  <a:pt x="375729" y="549511"/>
                </a:lnTo>
                <a:lnTo>
                  <a:pt x="0" y="54951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9" id="29"/>
          <p:cNvGrpSpPr/>
          <p:nvPr/>
        </p:nvGrpSpPr>
        <p:grpSpPr>
          <a:xfrm rot="0">
            <a:off x="9415359" y="8183573"/>
            <a:ext cx="3427587" cy="446836"/>
            <a:chOff x="0" y="0"/>
            <a:chExt cx="902739" cy="117685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902739" cy="117685"/>
            </a:xfrm>
            <a:custGeom>
              <a:avLst/>
              <a:gdLst/>
              <a:ahLst/>
              <a:cxnLst/>
              <a:rect r="r" b="b" t="t" l="l"/>
              <a:pathLst>
                <a:path h="117685" w="902739">
                  <a:moveTo>
                    <a:pt x="58843" y="0"/>
                  </a:moveTo>
                  <a:lnTo>
                    <a:pt x="843896" y="0"/>
                  </a:lnTo>
                  <a:cubicBezTo>
                    <a:pt x="859502" y="0"/>
                    <a:pt x="874469" y="6199"/>
                    <a:pt x="885504" y="17235"/>
                  </a:cubicBezTo>
                  <a:cubicBezTo>
                    <a:pt x="896539" y="28270"/>
                    <a:pt x="902739" y="43237"/>
                    <a:pt x="902739" y="58843"/>
                  </a:cubicBezTo>
                  <a:lnTo>
                    <a:pt x="902739" y="58843"/>
                  </a:lnTo>
                  <a:cubicBezTo>
                    <a:pt x="902739" y="91340"/>
                    <a:pt x="876394" y="117685"/>
                    <a:pt x="843896" y="117685"/>
                  </a:cubicBezTo>
                  <a:lnTo>
                    <a:pt x="58843" y="117685"/>
                  </a:lnTo>
                  <a:cubicBezTo>
                    <a:pt x="43237" y="117685"/>
                    <a:pt x="28270" y="111486"/>
                    <a:pt x="17235" y="100451"/>
                  </a:cubicBezTo>
                  <a:cubicBezTo>
                    <a:pt x="6199" y="89415"/>
                    <a:pt x="0" y="74449"/>
                    <a:pt x="0" y="58843"/>
                  </a:cubicBezTo>
                  <a:lnTo>
                    <a:pt x="0" y="58843"/>
                  </a:lnTo>
                  <a:cubicBezTo>
                    <a:pt x="0" y="43237"/>
                    <a:pt x="6199" y="28270"/>
                    <a:pt x="17235" y="17235"/>
                  </a:cubicBezTo>
                  <a:cubicBezTo>
                    <a:pt x="28270" y="6199"/>
                    <a:pt x="43237" y="0"/>
                    <a:pt x="58843" y="0"/>
                  </a:cubicBezTo>
                  <a:close/>
                </a:path>
              </a:pathLst>
            </a:custGeom>
            <a:solidFill>
              <a:srgbClr val="F7C03F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902739" cy="1557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32" id="32"/>
          <p:cNvSpPr/>
          <p:nvPr/>
        </p:nvSpPr>
        <p:spPr>
          <a:xfrm flipH="false" flipV="false" rot="0">
            <a:off x="9495501" y="8183573"/>
            <a:ext cx="339829" cy="497008"/>
          </a:xfrm>
          <a:custGeom>
            <a:avLst/>
            <a:gdLst/>
            <a:ahLst/>
            <a:cxnLst/>
            <a:rect r="r" b="b" t="t" l="l"/>
            <a:pathLst>
              <a:path h="497008" w="339829">
                <a:moveTo>
                  <a:pt x="0" y="0"/>
                </a:moveTo>
                <a:lnTo>
                  <a:pt x="339830" y="0"/>
                </a:lnTo>
                <a:lnTo>
                  <a:pt x="339830" y="497009"/>
                </a:lnTo>
                <a:lnTo>
                  <a:pt x="0" y="49700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3" id="33"/>
          <p:cNvSpPr txBox="true"/>
          <p:nvPr/>
        </p:nvSpPr>
        <p:spPr>
          <a:xfrm rot="0">
            <a:off x="1367120" y="8262209"/>
            <a:ext cx="2489721" cy="3276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89"/>
              </a:lnSpc>
              <a:spcBef>
                <a:spcPct val="0"/>
              </a:spcBef>
            </a:pPr>
            <a:r>
              <a:rPr lang="en-US" b="true" sz="2440">
                <a:solidFill>
                  <a:srgbClr val="025A2C"/>
                </a:solidFill>
                <a:latin typeface="Gordita Bold"/>
                <a:ea typeface="Gordita Bold"/>
                <a:cs typeface="Gordita Bold"/>
                <a:sym typeface="Gordita Bold"/>
              </a:rPr>
              <a:t>Tertinggi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9974134" y="8262209"/>
            <a:ext cx="1776973" cy="3276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89"/>
              </a:lnSpc>
              <a:spcBef>
                <a:spcPct val="0"/>
              </a:spcBef>
            </a:pPr>
            <a:r>
              <a:rPr lang="en-US" b="true" sz="2440">
                <a:solidFill>
                  <a:srgbClr val="025A2C"/>
                </a:solidFill>
                <a:latin typeface="Gordita Bold"/>
                <a:ea typeface="Gordita Bold"/>
                <a:cs typeface="Gordita Bold"/>
                <a:sym typeface="Gordita Bold"/>
              </a:rPr>
              <a:t>Terendah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128437" y="8733085"/>
            <a:ext cx="6821516" cy="9909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65"/>
              </a:lnSpc>
            </a:pPr>
            <a:r>
              <a:rPr lang="en-US" sz="2239">
                <a:solidFill>
                  <a:srgbClr val="025A2C"/>
                </a:solidFill>
                <a:latin typeface="Gordita"/>
                <a:ea typeface="Gordita"/>
                <a:cs typeface="Gordita"/>
                <a:sym typeface="Gordita"/>
              </a:rPr>
              <a:t>Kenaikan</a:t>
            </a:r>
            <a:r>
              <a:rPr lang="en-US" b="true" sz="2239">
                <a:solidFill>
                  <a:srgbClr val="025A2C"/>
                </a:solidFill>
                <a:latin typeface="Gordita Bold"/>
                <a:ea typeface="Gordita Bold"/>
                <a:cs typeface="Gordita Bold"/>
                <a:sym typeface="Gordita Bold"/>
              </a:rPr>
              <a:t> NTP tertinggi </a:t>
            </a:r>
            <a:r>
              <a:rPr lang="en-US" sz="2239">
                <a:solidFill>
                  <a:srgbClr val="025A2C"/>
                </a:solidFill>
                <a:latin typeface="Gordita"/>
                <a:ea typeface="Gordita"/>
                <a:cs typeface="Gordita"/>
                <a:sym typeface="Gordita"/>
              </a:rPr>
              <a:t>terjadi pada bulan </a:t>
            </a:r>
            <a:r>
              <a:rPr lang="en-US" b="true" sz="2239">
                <a:solidFill>
                  <a:srgbClr val="025A2C"/>
                </a:solidFill>
                <a:latin typeface="Gordita Bold"/>
                <a:ea typeface="Gordita Bold"/>
                <a:cs typeface="Gordita Bold"/>
                <a:sym typeface="Gordita Bold"/>
              </a:rPr>
              <a:t>Februari 2024.</a:t>
            </a:r>
            <a:r>
              <a:rPr lang="en-US" sz="2239">
                <a:solidFill>
                  <a:srgbClr val="025A2C"/>
                </a:solidFill>
                <a:latin typeface="Gordita"/>
                <a:ea typeface="Gordita"/>
                <a:cs typeface="Gordita"/>
                <a:sym typeface="Gordita"/>
              </a:rPr>
              <a:t> Dengan kemungkinan faktor yang memperngaruhi karena curah hujan tinggi.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17109293" y="9442328"/>
            <a:ext cx="687375" cy="687375"/>
            <a:chOff x="0" y="0"/>
            <a:chExt cx="916501" cy="916501"/>
          </a:xfrm>
        </p:grpSpPr>
        <p:grpSp>
          <p:nvGrpSpPr>
            <p:cNvPr name="Group 37" id="37"/>
            <p:cNvGrpSpPr/>
            <p:nvPr/>
          </p:nvGrpSpPr>
          <p:grpSpPr>
            <a:xfrm rot="0">
              <a:off x="0" y="0"/>
              <a:ext cx="916501" cy="916501"/>
              <a:chOff x="0" y="0"/>
              <a:chExt cx="812800" cy="812800"/>
            </a:xfrm>
          </p:grpSpPr>
          <p:sp>
            <p:nvSpPr>
              <p:cNvPr name="Freeform 38" id="3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7C03F"/>
              </a:solidFill>
            </p:spPr>
          </p:sp>
          <p:sp>
            <p:nvSpPr>
              <p:cNvPr name="TextBox 39" id="39"/>
              <p:cNvSpPr txBox="true"/>
              <p:nvPr/>
            </p:nvSpPr>
            <p:spPr>
              <a:xfrm>
                <a:off x="76200" y="114300"/>
                <a:ext cx="660400" cy="6223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040"/>
                  </a:lnSpc>
                </a:pPr>
              </a:p>
            </p:txBody>
          </p:sp>
        </p:grpSp>
        <p:sp>
          <p:nvSpPr>
            <p:cNvPr name="Freeform 40" id="40"/>
            <p:cNvSpPr/>
            <p:nvPr/>
          </p:nvSpPr>
          <p:spPr>
            <a:xfrm flipH="false" flipV="false" rot="0">
              <a:off x="165344" y="167907"/>
              <a:ext cx="585812" cy="580686"/>
            </a:xfrm>
            <a:custGeom>
              <a:avLst/>
              <a:gdLst/>
              <a:ahLst/>
              <a:cxnLst/>
              <a:rect r="r" b="b" t="t" l="l"/>
              <a:pathLst>
                <a:path h="580686" w="585812">
                  <a:moveTo>
                    <a:pt x="0" y="0"/>
                  </a:moveTo>
                  <a:lnTo>
                    <a:pt x="585812" y="0"/>
                  </a:lnTo>
                  <a:lnTo>
                    <a:pt x="585812" y="580686"/>
                  </a:lnTo>
                  <a:lnTo>
                    <a:pt x="0" y="5806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41" id="41"/>
          <p:cNvSpPr txBox="true"/>
          <p:nvPr/>
        </p:nvSpPr>
        <p:spPr>
          <a:xfrm rot="0">
            <a:off x="9618360" y="8762823"/>
            <a:ext cx="7308798" cy="1000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87"/>
              </a:lnSpc>
            </a:pPr>
            <a:r>
              <a:rPr lang="en-US" sz="2239">
                <a:solidFill>
                  <a:srgbClr val="025A2C"/>
                </a:solidFill>
                <a:latin typeface="Gordita"/>
                <a:ea typeface="Gordita"/>
                <a:cs typeface="Gordita"/>
                <a:sym typeface="Gordita"/>
              </a:rPr>
              <a:t>Penurunan </a:t>
            </a:r>
            <a:r>
              <a:rPr lang="en-US" b="true" sz="2239">
                <a:solidFill>
                  <a:srgbClr val="025A2C"/>
                </a:solidFill>
                <a:latin typeface="Gordita Bold"/>
                <a:ea typeface="Gordita Bold"/>
                <a:cs typeface="Gordita Bold"/>
                <a:sym typeface="Gordita Bold"/>
              </a:rPr>
              <a:t>NTP terendah</a:t>
            </a:r>
            <a:r>
              <a:rPr lang="en-US" sz="2239">
                <a:solidFill>
                  <a:srgbClr val="025A2C"/>
                </a:solidFill>
                <a:latin typeface="Gordita"/>
                <a:ea typeface="Gordita"/>
                <a:cs typeface="Gordita"/>
                <a:sym typeface="Gordita"/>
              </a:rPr>
              <a:t> berada pada bulan April 2021, yang dipengaruhi oleh faktor Covid-19 yang dimulai dari 2020-2021.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9201150" y="856581"/>
            <a:ext cx="7627261" cy="5384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1"/>
              </a:lnSpc>
            </a:pPr>
            <a:r>
              <a:rPr lang="en-US" sz="3971">
                <a:solidFill>
                  <a:srgbClr val="FFFFFF"/>
                </a:solidFill>
                <a:latin typeface="Gordita"/>
                <a:ea typeface="Gordita"/>
                <a:cs typeface="Gordita"/>
                <a:sym typeface="Gordita"/>
              </a:rPr>
              <a:t>Perubahan Bulanan (MoM)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4714951" y="5143500"/>
            <a:ext cx="7908256" cy="5600349"/>
          </a:xfrm>
          <a:custGeom>
            <a:avLst/>
            <a:gdLst/>
            <a:ahLst/>
            <a:cxnLst/>
            <a:rect r="r" b="b" t="t" l="l"/>
            <a:pathLst>
              <a:path h="5600349" w="7908256">
                <a:moveTo>
                  <a:pt x="7908256" y="0"/>
                </a:moveTo>
                <a:lnTo>
                  <a:pt x="0" y="0"/>
                </a:lnTo>
                <a:lnTo>
                  <a:pt x="0" y="5600349"/>
                </a:lnTo>
                <a:lnTo>
                  <a:pt x="7908256" y="5600349"/>
                </a:lnTo>
                <a:lnTo>
                  <a:pt x="790825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37091" r="-474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434477" y="-272045"/>
            <a:ext cx="10857737" cy="12469053"/>
            <a:chOff x="0" y="0"/>
            <a:chExt cx="2859651" cy="328403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859651" cy="3284031"/>
            </a:xfrm>
            <a:custGeom>
              <a:avLst/>
              <a:gdLst/>
              <a:ahLst/>
              <a:cxnLst/>
              <a:rect r="r" b="b" t="t" l="l"/>
              <a:pathLst>
                <a:path h="3284031" w="2859651">
                  <a:moveTo>
                    <a:pt x="0" y="0"/>
                  </a:moveTo>
                  <a:lnTo>
                    <a:pt x="2859651" y="0"/>
                  </a:lnTo>
                  <a:lnTo>
                    <a:pt x="2859651" y="3284031"/>
                  </a:lnTo>
                  <a:lnTo>
                    <a:pt x="0" y="3284031"/>
                  </a:lnTo>
                  <a:close/>
                </a:path>
              </a:pathLst>
            </a:custGeom>
            <a:solidFill>
              <a:srgbClr val="025A2C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38100"/>
              <a:ext cx="2859651" cy="32459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4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0713067" y="1841332"/>
            <a:ext cx="7708157" cy="7708157"/>
          </a:xfrm>
          <a:custGeom>
            <a:avLst/>
            <a:gdLst/>
            <a:ahLst/>
            <a:cxnLst/>
            <a:rect r="r" b="b" t="t" l="l"/>
            <a:pathLst>
              <a:path h="7708157" w="7708157">
                <a:moveTo>
                  <a:pt x="0" y="0"/>
                </a:moveTo>
                <a:lnTo>
                  <a:pt x="7708158" y="0"/>
                </a:lnTo>
                <a:lnTo>
                  <a:pt x="7708158" y="7708157"/>
                </a:lnTo>
                <a:lnTo>
                  <a:pt x="0" y="770815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74000"/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true" rot="0">
            <a:off x="11084220" y="-475593"/>
            <a:ext cx="8488516" cy="5549367"/>
          </a:xfrm>
          <a:custGeom>
            <a:avLst/>
            <a:gdLst/>
            <a:ahLst/>
            <a:cxnLst/>
            <a:rect r="r" b="b" t="t" l="l"/>
            <a:pathLst>
              <a:path h="5549367" w="8488516">
                <a:moveTo>
                  <a:pt x="8488516" y="5549368"/>
                </a:moveTo>
                <a:lnTo>
                  <a:pt x="0" y="5549368"/>
                </a:lnTo>
                <a:lnTo>
                  <a:pt x="0" y="0"/>
                </a:lnTo>
                <a:lnTo>
                  <a:pt x="8488516" y="0"/>
                </a:lnTo>
                <a:lnTo>
                  <a:pt x="8488516" y="5549368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041755" y="3114917"/>
            <a:ext cx="8102245" cy="4907599"/>
            <a:chOff x="0" y="0"/>
            <a:chExt cx="2133925" cy="129253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33925" cy="1292536"/>
            </a:xfrm>
            <a:custGeom>
              <a:avLst/>
              <a:gdLst/>
              <a:ahLst/>
              <a:cxnLst/>
              <a:rect r="r" b="b" t="t" l="l"/>
              <a:pathLst>
                <a:path h="1292536" w="2133925">
                  <a:moveTo>
                    <a:pt x="31532" y="0"/>
                  </a:moveTo>
                  <a:lnTo>
                    <a:pt x="2102392" y="0"/>
                  </a:lnTo>
                  <a:cubicBezTo>
                    <a:pt x="2119807" y="0"/>
                    <a:pt x="2133925" y="14118"/>
                    <a:pt x="2133925" y="31532"/>
                  </a:cubicBezTo>
                  <a:lnTo>
                    <a:pt x="2133925" y="1261004"/>
                  </a:lnTo>
                  <a:cubicBezTo>
                    <a:pt x="2133925" y="1269367"/>
                    <a:pt x="2130603" y="1277387"/>
                    <a:pt x="2124689" y="1283301"/>
                  </a:cubicBezTo>
                  <a:cubicBezTo>
                    <a:pt x="2118776" y="1289214"/>
                    <a:pt x="2110755" y="1292536"/>
                    <a:pt x="2102392" y="1292536"/>
                  </a:cubicBezTo>
                  <a:lnTo>
                    <a:pt x="31532" y="1292536"/>
                  </a:lnTo>
                  <a:cubicBezTo>
                    <a:pt x="14118" y="1292536"/>
                    <a:pt x="0" y="1278419"/>
                    <a:pt x="0" y="1261004"/>
                  </a:cubicBezTo>
                  <a:lnTo>
                    <a:pt x="0" y="31532"/>
                  </a:lnTo>
                  <a:cubicBezTo>
                    <a:pt x="0" y="14118"/>
                    <a:pt x="14118" y="0"/>
                    <a:pt x="31532" y="0"/>
                  </a:cubicBezTo>
                  <a:close/>
                </a:path>
              </a:pathLst>
            </a:custGeom>
            <a:ln w="38100" cap="rnd">
              <a:solidFill>
                <a:srgbClr val="00813E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133925" cy="13306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true" flipV="false" rot="0">
            <a:off x="7639908" y="5544549"/>
            <a:ext cx="1029170" cy="1349732"/>
          </a:xfrm>
          <a:custGeom>
            <a:avLst/>
            <a:gdLst/>
            <a:ahLst/>
            <a:cxnLst/>
            <a:rect r="r" b="b" t="t" l="l"/>
            <a:pathLst>
              <a:path h="1349732" w="1029170">
                <a:moveTo>
                  <a:pt x="1029171" y="0"/>
                </a:moveTo>
                <a:lnTo>
                  <a:pt x="0" y="0"/>
                </a:lnTo>
                <a:lnTo>
                  <a:pt x="0" y="1349732"/>
                </a:lnTo>
                <a:lnTo>
                  <a:pt x="1029171" y="1349732"/>
                </a:lnTo>
                <a:lnTo>
                  <a:pt x="1029171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263948" y="3328471"/>
            <a:ext cx="7608171" cy="4303372"/>
          </a:xfrm>
          <a:custGeom>
            <a:avLst/>
            <a:gdLst/>
            <a:ahLst/>
            <a:cxnLst/>
            <a:rect r="r" b="b" t="t" l="l"/>
            <a:pathLst>
              <a:path h="4303372" w="7608171">
                <a:moveTo>
                  <a:pt x="0" y="0"/>
                </a:moveTo>
                <a:lnTo>
                  <a:pt x="7608170" y="0"/>
                </a:lnTo>
                <a:lnTo>
                  <a:pt x="7608170" y="4303372"/>
                </a:lnTo>
                <a:lnTo>
                  <a:pt x="0" y="430337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696212" y="585902"/>
            <a:ext cx="8652541" cy="13248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21"/>
              </a:lnSpc>
            </a:pPr>
            <a:r>
              <a:rPr lang="en-US" sz="9824" b="true">
                <a:solidFill>
                  <a:srgbClr val="025A2C"/>
                </a:solidFill>
                <a:latin typeface="Gordita Bold"/>
                <a:ea typeface="Gordita Bold"/>
                <a:cs typeface="Gordita Bold"/>
                <a:sym typeface="Gordita Bold"/>
              </a:rPr>
              <a:t>Hasil Analisis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05896" y="1902570"/>
            <a:ext cx="8199954" cy="5988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24"/>
              </a:lnSpc>
            </a:pPr>
            <a:r>
              <a:rPr lang="en-US" sz="4657" i="true">
                <a:solidFill>
                  <a:srgbClr val="023D1E"/>
                </a:solidFill>
                <a:latin typeface="Gordita Italics"/>
                <a:ea typeface="Gordita Italics"/>
                <a:cs typeface="Gordita Italics"/>
                <a:sym typeface="Gordita Italics"/>
              </a:rPr>
              <a:t>Perubahan Tahunan (YoY)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0004415" y="1910785"/>
            <a:ext cx="7735961" cy="7720280"/>
            <a:chOff x="0" y="0"/>
            <a:chExt cx="10314615" cy="1029370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292685" cy="10293706"/>
            </a:xfrm>
            <a:custGeom>
              <a:avLst/>
              <a:gdLst/>
              <a:ahLst/>
              <a:cxnLst/>
              <a:rect r="r" b="b" t="t" l="l"/>
              <a:pathLst>
                <a:path h="10293706" w="10292685">
                  <a:moveTo>
                    <a:pt x="0" y="0"/>
                  </a:moveTo>
                  <a:lnTo>
                    <a:pt x="10292685" y="0"/>
                  </a:lnTo>
                  <a:lnTo>
                    <a:pt x="10292685" y="10293706"/>
                  </a:lnTo>
                  <a:lnTo>
                    <a:pt x="0" y="102937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 l="-4" t="0" r="-4" b="0"/>
              </a:stretch>
            </a:blip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3144725" y="3228515"/>
              <a:ext cx="4003236" cy="3938183"/>
            </a:xfrm>
            <a:custGeom>
              <a:avLst/>
              <a:gdLst/>
              <a:ahLst/>
              <a:cxnLst/>
              <a:rect r="r" b="b" t="t" l="l"/>
              <a:pathLst>
                <a:path h="3938183" w="4003236">
                  <a:moveTo>
                    <a:pt x="0" y="0"/>
                  </a:moveTo>
                  <a:lnTo>
                    <a:pt x="4003235" y="0"/>
                  </a:lnTo>
                  <a:lnTo>
                    <a:pt x="4003235" y="3938183"/>
                  </a:lnTo>
                  <a:lnTo>
                    <a:pt x="0" y="39381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898634" y="3227596"/>
              <a:ext cx="1060557" cy="1076708"/>
            </a:xfrm>
            <a:custGeom>
              <a:avLst/>
              <a:gdLst/>
              <a:ahLst/>
              <a:cxnLst/>
              <a:rect r="r" b="b" t="t" l="l"/>
              <a:pathLst>
                <a:path h="1076708" w="1060557">
                  <a:moveTo>
                    <a:pt x="0" y="0"/>
                  </a:moveTo>
                  <a:lnTo>
                    <a:pt x="1060557" y="0"/>
                  </a:lnTo>
                  <a:lnTo>
                    <a:pt x="1060557" y="1076707"/>
                  </a:lnTo>
                  <a:lnTo>
                    <a:pt x="0" y="10767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9" id="19"/>
            <p:cNvSpPr/>
            <p:nvPr/>
          </p:nvSpPr>
          <p:spPr>
            <a:xfrm flipH="true" flipV="true" rot="-5370497">
              <a:off x="8331082" y="3337225"/>
              <a:ext cx="1060557" cy="1076708"/>
            </a:xfrm>
            <a:custGeom>
              <a:avLst/>
              <a:gdLst/>
              <a:ahLst/>
              <a:cxnLst/>
              <a:rect r="r" b="b" t="t" l="l"/>
              <a:pathLst>
                <a:path h="1076708" w="1060557">
                  <a:moveTo>
                    <a:pt x="1060557" y="1076708"/>
                  </a:moveTo>
                  <a:lnTo>
                    <a:pt x="0" y="1076708"/>
                  </a:lnTo>
                  <a:lnTo>
                    <a:pt x="0" y="0"/>
                  </a:lnTo>
                  <a:lnTo>
                    <a:pt x="1060557" y="0"/>
                  </a:lnTo>
                  <a:lnTo>
                    <a:pt x="1060557" y="1076708"/>
                  </a:lnTo>
                  <a:close/>
                </a:path>
              </a:pathLst>
            </a:custGeom>
            <a:blipFill>
              <a:blip r:embed="rId13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0" id="20"/>
            <p:cNvSpPr/>
            <p:nvPr/>
          </p:nvSpPr>
          <p:spPr>
            <a:xfrm flipH="true" flipV="false" rot="0">
              <a:off x="8343688" y="5620531"/>
              <a:ext cx="1060557" cy="1076708"/>
            </a:xfrm>
            <a:custGeom>
              <a:avLst/>
              <a:gdLst/>
              <a:ahLst/>
              <a:cxnLst/>
              <a:rect r="r" b="b" t="t" l="l"/>
              <a:pathLst>
                <a:path h="1076708" w="1060557">
                  <a:moveTo>
                    <a:pt x="1060557" y="0"/>
                  </a:moveTo>
                  <a:lnTo>
                    <a:pt x="0" y="0"/>
                  </a:lnTo>
                  <a:lnTo>
                    <a:pt x="0" y="1076707"/>
                  </a:lnTo>
                  <a:lnTo>
                    <a:pt x="1060557" y="1076707"/>
                  </a:lnTo>
                  <a:lnTo>
                    <a:pt x="1060557" y="0"/>
                  </a:lnTo>
                  <a:close/>
                </a:path>
              </a:pathLst>
            </a:custGeom>
            <a:blipFill>
              <a:blip r:embed="rId13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 rot="0">
              <a:off x="687348" y="2491281"/>
              <a:ext cx="2211232" cy="4422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13"/>
                </a:lnSpc>
              </a:pPr>
              <a:r>
                <a:rPr lang="en-US" sz="2009" b="true">
                  <a:solidFill>
                    <a:srgbClr val="FFFFFF"/>
                  </a:solidFill>
                  <a:latin typeface="Gordita Bold"/>
                  <a:ea typeface="Gordita Bold"/>
                  <a:cs typeface="Gordita Bold"/>
                  <a:sym typeface="Gordita Bold"/>
                </a:rPr>
                <a:t>2020-2021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687348" y="7962313"/>
              <a:ext cx="2817711" cy="10759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01"/>
                </a:lnSpc>
              </a:pPr>
              <a:r>
                <a:rPr lang="en-US" sz="2358">
                  <a:solidFill>
                    <a:srgbClr val="023D1E"/>
                  </a:solidFill>
                  <a:latin typeface="Gordita"/>
                  <a:ea typeface="Gordita"/>
                  <a:cs typeface="Gordita"/>
                  <a:sym typeface="Gordita"/>
                </a:rPr>
                <a:t>NTP pulih dan kembali stabil.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6023106" y="704825"/>
              <a:ext cx="3631643" cy="14985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3021"/>
                </a:lnSpc>
              </a:pPr>
              <a:r>
                <a:rPr lang="en-US" sz="2158">
                  <a:solidFill>
                    <a:srgbClr val="FFFFFF"/>
                  </a:solidFill>
                  <a:latin typeface="Gordita"/>
                  <a:ea typeface="Gordita"/>
                  <a:cs typeface="Gordita"/>
                  <a:sym typeface="Gordita"/>
                </a:rPr>
                <a:t>Pemulihan ekonomi mendorong NTP ke 121,94 (Feb 2024).</a:t>
              </a:r>
            </a:p>
          </p:txBody>
        </p:sp>
        <p:sp>
          <p:nvSpPr>
            <p:cNvPr name="TextBox 24" id="24"/>
            <p:cNvSpPr txBox="true"/>
            <p:nvPr/>
          </p:nvSpPr>
          <p:spPr>
            <a:xfrm rot="0">
              <a:off x="6359427" y="7962313"/>
              <a:ext cx="3295321" cy="14985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3021"/>
                </a:lnSpc>
              </a:pPr>
              <a:r>
                <a:rPr lang="en-US" sz="2158">
                  <a:solidFill>
                    <a:srgbClr val="FFFFFF"/>
                  </a:solidFill>
                  <a:latin typeface="Gordita"/>
                  <a:ea typeface="Gordita"/>
                  <a:cs typeface="Gordita"/>
                  <a:sym typeface="Gordita"/>
                </a:rPr>
                <a:t>NTP turun tajam pasca panen raya &amp; stabilisasi harga</a:t>
              </a:r>
            </a:p>
          </p:txBody>
        </p:sp>
        <p:sp>
          <p:nvSpPr>
            <p:cNvPr name="TextBox 25" id="25"/>
            <p:cNvSpPr txBox="true"/>
            <p:nvPr/>
          </p:nvSpPr>
          <p:spPr>
            <a:xfrm rot="0">
              <a:off x="687348" y="769431"/>
              <a:ext cx="3459220" cy="14985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3021"/>
                </a:lnSpc>
              </a:pPr>
              <a:r>
                <a:rPr lang="en-US" sz="2158">
                  <a:solidFill>
                    <a:srgbClr val="FFFFFF"/>
                  </a:solidFill>
                  <a:latin typeface="Gordita"/>
                  <a:ea typeface="Gordita"/>
                  <a:cs typeface="Gordita"/>
                  <a:sym typeface="Gordita"/>
                </a:rPr>
                <a:t>NTP turun akibat pandemi, terendah 98,71 (Apr 2021).</a:t>
              </a:r>
            </a:p>
          </p:txBody>
        </p:sp>
        <p:sp>
          <p:nvSpPr>
            <p:cNvPr name="TextBox 26" id="26"/>
            <p:cNvSpPr txBox="true"/>
            <p:nvPr/>
          </p:nvSpPr>
          <p:spPr>
            <a:xfrm rot="0">
              <a:off x="7443517" y="2491281"/>
              <a:ext cx="2211232" cy="4422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13"/>
                </a:lnSpc>
              </a:pPr>
              <a:r>
                <a:rPr lang="en-US" sz="2009" b="true">
                  <a:solidFill>
                    <a:srgbClr val="FFFFFF"/>
                  </a:solidFill>
                  <a:latin typeface="Gordita Bold"/>
                  <a:ea typeface="Gordita Bold"/>
                  <a:cs typeface="Gordita Bold"/>
                  <a:sym typeface="Gordita Bold"/>
                </a:rPr>
                <a:t>2022-2024</a:t>
              </a:r>
            </a:p>
          </p:txBody>
        </p:sp>
        <p:sp>
          <p:nvSpPr>
            <p:cNvPr name="TextBox 27" id="27"/>
            <p:cNvSpPr txBox="true"/>
            <p:nvPr/>
          </p:nvSpPr>
          <p:spPr>
            <a:xfrm rot="0">
              <a:off x="687348" y="7182959"/>
              <a:ext cx="2817711" cy="45098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81"/>
                </a:lnSpc>
              </a:pPr>
              <a:r>
                <a:rPr lang="en-US" sz="2058" b="true">
                  <a:solidFill>
                    <a:srgbClr val="023D1E"/>
                  </a:solidFill>
                  <a:latin typeface="Gordita Bold"/>
                  <a:ea typeface="Gordita Bold"/>
                  <a:cs typeface="Gordita Bold"/>
                  <a:sym typeface="Gordita Bold"/>
                </a:rPr>
                <a:t>2025-2026</a:t>
              </a:r>
            </a:p>
          </p:txBody>
        </p:sp>
        <p:sp>
          <p:nvSpPr>
            <p:cNvPr name="TextBox 28" id="28"/>
            <p:cNvSpPr txBox="true"/>
            <p:nvPr/>
          </p:nvSpPr>
          <p:spPr>
            <a:xfrm rot="0">
              <a:off x="7443517" y="7114574"/>
              <a:ext cx="2871098" cy="43992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14"/>
                </a:lnSpc>
              </a:pPr>
              <a:r>
                <a:rPr lang="en-US" sz="2010" b="true">
                  <a:solidFill>
                    <a:srgbClr val="FFFFFF"/>
                  </a:solidFill>
                  <a:latin typeface="Gordita Bold"/>
                  <a:ea typeface="Gordita Bold"/>
                  <a:cs typeface="Gordita Bold"/>
                  <a:sym typeface="Gordita Bold"/>
                </a:rPr>
                <a:t>Apr-Mei 2024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0201738" y="1162618"/>
            <a:ext cx="3427587" cy="497008"/>
            <a:chOff x="0" y="0"/>
            <a:chExt cx="4570116" cy="662678"/>
          </a:xfrm>
        </p:grpSpPr>
        <p:grpSp>
          <p:nvGrpSpPr>
            <p:cNvPr name="Group 30" id="30"/>
            <p:cNvGrpSpPr/>
            <p:nvPr/>
          </p:nvGrpSpPr>
          <p:grpSpPr>
            <a:xfrm rot="0">
              <a:off x="0" y="0"/>
              <a:ext cx="4570116" cy="595781"/>
              <a:chOff x="0" y="0"/>
              <a:chExt cx="902739" cy="117685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902739" cy="117685"/>
              </a:xfrm>
              <a:custGeom>
                <a:avLst/>
                <a:gdLst/>
                <a:ahLst/>
                <a:cxnLst/>
                <a:rect r="r" b="b" t="t" l="l"/>
                <a:pathLst>
                  <a:path h="117685" w="902739">
                    <a:moveTo>
                      <a:pt x="58843" y="0"/>
                    </a:moveTo>
                    <a:lnTo>
                      <a:pt x="843896" y="0"/>
                    </a:lnTo>
                    <a:cubicBezTo>
                      <a:pt x="859502" y="0"/>
                      <a:pt x="874469" y="6199"/>
                      <a:pt x="885504" y="17235"/>
                    </a:cubicBezTo>
                    <a:cubicBezTo>
                      <a:pt x="896539" y="28270"/>
                      <a:pt x="902739" y="43237"/>
                      <a:pt x="902739" y="58843"/>
                    </a:cubicBezTo>
                    <a:lnTo>
                      <a:pt x="902739" y="58843"/>
                    </a:lnTo>
                    <a:cubicBezTo>
                      <a:pt x="902739" y="91340"/>
                      <a:pt x="876394" y="117685"/>
                      <a:pt x="843896" y="117685"/>
                    </a:cubicBezTo>
                    <a:lnTo>
                      <a:pt x="58843" y="117685"/>
                    </a:lnTo>
                    <a:cubicBezTo>
                      <a:pt x="43237" y="117685"/>
                      <a:pt x="28270" y="111486"/>
                      <a:pt x="17235" y="100451"/>
                    </a:cubicBezTo>
                    <a:cubicBezTo>
                      <a:pt x="6199" y="89415"/>
                      <a:pt x="0" y="74449"/>
                      <a:pt x="0" y="58843"/>
                    </a:cubicBezTo>
                    <a:lnTo>
                      <a:pt x="0" y="58843"/>
                    </a:lnTo>
                    <a:cubicBezTo>
                      <a:pt x="0" y="43237"/>
                      <a:pt x="6199" y="28270"/>
                      <a:pt x="17235" y="17235"/>
                    </a:cubicBezTo>
                    <a:cubicBezTo>
                      <a:pt x="28270" y="6199"/>
                      <a:pt x="43237" y="0"/>
                      <a:pt x="58843" y="0"/>
                    </a:cubicBezTo>
                    <a:close/>
                  </a:path>
                </a:pathLst>
              </a:custGeom>
              <a:solidFill>
                <a:srgbClr val="F7C03F"/>
              </a:solidFill>
            </p:spPr>
          </p:sp>
          <p:sp>
            <p:nvSpPr>
              <p:cNvPr name="TextBox 32" id="32"/>
              <p:cNvSpPr txBox="true"/>
              <p:nvPr/>
            </p:nvSpPr>
            <p:spPr>
              <a:xfrm>
                <a:off x="0" y="-38100"/>
                <a:ext cx="902739" cy="15578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40"/>
                  </a:lnSpc>
                </a:pPr>
              </a:p>
            </p:txBody>
          </p:sp>
        </p:grpSp>
        <p:sp>
          <p:nvSpPr>
            <p:cNvPr name="Freeform 33" id="33"/>
            <p:cNvSpPr/>
            <p:nvPr/>
          </p:nvSpPr>
          <p:spPr>
            <a:xfrm flipH="false" flipV="false" rot="0">
              <a:off x="106856" y="0"/>
              <a:ext cx="453106" cy="662678"/>
            </a:xfrm>
            <a:custGeom>
              <a:avLst/>
              <a:gdLst/>
              <a:ahLst/>
              <a:cxnLst/>
              <a:rect r="r" b="b" t="t" l="l"/>
              <a:pathLst>
                <a:path h="662678" w="453106">
                  <a:moveTo>
                    <a:pt x="0" y="0"/>
                  </a:moveTo>
                  <a:lnTo>
                    <a:pt x="453105" y="0"/>
                  </a:lnTo>
                  <a:lnTo>
                    <a:pt x="453105" y="662678"/>
                  </a:lnTo>
                  <a:lnTo>
                    <a:pt x="0" y="6626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>
                <a:extLst>
                  <a:ext uri="{96DAC541-7B7A-43D3-8B79-37D633B846F1}">
                    <asvg:svgBlip xmlns:asvg="http://schemas.microsoft.com/office/drawing/2016/SVG/main" r:embed="rId1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 rot="0">
              <a:off x="745032" y="92148"/>
              <a:ext cx="3164428" cy="44958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89"/>
                </a:lnSpc>
                <a:spcBef>
                  <a:spcPct val="0"/>
                </a:spcBef>
              </a:pPr>
              <a:r>
                <a:rPr lang="en-US" b="true" sz="2440">
                  <a:solidFill>
                    <a:srgbClr val="025A2C"/>
                  </a:solidFill>
                  <a:latin typeface="Gordita Bold"/>
                  <a:ea typeface="Gordita Bold"/>
                  <a:cs typeface="Gordita Bold"/>
                  <a:sym typeface="Gordita Bold"/>
                </a:rPr>
                <a:t>Insight Utama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431433" y="5537523"/>
            <a:ext cx="8488516" cy="5549367"/>
          </a:xfrm>
          <a:custGeom>
            <a:avLst/>
            <a:gdLst/>
            <a:ahLst/>
            <a:cxnLst/>
            <a:rect r="r" b="b" t="t" l="l"/>
            <a:pathLst>
              <a:path h="5549367" w="8488516">
                <a:moveTo>
                  <a:pt x="0" y="0"/>
                </a:moveTo>
                <a:lnTo>
                  <a:pt x="8488516" y="0"/>
                </a:lnTo>
                <a:lnTo>
                  <a:pt x="8488516" y="5549367"/>
                </a:lnTo>
                <a:lnTo>
                  <a:pt x="0" y="55493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437917" y="-170034"/>
            <a:ext cx="10687197" cy="11113461"/>
          </a:xfrm>
          <a:custGeom>
            <a:avLst/>
            <a:gdLst/>
            <a:ahLst/>
            <a:cxnLst/>
            <a:rect r="r" b="b" t="t" l="l"/>
            <a:pathLst>
              <a:path h="11113461" w="10687197">
                <a:moveTo>
                  <a:pt x="0" y="0"/>
                </a:moveTo>
                <a:lnTo>
                  <a:pt x="10687196" y="0"/>
                </a:lnTo>
                <a:lnTo>
                  <a:pt x="10687196" y="11113461"/>
                </a:lnTo>
                <a:lnTo>
                  <a:pt x="0" y="111134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8000"/>
            </a:blip>
            <a:stretch>
              <a:fillRect l="-24931" t="0" r="-40509" b="-5997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764760" y="769947"/>
            <a:ext cx="2809442" cy="863597"/>
            <a:chOff x="0" y="0"/>
            <a:chExt cx="739935" cy="22744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39935" cy="227449"/>
            </a:xfrm>
            <a:custGeom>
              <a:avLst/>
              <a:gdLst/>
              <a:ahLst/>
              <a:cxnLst/>
              <a:rect r="r" b="b" t="t" l="l"/>
              <a:pathLst>
                <a:path h="227449" w="739935">
                  <a:moveTo>
                    <a:pt x="113725" y="0"/>
                  </a:moveTo>
                  <a:lnTo>
                    <a:pt x="626211" y="0"/>
                  </a:lnTo>
                  <a:cubicBezTo>
                    <a:pt x="656372" y="0"/>
                    <a:pt x="685299" y="11982"/>
                    <a:pt x="706626" y="33309"/>
                  </a:cubicBezTo>
                  <a:cubicBezTo>
                    <a:pt x="727954" y="54637"/>
                    <a:pt x="739935" y="83563"/>
                    <a:pt x="739935" y="113725"/>
                  </a:cubicBezTo>
                  <a:lnTo>
                    <a:pt x="739935" y="113725"/>
                  </a:lnTo>
                  <a:cubicBezTo>
                    <a:pt x="739935" y="176533"/>
                    <a:pt x="689019" y="227449"/>
                    <a:pt x="626211" y="227449"/>
                  </a:cubicBezTo>
                  <a:lnTo>
                    <a:pt x="113725" y="227449"/>
                  </a:lnTo>
                  <a:cubicBezTo>
                    <a:pt x="83563" y="227449"/>
                    <a:pt x="54637" y="215468"/>
                    <a:pt x="33309" y="194140"/>
                  </a:cubicBezTo>
                  <a:cubicBezTo>
                    <a:pt x="11982" y="172813"/>
                    <a:pt x="0" y="143886"/>
                    <a:pt x="0" y="113725"/>
                  </a:cubicBezTo>
                  <a:lnTo>
                    <a:pt x="0" y="113725"/>
                  </a:lnTo>
                  <a:cubicBezTo>
                    <a:pt x="0" y="83563"/>
                    <a:pt x="11982" y="54637"/>
                    <a:pt x="33309" y="33309"/>
                  </a:cubicBezTo>
                  <a:cubicBezTo>
                    <a:pt x="54637" y="11982"/>
                    <a:pt x="83563" y="0"/>
                    <a:pt x="113725" y="0"/>
                  </a:cubicBezTo>
                  <a:close/>
                </a:path>
              </a:pathLst>
            </a:custGeom>
            <a:solidFill>
              <a:srgbClr val="F7C03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739935" cy="2655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1182866" y="884903"/>
            <a:ext cx="392287" cy="573729"/>
          </a:xfrm>
          <a:custGeom>
            <a:avLst/>
            <a:gdLst/>
            <a:ahLst/>
            <a:cxnLst/>
            <a:rect r="r" b="b" t="t" l="l"/>
            <a:pathLst>
              <a:path h="573729" w="392287">
                <a:moveTo>
                  <a:pt x="0" y="0"/>
                </a:moveTo>
                <a:lnTo>
                  <a:pt x="392287" y="0"/>
                </a:lnTo>
                <a:lnTo>
                  <a:pt x="392287" y="573729"/>
                </a:lnTo>
                <a:lnTo>
                  <a:pt x="0" y="57372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678153" y="2243144"/>
            <a:ext cx="7054319" cy="23781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95"/>
              </a:lnSpc>
            </a:pPr>
            <a:r>
              <a:rPr lang="en-US" sz="9015" b="true">
                <a:solidFill>
                  <a:srgbClr val="025A2C"/>
                </a:solidFill>
                <a:latin typeface="Gordita Bold"/>
                <a:ea typeface="Gordita Bold"/>
                <a:cs typeface="Gordita Bold"/>
                <a:sym typeface="Gordita Bold"/>
              </a:rPr>
              <a:t>Model</a:t>
            </a:r>
          </a:p>
          <a:p>
            <a:pPr algn="l">
              <a:lnSpc>
                <a:spcPts val="9195"/>
              </a:lnSpc>
            </a:pPr>
            <a:r>
              <a:rPr lang="en-US" sz="9015" b="true">
                <a:solidFill>
                  <a:srgbClr val="025A2C"/>
                </a:solidFill>
                <a:latin typeface="Gordita Bold"/>
                <a:ea typeface="Gordita Bold"/>
                <a:cs typeface="Gordita Bold"/>
                <a:sym typeface="Gordita Bold"/>
              </a:rPr>
              <a:t>Forecasting</a:t>
            </a:r>
          </a:p>
        </p:txBody>
      </p:sp>
      <p:sp>
        <p:nvSpPr>
          <p:cNvPr name="Freeform 9" id="9"/>
          <p:cNvSpPr/>
          <p:nvPr/>
        </p:nvSpPr>
        <p:spPr>
          <a:xfrm flipH="true" flipV="false" rot="0">
            <a:off x="6661733" y="1697988"/>
            <a:ext cx="1157345" cy="1517830"/>
          </a:xfrm>
          <a:custGeom>
            <a:avLst/>
            <a:gdLst/>
            <a:ahLst/>
            <a:cxnLst/>
            <a:rect r="r" b="b" t="t" l="l"/>
            <a:pathLst>
              <a:path h="1517830" w="1157345">
                <a:moveTo>
                  <a:pt x="1157346" y="0"/>
                </a:moveTo>
                <a:lnTo>
                  <a:pt x="0" y="0"/>
                </a:lnTo>
                <a:lnTo>
                  <a:pt x="0" y="1517830"/>
                </a:lnTo>
                <a:lnTo>
                  <a:pt x="1157346" y="1517830"/>
                </a:lnTo>
                <a:lnTo>
                  <a:pt x="1157346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10766880" y="2644318"/>
            <a:ext cx="6517640" cy="4272405"/>
            <a:chOff x="0" y="0"/>
            <a:chExt cx="1716580" cy="112524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716580" cy="1125243"/>
            </a:xfrm>
            <a:custGeom>
              <a:avLst/>
              <a:gdLst/>
              <a:ahLst/>
              <a:cxnLst/>
              <a:rect r="r" b="b" t="t" l="l"/>
              <a:pathLst>
                <a:path h="1125243" w="1716580">
                  <a:moveTo>
                    <a:pt x="30884" y="0"/>
                  </a:moveTo>
                  <a:lnTo>
                    <a:pt x="1685696" y="0"/>
                  </a:lnTo>
                  <a:cubicBezTo>
                    <a:pt x="1693887" y="0"/>
                    <a:pt x="1701743" y="3254"/>
                    <a:pt x="1707535" y="9046"/>
                  </a:cubicBezTo>
                  <a:cubicBezTo>
                    <a:pt x="1713326" y="14838"/>
                    <a:pt x="1716580" y="22693"/>
                    <a:pt x="1716580" y="30884"/>
                  </a:cubicBezTo>
                  <a:lnTo>
                    <a:pt x="1716580" y="1094359"/>
                  </a:lnTo>
                  <a:cubicBezTo>
                    <a:pt x="1716580" y="1102550"/>
                    <a:pt x="1713326" y="1110405"/>
                    <a:pt x="1707535" y="1116197"/>
                  </a:cubicBezTo>
                  <a:cubicBezTo>
                    <a:pt x="1701743" y="1121989"/>
                    <a:pt x="1693887" y="1125243"/>
                    <a:pt x="1685696" y="1125243"/>
                  </a:cubicBezTo>
                  <a:lnTo>
                    <a:pt x="30884" y="1125243"/>
                  </a:lnTo>
                  <a:cubicBezTo>
                    <a:pt x="22693" y="1125243"/>
                    <a:pt x="14838" y="1121989"/>
                    <a:pt x="9046" y="1116197"/>
                  </a:cubicBezTo>
                  <a:cubicBezTo>
                    <a:pt x="3254" y="1110405"/>
                    <a:pt x="0" y="1102550"/>
                    <a:pt x="0" y="1094359"/>
                  </a:cubicBezTo>
                  <a:lnTo>
                    <a:pt x="0" y="30884"/>
                  </a:lnTo>
                  <a:cubicBezTo>
                    <a:pt x="0" y="22693"/>
                    <a:pt x="3254" y="14838"/>
                    <a:pt x="9046" y="9046"/>
                  </a:cubicBezTo>
                  <a:cubicBezTo>
                    <a:pt x="14838" y="3254"/>
                    <a:pt x="22693" y="0"/>
                    <a:pt x="30884" y="0"/>
                  </a:cubicBezTo>
                  <a:close/>
                </a:path>
              </a:pathLst>
            </a:custGeom>
            <a:solidFill>
              <a:srgbClr val="F3B86B">
                <a:alpha val="26667"/>
              </a:srgbClr>
            </a:solidFill>
            <a:ln w="38100" cap="rnd">
              <a:solidFill>
                <a:srgbClr val="808080">
                  <a:alpha val="26667"/>
                </a:srgbClr>
              </a:solidFill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38100"/>
              <a:ext cx="1716580" cy="10871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40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true" flipV="true" rot="0">
            <a:off x="11084220" y="-475593"/>
            <a:ext cx="8488516" cy="5549367"/>
          </a:xfrm>
          <a:custGeom>
            <a:avLst/>
            <a:gdLst/>
            <a:ahLst/>
            <a:cxnLst/>
            <a:rect r="r" b="b" t="t" l="l"/>
            <a:pathLst>
              <a:path h="5549367" w="8488516">
                <a:moveTo>
                  <a:pt x="8488516" y="5549368"/>
                </a:moveTo>
                <a:lnTo>
                  <a:pt x="0" y="5549368"/>
                </a:lnTo>
                <a:lnTo>
                  <a:pt x="0" y="0"/>
                </a:lnTo>
                <a:lnTo>
                  <a:pt x="8488516" y="0"/>
                </a:lnTo>
                <a:lnTo>
                  <a:pt x="8488516" y="5549368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6760856" y="9032331"/>
            <a:ext cx="1021776" cy="1012836"/>
          </a:xfrm>
          <a:custGeom>
            <a:avLst/>
            <a:gdLst/>
            <a:ahLst/>
            <a:cxnLst/>
            <a:rect r="r" b="b" t="t" l="l"/>
            <a:pathLst>
              <a:path h="1012836" w="1021776">
                <a:moveTo>
                  <a:pt x="0" y="0"/>
                </a:moveTo>
                <a:lnTo>
                  <a:pt x="1021777" y="0"/>
                </a:lnTo>
                <a:lnTo>
                  <a:pt x="1021777" y="1012836"/>
                </a:lnTo>
                <a:lnTo>
                  <a:pt x="0" y="101283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true" flipV="false" rot="0">
            <a:off x="17557251" y="7032547"/>
            <a:ext cx="1524835" cy="1999784"/>
          </a:xfrm>
          <a:custGeom>
            <a:avLst/>
            <a:gdLst/>
            <a:ahLst/>
            <a:cxnLst/>
            <a:rect r="r" b="b" t="t" l="l"/>
            <a:pathLst>
              <a:path h="1999784" w="1524835">
                <a:moveTo>
                  <a:pt x="1524835" y="0"/>
                </a:moveTo>
                <a:lnTo>
                  <a:pt x="0" y="0"/>
                </a:lnTo>
                <a:lnTo>
                  <a:pt x="0" y="1999784"/>
                </a:lnTo>
                <a:lnTo>
                  <a:pt x="1524835" y="1999784"/>
                </a:lnTo>
                <a:lnTo>
                  <a:pt x="1524835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7200876" y="9258640"/>
            <a:ext cx="9893943" cy="3326838"/>
          </a:xfrm>
          <a:custGeom>
            <a:avLst/>
            <a:gdLst/>
            <a:ahLst/>
            <a:cxnLst/>
            <a:rect r="r" b="b" t="t" l="l"/>
            <a:pathLst>
              <a:path h="3326838" w="9893943">
                <a:moveTo>
                  <a:pt x="0" y="0"/>
                </a:moveTo>
                <a:lnTo>
                  <a:pt x="9893943" y="0"/>
                </a:lnTo>
                <a:lnTo>
                  <a:pt x="9893943" y="3326838"/>
                </a:lnTo>
                <a:lnTo>
                  <a:pt x="0" y="332683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34000"/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17" id="17"/>
          <p:cNvGrpSpPr/>
          <p:nvPr/>
        </p:nvGrpSpPr>
        <p:grpSpPr>
          <a:xfrm rot="0">
            <a:off x="11019334" y="596093"/>
            <a:ext cx="5168773" cy="1725078"/>
            <a:chOff x="0" y="0"/>
            <a:chExt cx="6891697" cy="230010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891697" cy="2300104"/>
            </a:xfrm>
            <a:custGeom>
              <a:avLst/>
              <a:gdLst/>
              <a:ahLst/>
              <a:cxnLst/>
              <a:rect r="r" b="b" t="t" l="l"/>
              <a:pathLst>
                <a:path h="2300104" w="6891697">
                  <a:moveTo>
                    <a:pt x="0" y="0"/>
                  </a:moveTo>
                  <a:lnTo>
                    <a:pt x="6891697" y="0"/>
                  </a:lnTo>
                  <a:lnTo>
                    <a:pt x="6891697" y="2300104"/>
                  </a:lnTo>
                  <a:lnTo>
                    <a:pt x="0" y="23001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391373" y="442595"/>
              <a:ext cx="1277990" cy="1210896"/>
            </a:xfrm>
            <a:custGeom>
              <a:avLst/>
              <a:gdLst/>
              <a:ahLst/>
              <a:cxnLst/>
              <a:rect r="r" b="b" t="t" l="l"/>
              <a:pathLst>
                <a:path h="1210896" w="1277990">
                  <a:moveTo>
                    <a:pt x="0" y="0"/>
                  </a:moveTo>
                  <a:lnTo>
                    <a:pt x="1277990" y="0"/>
                  </a:lnTo>
                  <a:lnTo>
                    <a:pt x="1277990" y="1210895"/>
                  </a:lnTo>
                  <a:lnTo>
                    <a:pt x="0" y="12108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2876134" y="515500"/>
              <a:ext cx="1115275" cy="1097152"/>
            </a:xfrm>
            <a:custGeom>
              <a:avLst/>
              <a:gdLst/>
              <a:ahLst/>
              <a:cxnLst/>
              <a:rect r="r" b="b" t="t" l="l"/>
              <a:pathLst>
                <a:path h="1097152" w="1115275">
                  <a:moveTo>
                    <a:pt x="0" y="0"/>
                  </a:moveTo>
                  <a:lnTo>
                    <a:pt x="1115275" y="0"/>
                  </a:lnTo>
                  <a:lnTo>
                    <a:pt x="1115275" y="1097152"/>
                  </a:lnTo>
                  <a:lnTo>
                    <a:pt x="0" y="10971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>
                <a:extLs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5271967" y="479047"/>
              <a:ext cx="1189385" cy="1170058"/>
            </a:xfrm>
            <a:custGeom>
              <a:avLst/>
              <a:gdLst/>
              <a:ahLst/>
              <a:cxnLst/>
              <a:rect r="r" b="b" t="t" l="l"/>
              <a:pathLst>
                <a:path h="1170058" w="1189385">
                  <a:moveTo>
                    <a:pt x="0" y="0"/>
                  </a:moveTo>
                  <a:lnTo>
                    <a:pt x="1189385" y="0"/>
                  </a:lnTo>
                  <a:lnTo>
                    <a:pt x="1189385" y="1170058"/>
                  </a:lnTo>
                  <a:lnTo>
                    <a:pt x="0" y="11700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>
                <a:extLst>
                  <a:ext uri="{96DAC541-7B7A-43D3-8B79-37D633B846F1}">
                    <asvg:svgBlip xmlns:asvg="http://schemas.microsoft.com/office/drawing/2016/SVG/main" r:embed="rId19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22" id="22"/>
          <p:cNvSpPr/>
          <p:nvPr/>
        </p:nvSpPr>
        <p:spPr>
          <a:xfrm flipH="false" flipV="false" rot="0">
            <a:off x="-12562" y="9368498"/>
            <a:ext cx="890085" cy="1255638"/>
          </a:xfrm>
          <a:custGeom>
            <a:avLst/>
            <a:gdLst/>
            <a:ahLst/>
            <a:cxnLst/>
            <a:rect r="r" b="b" t="t" l="l"/>
            <a:pathLst>
              <a:path h="1255638" w="890085">
                <a:moveTo>
                  <a:pt x="0" y="0"/>
                </a:moveTo>
                <a:lnTo>
                  <a:pt x="890085" y="0"/>
                </a:lnTo>
                <a:lnTo>
                  <a:pt x="890085" y="1255638"/>
                </a:lnTo>
                <a:lnTo>
                  <a:pt x="0" y="125563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3782" t="0" r="-3782" b="0"/>
            </a:stretch>
          </a:blipFill>
        </p:spPr>
      </p:sp>
      <p:sp>
        <p:nvSpPr>
          <p:cNvPr name="Freeform 23" id="23"/>
          <p:cNvSpPr/>
          <p:nvPr/>
        </p:nvSpPr>
        <p:spPr>
          <a:xfrm flipH="true" flipV="false" rot="0">
            <a:off x="577662" y="9582925"/>
            <a:ext cx="964420" cy="1360502"/>
          </a:xfrm>
          <a:custGeom>
            <a:avLst/>
            <a:gdLst/>
            <a:ahLst/>
            <a:cxnLst/>
            <a:rect r="r" b="b" t="t" l="l"/>
            <a:pathLst>
              <a:path h="1360502" w="964420">
                <a:moveTo>
                  <a:pt x="964419" y="0"/>
                </a:moveTo>
                <a:lnTo>
                  <a:pt x="0" y="0"/>
                </a:lnTo>
                <a:lnTo>
                  <a:pt x="0" y="1360502"/>
                </a:lnTo>
                <a:lnTo>
                  <a:pt x="964419" y="1360502"/>
                </a:lnTo>
                <a:lnTo>
                  <a:pt x="964419" y="0"/>
                </a:lnTo>
                <a:close/>
              </a:path>
            </a:pathLst>
          </a:custGeom>
          <a:blipFill>
            <a:blip r:embed="rId7"/>
            <a:stretch>
              <a:fillRect l="-3782" t="0" r="-3782" b="0"/>
            </a:stretch>
          </a:blipFill>
        </p:spPr>
      </p:sp>
      <p:graphicFrame>
        <p:nvGraphicFramePr>
          <p:cNvPr name="Table 24" id="24"/>
          <p:cNvGraphicFramePr>
            <a:graphicFrameLocks noGrp="true"/>
          </p:cNvGraphicFramePr>
          <p:nvPr/>
        </p:nvGraphicFramePr>
        <p:xfrm>
          <a:off x="678153" y="5328897"/>
          <a:ext cx="9001596" cy="1921201"/>
        </p:xfrm>
        <a:graphic>
          <a:graphicData uri="http://schemas.openxmlformats.org/drawingml/2006/table">
            <a:tbl>
              <a:tblPr/>
              <a:tblGrid>
                <a:gridCol w="3853620"/>
                <a:gridCol w="1610412"/>
                <a:gridCol w="1722973"/>
                <a:gridCol w="1814591"/>
              </a:tblGrid>
              <a:tr h="4803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 b="true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Model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8101">
                      <a:solidFill>
                        <a:srgbClr val="113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8101">
                      <a:solidFill>
                        <a:srgbClr val="113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8101">
                      <a:solidFill>
                        <a:srgbClr val="113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101">
                      <a:solidFill>
                        <a:srgbClr val="113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3E2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 b="true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MAE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8101">
                      <a:solidFill>
                        <a:srgbClr val="113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6201">
                      <a:solidFill>
                        <a:srgbClr val="113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6201">
                      <a:solidFill>
                        <a:srgbClr val="113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6201">
                      <a:solidFill>
                        <a:srgbClr val="113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3E2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 b="true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RMSE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16201">
                      <a:solidFill>
                        <a:srgbClr val="113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6201">
                      <a:solidFill>
                        <a:srgbClr val="113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6201">
                      <a:solidFill>
                        <a:srgbClr val="113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6201">
                      <a:solidFill>
                        <a:srgbClr val="113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3E2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 b="true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MAPE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16201">
                      <a:solidFill>
                        <a:srgbClr val="113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6201">
                      <a:solidFill>
                        <a:srgbClr val="113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6201">
                      <a:solidFill>
                        <a:srgbClr val="113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6201">
                      <a:solidFill>
                        <a:srgbClr val="113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3E2A"/>
                    </a:solidFill>
                  </a:tcPr>
                </a:tc>
              </a:tr>
              <a:tr h="4803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79"/>
                        </a:lnSpc>
                        <a:defRPr/>
                      </a:pPr>
                      <a:r>
                        <a:rPr lang="en-US" sz="2199" b="true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Moving Average (MA-12)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16201">
                      <a:solidFill>
                        <a:srgbClr val="113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6201">
                      <a:solidFill>
                        <a:srgbClr val="113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8101">
                      <a:solidFill>
                        <a:srgbClr val="113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6201">
                      <a:solidFill>
                        <a:srgbClr val="113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1.558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16201">
                      <a:solidFill>
                        <a:srgbClr val="113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6201">
                      <a:solidFill>
                        <a:srgbClr val="113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6201">
                      <a:solidFill>
                        <a:srgbClr val="113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6201">
                      <a:solidFill>
                        <a:srgbClr val="113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1.879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16201">
                      <a:solidFill>
                        <a:srgbClr val="113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6201">
                      <a:solidFill>
                        <a:srgbClr val="113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6201">
                      <a:solidFill>
                        <a:srgbClr val="113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6201">
                      <a:solidFill>
                        <a:srgbClr val="113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1.351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16201">
                      <a:solidFill>
                        <a:srgbClr val="113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6201">
                      <a:solidFill>
                        <a:srgbClr val="113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6201">
                      <a:solidFill>
                        <a:srgbClr val="113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6201">
                      <a:solidFill>
                        <a:srgbClr val="113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03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79"/>
                        </a:lnSpc>
                        <a:defRPr/>
                      </a:pPr>
                      <a:r>
                        <a:rPr lang="en-US" sz="2199" b="true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Holt-Winters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16201">
                      <a:solidFill>
                        <a:srgbClr val="113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6201">
                      <a:solidFill>
                        <a:srgbClr val="113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6201">
                      <a:solidFill>
                        <a:srgbClr val="113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6201">
                      <a:solidFill>
                        <a:srgbClr val="113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1.345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16201">
                      <a:solidFill>
                        <a:srgbClr val="113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6201">
                      <a:solidFill>
                        <a:srgbClr val="113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6201">
                      <a:solidFill>
                        <a:srgbClr val="113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6201">
                      <a:solidFill>
                        <a:srgbClr val="113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1.501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16201">
                      <a:solidFill>
                        <a:srgbClr val="113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6201">
                      <a:solidFill>
                        <a:srgbClr val="113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6201">
                      <a:solidFill>
                        <a:srgbClr val="113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6201">
                      <a:solidFill>
                        <a:srgbClr val="113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1.169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16201">
                      <a:solidFill>
                        <a:srgbClr val="113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6201">
                      <a:solidFill>
                        <a:srgbClr val="113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6201">
                      <a:solidFill>
                        <a:srgbClr val="113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6201">
                      <a:solidFill>
                        <a:srgbClr val="113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03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79"/>
                        </a:lnSpc>
                        <a:defRPr/>
                      </a:pPr>
                      <a:r>
                        <a:rPr lang="en-US" sz="2199" b="true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SARIMA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16201">
                      <a:solidFill>
                        <a:srgbClr val="113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6201">
                      <a:solidFill>
                        <a:srgbClr val="113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6201">
                      <a:solidFill>
                        <a:srgbClr val="113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6201">
                      <a:solidFill>
                        <a:srgbClr val="113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1.330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16201">
                      <a:solidFill>
                        <a:srgbClr val="113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6201">
                      <a:solidFill>
                        <a:srgbClr val="113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6201">
                      <a:solidFill>
                        <a:srgbClr val="113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6201">
                      <a:solidFill>
                        <a:srgbClr val="113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1.521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16201">
                      <a:solidFill>
                        <a:srgbClr val="113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6201">
                      <a:solidFill>
                        <a:srgbClr val="113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6201">
                      <a:solidFill>
                        <a:srgbClr val="113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6201">
                      <a:solidFill>
                        <a:srgbClr val="113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1.157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16201">
                      <a:solidFill>
                        <a:srgbClr val="113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6201">
                      <a:solidFill>
                        <a:srgbClr val="113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6201">
                      <a:solidFill>
                        <a:srgbClr val="113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6201">
                      <a:solidFill>
                        <a:srgbClr val="113E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name="Picture 25" id="25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 rot="0">
            <a:off x="10425451" y="2278085"/>
            <a:ext cx="7126594" cy="5024624"/>
          </a:xfrm>
          <a:prstGeom prst="rect">
            <a:avLst/>
          </a:prstGeom>
        </p:spPr>
      </p:pic>
      <p:sp>
        <p:nvSpPr>
          <p:cNvPr name="AutoShape 26" id="26"/>
          <p:cNvSpPr/>
          <p:nvPr/>
        </p:nvSpPr>
        <p:spPr>
          <a:xfrm flipV="true">
            <a:off x="10209332" y="7"/>
            <a:ext cx="2414" cy="10463248"/>
          </a:xfrm>
          <a:prstGeom prst="line">
            <a:avLst/>
          </a:prstGeom>
          <a:ln cap="flat" w="57150">
            <a:solidFill>
              <a:srgbClr val="023D1E"/>
            </a:solidFill>
            <a:prstDash val="lgDash"/>
            <a:headEnd type="none" len="sm" w="sm"/>
            <a:tailEnd type="none" len="sm" w="sm"/>
          </a:ln>
        </p:spPr>
      </p:sp>
      <p:sp>
        <p:nvSpPr>
          <p:cNvPr name="TextBox 27" id="27"/>
          <p:cNvSpPr txBox="true"/>
          <p:nvPr/>
        </p:nvSpPr>
        <p:spPr>
          <a:xfrm rot="0">
            <a:off x="10754104" y="7421548"/>
            <a:ext cx="6530416" cy="10393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6"/>
              </a:lnSpc>
            </a:pPr>
            <a:r>
              <a:rPr lang="en-US" sz="1800">
                <a:solidFill>
                  <a:srgbClr val="023D1E"/>
                </a:solidFill>
                <a:latin typeface="Gordita"/>
                <a:ea typeface="Gordita"/>
                <a:cs typeface="Gordita"/>
                <a:sym typeface="Gordita"/>
              </a:rPr>
              <a:t>Evaluasi dilihat berdasarkan nilai </a:t>
            </a:r>
            <a:r>
              <a:rPr lang="en-US" sz="1800" b="true">
                <a:solidFill>
                  <a:srgbClr val="023D1E"/>
                </a:solidFill>
                <a:latin typeface="Gordita Bold"/>
                <a:ea typeface="Gordita Bold"/>
                <a:cs typeface="Gordita Bold"/>
                <a:sym typeface="Gordita Bold"/>
              </a:rPr>
              <a:t>MAPE,</a:t>
            </a:r>
            <a:r>
              <a:rPr lang="en-US" sz="1800">
                <a:solidFill>
                  <a:srgbClr val="023D1E"/>
                </a:solidFill>
                <a:latin typeface="Gordita"/>
                <a:ea typeface="Gordita"/>
                <a:cs typeface="Gordita"/>
                <a:sym typeface="Gordita"/>
              </a:rPr>
              <a:t> dimana semakin kecil nilai </a:t>
            </a:r>
            <a:r>
              <a:rPr lang="en-US" sz="1800" b="true">
                <a:solidFill>
                  <a:srgbClr val="023D1E"/>
                </a:solidFill>
                <a:latin typeface="Gordita Bold"/>
                <a:ea typeface="Gordita Bold"/>
                <a:cs typeface="Gordita Bold"/>
                <a:sym typeface="Gordita Bold"/>
              </a:rPr>
              <a:t>MAPE</a:t>
            </a:r>
            <a:r>
              <a:rPr lang="en-US" sz="1800">
                <a:solidFill>
                  <a:srgbClr val="023D1E"/>
                </a:solidFill>
                <a:latin typeface="Gordita"/>
                <a:ea typeface="Gordita"/>
                <a:cs typeface="Gordita"/>
                <a:sym typeface="Gordita"/>
              </a:rPr>
              <a:t> yang dihasilkan maka tingkat kesalahan prediksi semakin kecil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576232" y="1088452"/>
            <a:ext cx="2352085" cy="2646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40"/>
              </a:lnSpc>
              <a:spcBef>
                <a:spcPct val="0"/>
              </a:spcBef>
            </a:pPr>
            <a:r>
              <a:rPr lang="en-US" sz="2000">
                <a:solidFill>
                  <a:srgbClr val="023D1E"/>
                </a:solidFill>
                <a:latin typeface="Gordita"/>
                <a:ea typeface="Gordita"/>
                <a:cs typeface="Gordita"/>
                <a:sym typeface="Gordita"/>
              </a:rPr>
              <a:t>Salford &amp; Co.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764760" y="4621343"/>
            <a:ext cx="5412581" cy="304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80"/>
              </a:lnSpc>
            </a:pPr>
            <a:r>
              <a:rPr lang="en-US" sz="2000" b="true">
                <a:solidFill>
                  <a:srgbClr val="023D1E"/>
                </a:solidFill>
                <a:latin typeface="Gordita Bold"/>
                <a:ea typeface="Gordita Bold"/>
                <a:cs typeface="Gordita Bold"/>
                <a:sym typeface="Gordita Bold"/>
              </a:rPr>
              <a:t>Moving Average, Holt-Winters, SARIMA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678153" y="7431073"/>
            <a:ext cx="9001596" cy="1897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304811"/>
                </a:solidFill>
                <a:latin typeface="Poppins Bold"/>
                <a:ea typeface="Poppins Bold"/>
                <a:cs typeface="Poppins Bold"/>
                <a:sym typeface="Poppins Bold"/>
              </a:rPr>
              <a:t>SARI</a:t>
            </a:r>
            <a:r>
              <a:rPr lang="en-US" b="true" sz="1800">
                <a:solidFill>
                  <a:srgbClr val="304811"/>
                </a:solidFill>
                <a:latin typeface="Poppins Bold"/>
                <a:ea typeface="Poppins Bold"/>
                <a:cs typeface="Poppins Bold"/>
                <a:sym typeface="Poppins Bold"/>
              </a:rPr>
              <a:t>MA</a:t>
            </a:r>
            <a:r>
              <a:rPr lang="en-US" sz="1800">
                <a:solidFill>
                  <a:srgbClr val="304811"/>
                </a:solidFill>
                <a:latin typeface="Poppins"/>
                <a:ea typeface="Poppins"/>
                <a:cs typeface="Poppins"/>
                <a:sym typeface="Poppins"/>
              </a:rPr>
              <a:t> menjadi </a:t>
            </a:r>
            <a:r>
              <a:rPr lang="en-US" b="true" sz="1800">
                <a:solidFill>
                  <a:srgbClr val="304811"/>
                </a:solidFill>
                <a:latin typeface="Poppins Bold"/>
                <a:ea typeface="Poppins Bold"/>
                <a:cs typeface="Poppins Bold"/>
                <a:sym typeface="Poppins Bold"/>
              </a:rPr>
              <a:t>model terbaik</a:t>
            </a:r>
            <a:r>
              <a:rPr lang="en-US" sz="1800">
                <a:solidFill>
                  <a:srgbClr val="304811"/>
                </a:solidFill>
                <a:latin typeface="Poppins"/>
                <a:ea typeface="Poppins"/>
                <a:cs typeface="Poppins"/>
                <a:sym typeface="Poppins"/>
              </a:rPr>
              <a:t> dengan MAPE terendah </a:t>
            </a:r>
            <a:r>
              <a:rPr lang="en-US" b="true" sz="1800">
                <a:solidFill>
                  <a:srgbClr val="304811"/>
                </a:solidFill>
                <a:latin typeface="Poppins Bold"/>
                <a:ea typeface="Poppins Bold"/>
                <a:cs typeface="Poppins Bold"/>
                <a:sym typeface="Poppins Bold"/>
              </a:rPr>
              <a:t>(1,157%),</a:t>
            </a:r>
            <a:r>
              <a:rPr lang="en-US" sz="1800">
                <a:solidFill>
                  <a:srgbClr val="304811"/>
                </a:solidFill>
                <a:latin typeface="Poppins"/>
                <a:ea typeface="Poppins"/>
                <a:cs typeface="Poppins"/>
                <a:sym typeface="Poppins"/>
              </a:rPr>
              <a:t> menunjukkan tingkat kesalahan prediksi paling kecil dibandingkan </a:t>
            </a:r>
            <a:r>
              <a:rPr lang="en-US" sz="1800">
                <a:solidFill>
                  <a:srgbClr val="304811"/>
                </a:solidFill>
                <a:latin typeface="Poppins"/>
                <a:ea typeface="Poppins"/>
                <a:cs typeface="Poppins"/>
                <a:sym typeface="Poppins"/>
              </a:rPr>
              <a:t>Holt-Winters </a:t>
            </a:r>
            <a:r>
              <a:rPr lang="en-US" sz="1800">
                <a:solidFill>
                  <a:srgbClr val="304811"/>
                </a:solidFill>
                <a:latin typeface="Poppins"/>
                <a:ea typeface="Poppins"/>
                <a:cs typeface="Poppins"/>
                <a:sym typeface="Poppins"/>
              </a:rPr>
              <a:t>dan Moving Average (MA-12). </a:t>
            </a:r>
          </a:p>
          <a:p>
            <a:pPr algn="just">
              <a:lnSpc>
                <a:spcPts val="2520"/>
              </a:lnSpc>
              <a:spcBef>
                <a:spcPct val="0"/>
              </a:spcBef>
            </a:pPr>
          </a:p>
          <a:p>
            <a:pPr algn="just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304811"/>
                </a:solidFill>
                <a:latin typeface="Poppins"/>
                <a:ea typeface="Poppins"/>
                <a:cs typeface="Poppins"/>
                <a:sym typeface="Poppins"/>
              </a:rPr>
              <a:t>Dengan akurasi yang lebih tinggi, SARIMA dipilih sebagai </a:t>
            </a:r>
            <a:r>
              <a:rPr lang="en-US" b="true" sz="1800">
                <a:solidFill>
                  <a:srgbClr val="304811"/>
                </a:solidFill>
                <a:latin typeface="Poppins Bold"/>
                <a:ea typeface="Poppins Bold"/>
                <a:cs typeface="Poppins Bold"/>
                <a:sym typeface="Poppins Bold"/>
              </a:rPr>
              <a:t>model terbaik untuk memprediksi NTP Jawa Tengah.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400000">
            <a:off x="10981884" y="3386056"/>
            <a:ext cx="6565486" cy="6565486"/>
          </a:xfrm>
          <a:custGeom>
            <a:avLst/>
            <a:gdLst/>
            <a:ahLst/>
            <a:cxnLst/>
            <a:rect r="r" b="b" t="t" l="l"/>
            <a:pathLst>
              <a:path h="6565486" w="6565486">
                <a:moveTo>
                  <a:pt x="0" y="0"/>
                </a:moveTo>
                <a:lnTo>
                  <a:pt x="6565486" y="0"/>
                </a:lnTo>
                <a:lnTo>
                  <a:pt x="6565486" y="6565486"/>
                </a:lnTo>
                <a:lnTo>
                  <a:pt x="0" y="656548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9000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12196187" y="-2242850"/>
            <a:ext cx="8488516" cy="5549367"/>
          </a:xfrm>
          <a:custGeom>
            <a:avLst/>
            <a:gdLst/>
            <a:ahLst/>
            <a:cxnLst/>
            <a:rect r="r" b="b" t="t" l="l"/>
            <a:pathLst>
              <a:path h="5549367" w="8488516">
                <a:moveTo>
                  <a:pt x="8488516" y="5549367"/>
                </a:moveTo>
                <a:lnTo>
                  <a:pt x="0" y="5549367"/>
                </a:lnTo>
                <a:lnTo>
                  <a:pt x="0" y="0"/>
                </a:lnTo>
                <a:lnTo>
                  <a:pt x="8488516" y="0"/>
                </a:lnTo>
                <a:lnTo>
                  <a:pt x="8488516" y="5549367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6579221" y="4808634"/>
            <a:ext cx="11233933" cy="4001155"/>
          </a:xfrm>
          <a:custGeom>
            <a:avLst/>
            <a:gdLst/>
            <a:ahLst/>
            <a:cxnLst/>
            <a:rect r="r" b="b" t="t" l="l"/>
            <a:pathLst>
              <a:path h="4001155" w="11233933">
                <a:moveTo>
                  <a:pt x="11233933" y="0"/>
                </a:moveTo>
                <a:lnTo>
                  <a:pt x="0" y="0"/>
                </a:lnTo>
                <a:lnTo>
                  <a:pt x="0" y="4001155"/>
                </a:lnTo>
                <a:lnTo>
                  <a:pt x="11233933" y="4001155"/>
                </a:lnTo>
                <a:lnTo>
                  <a:pt x="11233933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-50758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0696059" y="4573288"/>
            <a:ext cx="324010" cy="324010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7C03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114300"/>
              <a:ext cx="660400" cy="622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true" flipV="false" rot="0">
            <a:off x="7551154" y="3657640"/>
            <a:ext cx="1029170" cy="1349732"/>
          </a:xfrm>
          <a:custGeom>
            <a:avLst/>
            <a:gdLst/>
            <a:ahLst/>
            <a:cxnLst/>
            <a:rect r="r" b="b" t="t" l="l"/>
            <a:pathLst>
              <a:path h="1349732" w="1029170">
                <a:moveTo>
                  <a:pt x="1029170" y="0"/>
                </a:moveTo>
                <a:lnTo>
                  <a:pt x="0" y="0"/>
                </a:lnTo>
                <a:lnTo>
                  <a:pt x="0" y="1349732"/>
                </a:lnTo>
                <a:lnTo>
                  <a:pt x="1029170" y="1349732"/>
                </a:lnTo>
                <a:lnTo>
                  <a:pt x="102917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1028700" y="4112841"/>
            <a:ext cx="9556282" cy="4901020"/>
            <a:chOff x="0" y="0"/>
            <a:chExt cx="12741710" cy="6534694"/>
          </a:xfrm>
        </p:grpSpPr>
        <p:grpSp>
          <p:nvGrpSpPr>
            <p:cNvPr name="Group 11" id="11"/>
            <p:cNvGrpSpPr/>
            <p:nvPr/>
          </p:nvGrpSpPr>
          <p:grpSpPr>
            <a:xfrm rot="0">
              <a:off x="0" y="0"/>
              <a:ext cx="12741710" cy="6534694"/>
              <a:chOff x="0" y="0"/>
              <a:chExt cx="360441" cy="184855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360441" cy="184855"/>
              </a:xfrm>
              <a:custGeom>
                <a:avLst/>
                <a:gdLst/>
                <a:ahLst/>
                <a:cxnLst/>
                <a:rect r="r" b="b" t="t" l="l"/>
                <a:pathLst>
                  <a:path h="184855" w="360441">
                    <a:moveTo>
                      <a:pt x="11695" y="0"/>
                    </a:moveTo>
                    <a:lnTo>
                      <a:pt x="348745" y="0"/>
                    </a:lnTo>
                    <a:cubicBezTo>
                      <a:pt x="351847" y="0"/>
                      <a:pt x="354822" y="1232"/>
                      <a:pt x="357015" y="3425"/>
                    </a:cubicBezTo>
                    <a:cubicBezTo>
                      <a:pt x="359209" y="5619"/>
                      <a:pt x="360441" y="8594"/>
                      <a:pt x="360441" y="11695"/>
                    </a:cubicBezTo>
                    <a:lnTo>
                      <a:pt x="360441" y="173160"/>
                    </a:lnTo>
                    <a:cubicBezTo>
                      <a:pt x="360441" y="179619"/>
                      <a:pt x="355205" y="184855"/>
                      <a:pt x="348745" y="184855"/>
                    </a:cubicBezTo>
                    <a:lnTo>
                      <a:pt x="11695" y="184855"/>
                    </a:lnTo>
                    <a:cubicBezTo>
                      <a:pt x="5236" y="184855"/>
                      <a:pt x="0" y="179619"/>
                      <a:pt x="0" y="173160"/>
                    </a:cubicBezTo>
                    <a:lnTo>
                      <a:pt x="0" y="11695"/>
                    </a:lnTo>
                    <a:cubicBezTo>
                      <a:pt x="0" y="5236"/>
                      <a:pt x="5236" y="0"/>
                      <a:pt x="11695" y="0"/>
                    </a:cubicBezTo>
                    <a:close/>
                  </a:path>
                </a:pathLst>
              </a:custGeom>
              <a:solidFill>
                <a:srgbClr val="113E2A"/>
              </a:solidFill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57150"/>
                <a:ext cx="360441" cy="242005"/>
              </a:xfrm>
              <a:prstGeom prst="rect">
                <a:avLst/>
              </a:prstGeom>
            </p:spPr>
            <p:txBody>
              <a:bodyPr anchor="ctr" rtlCol="false" tIns="43203" lIns="43203" bIns="43203" rIns="43203"/>
              <a:lstStyle/>
              <a:p>
                <a:pPr algn="ctr">
                  <a:lnSpc>
                    <a:spcPts val="3101"/>
                  </a:lnSpc>
                </a:pPr>
              </a:p>
            </p:txBody>
          </p:sp>
        </p:grpSp>
        <p:sp>
          <p:nvSpPr>
            <p:cNvPr name="TextBox 14" id="14"/>
            <p:cNvSpPr txBox="true"/>
            <p:nvPr/>
          </p:nvSpPr>
          <p:spPr>
            <a:xfrm rot="0">
              <a:off x="915911" y="41137"/>
              <a:ext cx="10909888" cy="5478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318"/>
                </a:lnSpc>
                <a:spcBef>
                  <a:spcPct val="0"/>
                </a:spcBef>
              </a:pPr>
              <a:r>
                <a:rPr lang="en-US" b="true" sz="2370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Proyeksi NTP Jawa Tengah — Mei s/d Desember 2026 </a:t>
              </a:r>
            </a:p>
          </p:txBody>
        </p:sp>
        <p:sp>
          <p:nvSpPr>
            <p:cNvPr name="Freeform 15" id="15"/>
            <p:cNvSpPr/>
            <p:nvPr/>
          </p:nvSpPr>
          <p:spPr>
            <a:xfrm flipH="false" flipV="false" rot="0">
              <a:off x="119609" y="644203"/>
              <a:ext cx="12494056" cy="5765917"/>
            </a:xfrm>
            <a:custGeom>
              <a:avLst/>
              <a:gdLst/>
              <a:ahLst/>
              <a:cxnLst/>
              <a:rect r="r" b="b" t="t" l="l"/>
              <a:pathLst>
                <a:path h="5765917" w="12494056">
                  <a:moveTo>
                    <a:pt x="0" y="0"/>
                  </a:moveTo>
                  <a:lnTo>
                    <a:pt x="12494056" y="0"/>
                  </a:lnTo>
                  <a:lnTo>
                    <a:pt x="12494056" y="5765917"/>
                  </a:lnTo>
                  <a:lnTo>
                    <a:pt x="0" y="57659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-6718" r="0" b="0"/>
              </a:stretch>
            </a:blipFill>
          </p:spPr>
        </p:sp>
      </p:grpSp>
      <p:sp>
        <p:nvSpPr>
          <p:cNvPr name="Freeform 16" id="16"/>
          <p:cNvSpPr/>
          <p:nvPr/>
        </p:nvSpPr>
        <p:spPr>
          <a:xfrm flipH="false" flipV="false" rot="0">
            <a:off x="11289374" y="4990246"/>
            <a:ext cx="339829" cy="497008"/>
          </a:xfrm>
          <a:custGeom>
            <a:avLst/>
            <a:gdLst/>
            <a:ahLst/>
            <a:cxnLst/>
            <a:rect r="r" b="b" t="t" l="l"/>
            <a:pathLst>
              <a:path h="497008" w="339829">
                <a:moveTo>
                  <a:pt x="0" y="0"/>
                </a:moveTo>
                <a:lnTo>
                  <a:pt x="339829" y="0"/>
                </a:lnTo>
                <a:lnTo>
                  <a:pt x="339829" y="497008"/>
                </a:lnTo>
                <a:lnTo>
                  <a:pt x="0" y="49700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11178527" y="1487188"/>
            <a:ext cx="6368843" cy="3086100"/>
            <a:chOff x="0" y="0"/>
            <a:chExt cx="1677391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677391" cy="812800"/>
            </a:xfrm>
            <a:custGeom>
              <a:avLst/>
              <a:gdLst/>
              <a:ahLst/>
              <a:cxnLst/>
              <a:rect r="r" b="b" t="t" l="l"/>
              <a:pathLst>
                <a:path h="812800" w="1677391">
                  <a:moveTo>
                    <a:pt x="20665" y="0"/>
                  </a:moveTo>
                  <a:lnTo>
                    <a:pt x="1656726" y="0"/>
                  </a:lnTo>
                  <a:cubicBezTo>
                    <a:pt x="1662206" y="0"/>
                    <a:pt x="1667463" y="2177"/>
                    <a:pt x="1671338" y="6053"/>
                  </a:cubicBezTo>
                  <a:cubicBezTo>
                    <a:pt x="1675214" y="9928"/>
                    <a:pt x="1677391" y="15184"/>
                    <a:pt x="1677391" y="20665"/>
                  </a:cubicBezTo>
                  <a:lnTo>
                    <a:pt x="1677391" y="792135"/>
                  </a:lnTo>
                  <a:cubicBezTo>
                    <a:pt x="1677391" y="797616"/>
                    <a:pt x="1675214" y="802872"/>
                    <a:pt x="1671338" y="806747"/>
                  </a:cubicBezTo>
                  <a:cubicBezTo>
                    <a:pt x="1667463" y="810623"/>
                    <a:pt x="1662206" y="812800"/>
                    <a:pt x="1656726" y="812800"/>
                  </a:cubicBezTo>
                  <a:lnTo>
                    <a:pt x="20665" y="812800"/>
                  </a:lnTo>
                  <a:cubicBezTo>
                    <a:pt x="15184" y="812800"/>
                    <a:pt x="9928" y="810623"/>
                    <a:pt x="6053" y="806747"/>
                  </a:cubicBezTo>
                  <a:cubicBezTo>
                    <a:pt x="2177" y="802872"/>
                    <a:pt x="0" y="797616"/>
                    <a:pt x="0" y="792135"/>
                  </a:cubicBezTo>
                  <a:lnTo>
                    <a:pt x="0" y="20665"/>
                  </a:lnTo>
                  <a:cubicBezTo>
                    <a:pt x="0" y="15184"/>
                    <a:pt x="2177" y="9928"/>
                    <a:pt x="6053" y="6053"/>
                  </a:cubicBezTo>
                  <a:cubicBezTo>
                    <a:pt x="9928" y="2177"/>
                    <a:pt x="15184" y="0"/>
                    <a:pt x="20665" y="0"/>
                  </a:cubicBezTo>
                  <a:close/>
                </a:path>
              </a:pathLst>
            </a:custGeom>
            <a:solidFill>
              <a:srgbClr val="113E2A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38100"/>
              <a:ext cx="1677391" cy="774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40"/>
                </a:lnSpc>
              </a:pPr>
            </a:p>
          </p:txBody>
        </p:sp>
      </p:grpSp>
      <p:sp>
        <p:nvSpPr>
          <p:cNvPr name="AutoShape 20" id="20"/>
          <p:cNvSpPr/>
          <p:nvPr/>
        </p:nvSpPr>
        <p:spPr>
          <a:xfrm flipH="true">
            <a:off x="14362948" y="1685217"/>
            <a:ext cx="0" cy="2647289"/>
          </a:xfrm>
          <a:prstGeom prst="line">
            <a:avLst/>
          </a:prstGeom>
          <a:ln cap="flat" w="38100">
            <a:solidFill>
              <a:srgbClr val="FABE22">
                <a:alpha val="40784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1" id="21"/>
          <p:cNvSpPr txBox="true"/>
          <p:nvPr/>
        </p:nvSpPr>
        <p:spPr>
          <a:xfrm rot="0">
            <a:off x="1028700" y="1986550"/>
            <a:ext cx="9829364" cy="13199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21"/>
              </a:lnSpc>
            </a:pPr>
            <a:r>
              <a:rPr lang="en-US" sz="9824" b="true">
                <a:solidFill>
                  <a:srgbClr val="FFFFFF"/>
                </a:solidFill>
                <a:latin typeface="Gordita Bold"/>
                <a:ea typeface="Gordita Bold"/>
                <a:cs typeface="Gordita Bold"/>
                <a:sym typeface="Gordita Bold"/>
              </a:rPr>
              <a:t>Proyeksi NTP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41755" y="3411292"/>
            <a:ext cx="3416370" cy="465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85"/>
              </a:lnSpc>
            </a:pPr>
            <a:r>
              <a:rPr lang="en-US" sz="3774" i="true">
                <a:solidFill>
                  <a:srgbClr val="F7C03F"/>
                </a:solidFill>
                <a:latin typeface="Gordita Italics"/>
                <a:ea typeface="Gordita Italics"/>
                <a:cs typeface="Gordita Italics"/>
                <a:sym typeface="Gordita Italics"/>
              </a:rPr>
              <a:t>Jawa Tengah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858064" y="5888582"/>
            <a:ext cx="6171701" cy="2526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520"/>
              </a:lnSpc>
              <a:spcBef>
                <a:spcPct val="0"/>
              </a:spcBef>
            </a:pPr>
          </a:p>
          <a:p>
            <a:pPr algn="just" marL="388620" indent="-194310" lvl="1">
              <a:lnSpc>
                <a:spcPts val="252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1800">
                <a:solidFill>
                  <a:srgbClr val="304811"/>
                </a:solidFill>
                <a:latin typeface="Poppins Bold"/>
                <a:ea typeface="Poppins Bold"/>
                <a:cs typeface="Poppins Bold"/>
                <a:sym typeface="Poppins Bold"/>
              </a:rPr>
              <a:t>Mei 2026–Desember 2027: NTP diproyeksikan meningkat dari 114,9 menjadi 118,6.</a:t>
            </a:r>
          </a:p>
          <a:p>
            <a:pPr algn="just" marL="388620" indent="-194310" lvl="1">
              <a:lnSpc>
                <a:spcPts val="252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1800">
                <a:solidFill>
                  <a:srgbClr val="304811"/>
                </a:solidFill>
                <a:latin typeface="Poppins Bold"/>
                <a:ea typeface="Poppins Bold"/>
                <a:cs typeface="Poppins Bold"/>
                <a:sym typeface="Poppins Bold"/>
              </a:rPr>
              <a:t>Tren pertumbuhan positif dan relatif stabil.</a:t>
            </a:r>
          </a:p>
          <a:p>
            <a:pPr algn="just" marL="388620" indent="-194310" lvl="1">
              <a:lnSpc>
                <a:spcPts val="252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1800">
                <a:solidFill>
                  <a:srgbClr val="304811"/>
                </a:solidFill>
                <a:latin typeface="Poppins Bold"/>
                <a:ea typeface="Poppins Bold"/>
                <a:cs typeface="Poppins Bold"/>
                <a:sym typeface="Poppins Bold"/>
              </a:rPr>
              <a:t>Interval prediksi menunjukkan adanya ketidakpastian, namun tren utama tetap meningkat.</a:t>
            </a:r>
          </a:p>
          <a:p>
            <a:pPr algn="just">
              <a:lnSpc>
                <a:spcPts val="2520"/>
              </a:lnSpc>
              <a:spcBef>
                <a:spcPct val="0"/>
              </a:spcBef>
            </a:pPr>
          </a:p>
        </p:txBody>
      </p:sp>
      <p:sp>
        <p:nvSpPr>
          <p:cNvPr name="TextBox 24" id="24"/>
          <p:cNvSpPr txBox="true"/>
          <p:nvPr/>
        </p:nvSpPr>
        <p:spPr>
          <a:xfrm rot="0">
            <a:off x="11768006" y="5068882"/>
            <a:ext cx="2373321" cy="3276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89"/>
              </a:lnSpc>
              <a:spcBef>
                <a:spcPct val="0"/>
              </a:spcBef>
            </a:pPr>
            <a:r>
              <a:rPr lang="en-US" b="true" sz="2440">
                <a:solidFill>
                  <a:srgbClr val="025A2C"/>
                </a:solidFill>
                <a:latin typeface="Gordita Bold"/>
                <a:ea typeface="Gordita Bold"/>
                <a:cs typeface="Gordita Bold"/>
                <a:sym typeface="Gordita Bold"/>
              </a:rPr>
              <a:t>Hasil Proyeksi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1714928" y="1808356"/>
            <a:ext cx="2228986" cy="1304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0177"/>
              </a:lnSpc>
              <a:spcBef>
                <a:spcPct val="0"/>
              </a:spcBef>
            </a:pPr>
            <a:r>
              <a:rPr lang="en-US" b="true" sz="7269">
                <a:solidFill>
                  <a:srgbClr val="F7C03F"/>
                </a:solidFill>
                <a:latin typeface="Poppins Bold"/>
                <a:ea typeface="Poppins Bold"/>
                <a:cs typeface="Poppins Bold"/>
                <a:sym typeface="Poppins Bold"/>
              </a:rPr>
              <a:t>114,9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4807480" y="1852861"/>
            <a:ext cx="2228986" cy="1304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0177"/>
              </a:lnSpc>
              <a:spcBef>
                <a:spcPct val="0"/>
              </a:spcBef>
            </a:pPr>
            <a:r>
              <a:rPr lang="en-US" b="true" sz="7269">
                <a:solidFill>
                  <a:srgbClr val="F7C03F"/>
                </a:solidFill>
                <a:latin typeface="Poppins Bold"/>
                <a:ea typeface="Poppins Bold"/>
                <a:cs typeface="Poppins Bold"/>
                <a:sym typeface="Poppins Bold"/>
              </a:rPr>
              <a:t>118,6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1629203" y="3616104"/>
            <a:ext cx="2152596" cy="640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Titik awal proyeksi</a:t>
            </a:r>
          </a:p>
          <a:p>
            <a:pPr algn="just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(Mei 2026)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4807480" y="3600490"/>
            <a:ext cx="2152596" cy="640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Titik akhir</a:t>
            </a:r>
          </a:p>
          <a:p>
            <a:pPr algn="just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(Desember 2027)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943331" y="2821873"/>
            <a:ext cx="410111" cy="410111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7C03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43239" y="749972"/>
            <a:ext cx="9312336" cy="9373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42"/>
              </a:lnSpc>
            </a:pPr>
            <a:r>
              <a:rPr lang="en-US" sz="6904" b="true">
                <a:solidFill>
                  <a:srgbClr val="025A2C"/>
                </a:solidFill>
                <a:latin typeface="Gordita Bold"/>
                <a:ea typeface="Gordita Bold"/>
                <a:cs typeface="Gordita Bold"/>
                <a:sym typeface="Gordita Bold"/>
              </a:rPr>
              <a:t>Langkah Strategis</a:t>
            </a:r>
          </a:p>
        </p:txBody>
      </p:sp>
      <p:sp>
        <p:nvSpPr>
          <p:cNvPr name="Freeform 6" id="6"/>
          <p:cNvSpPr/>
          <p:nvPr/>
        </p:nvSpPr>
        <p:spPr>
          <a:xfrm flipH="true" flipV="false" rot="0">
            <a:off x="15577047" y="2931023"/>
            <a:ext cx="639075" cy="838132"/>
          </a:xfrm>
          <a:custGeom>
            <a:avLst/>
            <a:gdLst/>
            <a:ahLst/>
            <a:cxnLst/>
            <a:rect r="r" b="b" t="t" l="l"/>
            <a:pathLst>
              <a:path h="838132" w="639075">
                <a:moveTo>
                  <a:pt x="639076" y="0"/>
                </a:moveTo>
                <a:lnTo>
                  <a:pt x="0" y="0"/>
                </a:lnTo>
                <a:lnTo>
                  <a:pt x="0" y="838131"/>
                </a:lnTo>
                <a:lnTo>
                  <a:pt x="639076" y="838131"/>
                </a:lnTo>
                <a:lnTo>
                  <a:pt x="639076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213740" y="635672"/>
            <a:ext cx="9893943" cy="3326838"/>
          </a:xfrm>
          <a:custGeom>
            <a:avLst/>
            <a:gdLst/>
            <a:ahLst/>
            <a:cxnLst/>
            <a:rect r="r" b="b" t="t" l="l"/>
            <a:pathLst>
              <a:path h="3326838" w="9893943">
                <a:moveTo>
                  <a:pt x="0" y="0"/>
                </a:moveTo>
                <a:lnTo>
                  <a:pt x="9893943" y="0"/>
                </a:lnTo>
                <a:lnTo>
                  <a:pt x="9893943" y="3326838"/>
                </a:lnTo>
                <a:lnTo>
                  <a:pt x="0" y="332683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8" id="8"/>
          <p:cNvSpPr/>
          <p:nvPr/>
        </p:nvSpPr>
        <p:spPr>
          <a:xfrm flipH="true" flipV="true" rot="0">
            <a:off x="10548275" y="-405867"/>
            <a:ext cx="8488516" cy="5549367"/>
          </a:xfrm>
          <a:custGeom>
            <a:avLst/>
            <a:gdLst/>
            <a:ahLst/>
            <a:cxnLst/>
            <a:rect r="r" b="b" t="t" l="l"/>
            <a:pathLst>
              <a:path h="5549367" w="8488516">
                <a:moveTo>
                  <a:pt x="8488516" y="5549367"/>
                </a:moveTo>
                <a:lnTo>
                  <a:pt x="0" y="5549367"/>
                </a:lnTo>
                <a:lnTo>
                  <a:pt x="0" y="0"/>
                </a:lnTo>
                <a:lnTo>
                  <a:pt x="8488516" y="0"/>
                </a:lnTo>
                <a:lnTo>
                  <a:pt x="8488516" y="5549367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028700" y="1964438"/>
            <a:ext cx="5105400" cy="3552283"/>
            <a:chOff x="0" y="0"/>
            <a:chExt cx="1344632" cy="93558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344632" cy="935581"/>
            </a:xfrm>
            <a:custGeom>
              <a:avLst/>
              <a:gdLst/>
              <a:ahLst/>
              <a:cxnLst/>
              <a:rect r="r" b="b" t="t" l="l"/>
              <a:pathLst>
                <a:path h="935581" w="1344632">
                  <a:moveTo>
                    <a:pt x="31845" y="0"/>
                  </a:moveTo>
                  <a:lnTo>
                    <a:pt x="1312787" y="0"/>
                  </a:lnTo>
                  <a:cubicBezTo>
                    <a:pt x="1330375" y="0"/>
                    <a:pt x="1344632" y="14257"/>
                    <a:pt x="1344632" y="31845"/>
                  </a:cubicBezTo>
                  <a:lnTo>
                    <a:pt x="1344632" y="903736"/>
                  </a:lnTo>
                  <a:cubicBezTo>
                    <a:pt x="1344632" y="921323"/>
                    <a:pt x="1330375" y="935581"/>
                    <a:pt x="1312787" y="935581"/>
                  </a:cubicBezTo>
                  <a:lnTo>
                    <a:pt x="31845" y="935581"/>
                  </a:lnTo>
                  <a:cubicBezTo>
                    <a:pt x="14257" y="935581"/>
                    <a:pt x="0" y="921323"/>
                    <a:pt x="0" y="903736"/>
                  </a:cubicBezTo>
                  <a:lnTo>
                    <a:pt x="0" y="31845"/>
                  </a:lnTo>
                  <a:cubicBezTo>
                    <a:pt x="0" y="14257"/>
                    <a:pt x="14257" y="0"/>
                    <a:pt x="31845" y="0"/>
                  </a:cubicBezTo>
                  <a:close/>
                </a:path>
              </a:pathLst>
            </a:custGeom>
            <a:solidFill>
              <a:srgbClr val="FFFFFF">
                <a:alpha val="40784"/>
              </a:srgbClr>
            </a:solidFill>
            <a:ln w="38100" cap="rnd">
              <a:solidFill>
                <a:srgbClr val="808080">
                  <a:alpha val="40784"/>
                </a:srgbClr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38100"/>
              <a:ext cx="1344632" cy="8974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40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6591300" y="1964438"/>
            <a:ext cx="5105400" cy="3552283"/>
            <a:chOff x="0" y="0"/>
            <a:chExt cx="1344632" cy="93558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344632" cy="935581"/>
            </a:xfrm>
            <a:custGeom>
              <a:avLst/>
              <a:gdLst/>
              <a:ahLst/>
              <a:cxnLst/>
              <a:rect r="r" b="b" t="t" l="l"/>
              <a:pathLst>
                <a:path h="935581" w="1344632">
                  <a:moveTo>
                    <a:pt x="31845" y="0"/>
                  </a:moveTo>
                  <a:lnTo>
                    <a:pt x="1312787" y="0"/>
                  </a:lnTo>
                  <a:cubicBezTo>
                    <a:pt x="1330375" y="0"/>
                    <a:pt x="1344632" y="14257"/>
                    <a:pt x="1344632" y="31845"/>
                  </a:cubicBezTo>
                  <a:lnTo>
                    <a:pt x="1344632" y="903736"/>
                  </a:lnTo>
                  <a:cubicBezTo>
                    <a:pt x="1344632" y="921323"/>
                    <a:pt x="1330375" y="935581"/>
                    <a:pt x="1312787" y="935581"/>
                  </a:cubicBezTo>
                  <a:lnTo>
                    <a:pt x="31845" y="935581"/>
                  </a:lnTo>
                  <a:cubicBezTo>
                    <a:pt x="14257" y="935581"/>
                    <a:pt x="0" y="921323"/>
                    <a:pt x="0" y="903736"/>
                  </a:cubicBezTo>
                  <a:lnTo>
                    <a:pt x="0" y="31845"/>
                  </a:lnTo>
                  <a:cubicBezTo>
                    <a:pt x="0" y="14257"/>
                    <a:pt x="14257" y="0"/>
                    <a:pt x="31845" y="0"/>
                  </a:cubicBezTo>
                  <a:close/>
                </a:path>
              </a:pathLst>
            </a:custGeom>
            <a:solidFill>
              <a:srgbClr val="FFFFFF">
                <a:alpha val="40784"/>
              </a:srgbClr>
            </a:solidFill>
            <a:ln w="38100" cap="rnd">
              <a:solidFill>
                <a:srgbClr val="808080">
                  <a:alpha val="40784"/>
                </a:srgbClr>
              </a:solidFill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38100"/>
              <a:ext cx="1344632" cy="8974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40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153900" y="1964438"/>
            <a:ext cx="5105400" cy="3552283"/>
            <a:chOff x="0" y="0"/>
            <a:chExt cx="1344632" cy="93558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344632" cy="935581"/>
            </a:xfrm>
            <a:custGeom>
              <a:avLst/>
              <a:gdLst/>
              <a:ahLst/>
              <a:cxnLst/>
              <a:rect r="r" b="b" t="t" l="l"/>
              <a:pathLst>
                <a:path h="935581" w="1344632">
                  <a:moveTo>
                    <a:pt x="31845" y="0"/>
                  </a:moveTo>
                  <a:lnTo>
                    <a:pt x="1312787" y="0"/>
                  </a:lnTo>
                  <a:cubicBezTo>
                    <a:pt x="1330375" y="0"/>
                    <a:pt x="1344632" y="14257"/>
                    <a:pt x="1344632" y="31845"/>
                  </a:cubicBezTo>
                  <a:lnTo>
                    <a:pt x="1344632" y="903736"/>
                  </a:lnTo>
                  <a:cubicBezTo>
                    <a:pt x="1344632" y="921323"/>
                    <a:pt x="1330375" y="935581"/>
                    <a:pt x="1312787" y="935581"/>
                  </a:cubicBezTo>
                  <a:lnTo>
                    <a:pt x="31845" y="935581"/>
                  </a:lnTo>
                  <a:cubicBezTo>
                    <a:pt x="14257" y="935581"/>
                    <a:pt x="0" y="921323"/>
                    <a:pt x="0" y="903736"/>
                  </a:cubicBezTo>
                  <a:lnTo>
                    <a:pt x="0" y="31845"/>
                  </a:lnTo>
                  <a:cubicBezTo>
                    <a:pt x="0" y="14257"/>
                    <a:pt x="14257" y="0"/>
                    <a:pt x="31845" y="0"/>
                  </a:cubicBezTo>
                  <a:close/>
                </a:path>
              </a:pathLst>
            </a:custGeom>
            <a:solidFill>
              <a:srgbClr val="FFFFFF">
                <a:alpha val="40784"/>
              </a:srgbClr>
            </a:solidFill>
            <a:ln w="38100" cap="rnd">
              <a:solidFill>
                <a:srgbClr val="808080">
                  <a:alpha val="40784"/>
                </a:srgbClr>
              </a:solidFill>
              <a:prstDash val="solid"/>
              <a:round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38100"/>
              <a:ext cx="1344632" cy="8974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40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9350537" y="1209675"/>
            <a:ext cx="3865816" cy="334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63"/>
              </a:lnSpc>
            </a:pPr>
            <a:r>
              <a:rPr lang="en-US" sz="2593" i="true">
                <a:solidFill>
                  <a:srgbClr val="023D1E"/>
                </a:solidFill>
                <a:latin typeface="Gordita Italics"/>
                <a:ea typeface="Gordita Italics"/>
                <a:cs typeface="Gordita Italics"/>
                <a:sym typeface="Gordita Italics"/>
              </a:rPr>
              <a:t>/ Rekomendasi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3094537" y="2230547"/>
            <a:ext cx="951340" cy="951340"/>
            <a:chOff x="0" y="0"/>
            <a:chExt cx="1268454" cy="1268454"/>
          </a:xfrm>
        </p:grpSpPr>
        <p:grpSp>
          <p:nvGrpSpPr>
            <p:cNvPr name="Group 20" id="20"/>
            <p:cNvGrpSpPr/>
            <p:nvPr/>
          </p:nvGrpSpPr>
          <p:grpSpPr>
            <a:xfrm rot="0">
              <a:off x="0" y="0"/>
              <a:ext cx="1268454" cy="1268454"/>
              <a:chOff x="0" y="0"/>
              <a:chExt cx="812800" cy="812800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93A62F"/>
              </a:solidFill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76200" y="114300"/>
                <a:ext cx="660400" cy="6223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040"/>
                  </a:lnSpc>
                </a:pPr>
              </a:p>
            </p:txBody>
          </p:sp>
        </p:grpSp>
        <p:sp>
          <p:nvSpPr>
            <p:cNvPr name="TextBox 23" id="23"/>
            <p:cNvSpPr txBox="true"/>
            <p:nvPr/>
          </p:nvSpPr>
          <p:spPr>
            <a:xfrm rot="0">
              <a:off x="480198" y="373670"/>
              <a:ext cx="308058" cy="60942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59"/>
                </a:lnSpc>
              </a:pPr>
              <a:r>
                <a:rPr lang="en-US" sz="3293" b="true">
                  <a:solidFill>
                    <a:srgbClr val="FFFFFF"/>
                  </a:solidFill>
                  <a:latin typeface="Gordita Bold"/>
                  <a:ea typeface="Gordita Bold"/>
                  <a:cs typeface="Gordita Bold"/>
                  <a:sym typeface="Gordita Bold"/>
                </a:rPr>
                <a:t>1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8601765" y="2230547"/>
            <a:ext cx="951340" cy="951340"/>
            <a:chOff x="0" y="0"/>
            <a:chExt cx="1268454" cy="1268454"/>
          </a:xfrm>
        </p:grpSpPr>
        <p:grpSp>
          <p:nvGrpSpPr>
            <p:cNvPr name="Group 25" id="25"/>
            <p:cNvGrpSpPr/>
            <p:nvPr/>
          </p:nvGrpSpPr>
          <p:grpSpPr>
            <a:xfrm rot="0">
              <a:off x="0" y="0"/>
              <a:ext cx="1268454" cy="1268454"/>
              <a:chOff x="0" y="0"/>
              <a:chExt cx="812800" cy="812800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3B86B"/>
              </a:solidFill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76200" y="114300"/>
                <a:ext cx="660400" cy="6223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040"/>
                  </a:lnSpc>
                </a:pPr>
              </a:p>
            </p:txBody>
          </p:sp>
        </p:grpSp>
        <p:sp>
          <p:nvSpPr>
            <p:cNvPr name="TextBox 28" id="28"/>
            <p:cNvSpPr txBox="true"/>
            <p:nvPr/>
          </p:nvSpPr>
          <p:spPr>
            <a:xfrm rot="0">
              <a:off x="436805" y="358087"/>
              <a:ext cx="308058" cy="60942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59"/>
                </a:lnSpc>
              </a:pPr>
              <a:r>
                <a:rPr lang="en-US" sz="3293" b="true">
                  <a:solidFill>
                    <a:srgbClr val="FFFFFF"/>
                  </a:solidFill>
                  <a:latin typeface="Gordita Bold"/>
                  <a:ea typeface="Gordita Bold"/>
                  <a:cs typeface="Gordita Bold"/>
                  <a:sym typeface="Gordita Bold"/>
                </a:rPr>
                <a:t>2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4135100" y="2278736"/>
            <a:ext cx="978741" cy="978741"/>
            <a:chOff x="0" y="0"/>
            <a:chExt cx="1304988" cy="1304988"/>
          </a:xfrm>
        </p:grpSpPr>
        <p:grpSp>
          <p:nvGrpSpPr>
            <p:cNvPr name="Group 30" id="30"/>
            <p:cNvGrpSpPr/>
            <p:nvPr/>
          </p:nvGrpSpPr>
          <p:grpSpPr>
            <a:xfrm rot="0">
              <a:off x="0" y="0"/>
              <a:ext cx="1304988" cy="1304988"/>
              <a:chOff x="0" y="0"/>
              <a:chExt cx="812800" cy="812800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13E2A"/>
              </a:solidFill>
            </p:spPr>
          </p:sp>
          <p:sp>
            <p:nvSpPr>
              <p:cNvPr name="TextBox 32" id="32"/>
              <p:cNvSpPr txBox="true"/>
              <p:nvPr/>
            </p:nvSpPr>
            <p:spPr>
              <a:xfrm>
                <a:off x="76200" y="114300"/>
                <a:ext cx="660400" cy="6223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040"/>
                  </a:lnSpc>
                </a:pPr>
              </a:p>
            </p:txBody>
          </p:sp>
        </p:grpSp>
        <p:sp>
          <p:nvSpPr>
            <p:cNvPr name="TextBox 33" id="33"/>
            <p:cNvSpPr txBox="true"/>
            <p:nvPr/>
          </p:nvSpPr>
          <p:spPr>
            <a:xfrm rot="0">
              <a:off x="459752" y="360248"/>
              <a:ext cx="316931" cy="61910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455"/>
                </a:lnSpc>
              </a:pPr>
              <a:r>
                <a:rPr lang="en-US" sz="3388" b="true">
                  <a:solidFill>
                    <a:srgbClr val="FFFFFF"/>
                  </a:solidFill>
                  <a:latin typeface="Gordita Bold"/>
                  <a:ea typeface="Gordita Bold"/>
                  <a:cs typeface="Gordita Bold"/>
                  <a:sym typeface="Gordita Bold"/>
                </a:rPr>
                <a:t>3</a:t>
              </a: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1923117" y="3457300"/>
            <a:ext cx="3411399" cy="351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1"/>
              </a:lnSpc>
            </a:pPr>
            <a:r>
              <a:rPr lang="en-US" sz="2780" b="true">
                <a:solidFill>
                  <a:srgbClr val="023D1E"/>
                </a:solidFill>
                <a:latin typeface="Gordita Bold"/>
                <a:ea typeface="Gordita Bold"/>
                <a:cs typeface="Gordita Bold"/>
                <a:sym typeface="Gordita Bold"/>
              </a:rPr>
              <a:t>Efisiensi Distribusi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6807351" y="3457300"/>
            <a:ext cx="4693790" cy="3428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62"/>
              </a:lnSpc>
            </a:pPr>
            <a:r>
              <a:rPr lang="en-US" sz="2697" b="true">
                <a:solidFill>
                  <a:srgbClr val="023D1E"/>
                </a:solidFill>
                <a:latin typeface="Gordita Bold"/>
                <a:ea typeface="Gordita Bold"/>
                <a:cs typeface="Gordita Bold"/>
                <a:sym typeface="Gordita Bold"/>
              </a:rPr>
              <a:t>Monitoring Berbasis Data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2820355" y="3538561"/>
            <a:ext cx="3811228" cy="351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1"/>
              </a:lnSpc>
            </a:pPr>
            <a:r>
              <a:rPr lang="en-US" sz="2780" b="true">
                <a:solidFill>
                  <a:srgbClr val="023D1E"/>
                </a:solidFill>
                <a:latin typeface="Gordita Bold"/>
                <a:ea typeface="Gordita Bold"/>
                <a:cs typeface="Gordita Bold"/>
                <a:sym typeface="Gordita Bold"/>
              </a:rPr>
              <a:t>Asuransi Usaha Tani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441007" y="3985536"/>
            <a:ext cx="4258400" cy="12531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75"/>
              </a:lnSpc>
            </a:pPr>
            <a:r>
              <a:rPr lang="en-US" sz="2097">
                <a:solidFill>
                  <a:srgbClr val="023D1E"/>
                </a:solidFill>
                <a:latin typeface="Gordita"/>
                <a:ea typeface="Gordita"/>
                <a:cs typeface="Gordita"/>
                <a:sym typeface="Gordita"/>
              </a:rPr>
              <a:t>Perluas pasar digital bagi petani agar rantai distribusi hasil tani lebih efisien dan margin harga lebih adil.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7025046" y="3985536"/>
            <a:ext cx="4258400" cy="12531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75"/>
              </a:lnSpc>
            </a:pPr>
            <a:r>
              <a:rPr lang="en-US" sz="2097">
                <a:solidFill>
                  <a:srgbClr val="023D1E"/>
                </a:solidFill>
                <a:latin typeface="Gordita"/>
                <a:ea typeface="Gordita"/>
                <a:cs typeface="Gordita"/>
                <a:sym typeface="Gordita"/>
              </a:rPr>
              <a:t>Gunakan NTP bulanan sebagai dasar kebijakan pemerintah daerah dalam merespons fluktuasi harga secara cepat.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2663334" y="4113265"/>
            <a:ext cx="4258400" cy="12531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75"/>
              </a:lnSpc>
            </a:pPr>
            <a:r>
              <a:rPr lang="en-US" sz="2097">
                <a:solidFill>
                  <a:srgbClr val="023D1E"/>
                </a:solidFill>
                <a:latin typeface="Gordita"/>
                <a:ea typeface="Gordita"/>
                <a:cs typeface="Gordita"/>
                <a:sym typeface="Gordita"/>
              </a:rPr>
              <a:t>Lindungi petani dari risiko gagal panen dan penurunan pendapatan melalui skema asuransi pertanian.</a:t>
            </a:r>
          </a:p>
        </p:txBody>
      </p:sp>
      <p:grpSp>
        <p:nvGrpSpPr>
          <p:cNvPr name="Group 40" id="40"/>
          <p:cNvGrpSpPr/>
          <p:nvPr/>
        </p:nvGrpSpPr>
        <p:grpSpPr>
          <a:xfrm rot="0">
            <a:off x="733706" y="6953489"/>
            <a:ext cx="16820588" cy="2659922"/>
            <a:chOff x="0" y="0"/>
            <a:chExt cx="22427451" cy="3546562"/>
          </a:xfrm>
        </p:grpSpPr>
        <p:grpSp>
          <p:nvGrpSpPr>
            <p:cNvPr name="Group 41" id="41"/>
            <p:cNvGrpSpPr/>
            <p:nvPr/>
          </p:nvGrpSpPr>
          <p:grpSpPr>
            <a:xfrm rot="0">
              <a:off x="393325" y="0"/>
              <a:ext cx="5016175" cy="3546562"/>
              <a:chOff x="0" y="0"/>
              <a:chExt cx="990849" cy="700555"/>
            </a:xfrm>
          </p:grpSpPr>
          <p:sp>
            <p:nvSpPr>
              <p:cNvPr name="Freeform 42" id="42"/>
              <p:cNvSpPr/>
              <p:nvPr/>
            </p:nvSpPr>
            <p:spPr>
              <a:xfrm flipH="false" flipV="false" rot="0">
                <a:off x="0" y="0"/>
                <a:ext cx="990850" cy="700555"/>
              </a:xfrm>
              <a:custGeom>
                <a:avLst/>
                <a:gdLst/>
                <a:ahLst/>
                <a:cxnLst/>
                <a:rect r="r" b="b" t="t" l="l"/>
                <a:pathLst>
                  <a:path h="700555" w="990850">
                    <a:moveTo>
                      <a:pt x="55562" y="0"/>
                    </a:moveTo>
                    <a:lnTo>
                      <a:pt x="935287" y="0"/>
                    </a:lnTo>
                    <a:cubicBezTo>
                      <a:pt x="950023" y="0"/>
                      <a:pt x="964156" y="5854"/>
                      <a:pt x="974576" y="16274"/>
                    </a:cubicBezTo>
                    <a:cubicBezTo>
                      <a:pt x="984996" y="26694"/>
                      <a:pt x="990850" y="40826"/>
                      <a:pt x="990850" y="55562"/>
                    </a:cubicBezTo>
                    <a:lnTo>
                      <a:pt x="990850" y="644993"/>
                    </a:lnTo>
                    <a:cubicBezTo>
                      <a:pt x="990850" y="659729"/>
                      <a:pt x="984996" y="673862"/>
                      <a:pt x="974576" y="684282"/>
                    </a:cubicBezTo>
                    <a:cubicBezTo>
                      <a:pt x="964156" y="694702"/>
                      <a:pt x="950023" y="700555"/>
                      <a:pt x="935287" y="700555"/>
                    </a:cubicBezTo>
                    <a:lnTo>
                      <a:pt x="55562" y="700555"/>
                    </a:lnTo>
                    <a:cubicBezTo>
                      <a:pt x="40826" y="700555"/>
                      <a:pt x="26694" y="694702"/>
                      <a:pt x="16274" y="684282"/>
                    </a:cubicBezTo>
                    <a:cubicBezTo>
                      <a:pt x="5854" y="673862"/>
                      <a:pt x="0" y="659729"/>
                      <a:pt x="0" y="644993"/>
                    </a:cubicBezTo>
                    <a:lnTo>
                      <a:pt x="0" y="55562"/>
                    </a:lnTo>
                    <a:cubicBezTo>
                      <a:pt x="0" y="40826"/>
                      <a:pt x="5854" y="26694"/>
                      <a:pt x="16274" y="16274"/>
                    </a:cubicBezTo>
                    <a:cubicBezTo>
                      <a:pt x="26694" y="5854"/>
                      <a:pt x="40826" y="0"/>
                      <a:pt x="55562" y="0"/>
                    </a:cubicBezTo>
                    <a:close/>
                  </a:path>
                </a:pathLst>
              </a:custGeom>
              <a:solidFill>
                <a:srgbClr val="023D1E"/>
              </a:solidFill>
              <a:ln w="19050" cap="rnd">
                <a:solidFill>
                  <a:srgbClr val="C2C2C2"/>
                </a:solidFill>
                <a:prstDash val="solid"/>
                <a:round/>
              </a:ln>
            </p:spPr>
          </p:sp>
          <p:sp>
            <p:nvSpPr>
              <p:cNvPr name="TextBox 43" id="43"/>
              <p:cNvSpPr txBox="true"/>
              <p:nvPr/>
            </p:nvSpPr>
            <p:spPr>
              <a:xfrm>
                <a:off x="0" y="38100"/>
                <a:ext cx="990849" cy="66245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040"/>
                  </a:lnSpc>
                </a:pPr>
              </a:p>
            </p:txBody>
          </p:sp>
        </p:grpSp>
        <p:grpSp>
          <p:nvGrpSpPr>
            <p:cNvPr name="Group 44" id="44"/>
            <p:cNvGrpSpPr/>
            <p:nvPr/>
          </p:nvGrpSpPr>
          <p:grpSpPr>
            <a:xfrm rot="0">
              <a:off x="12870184" y="1226374"/>
              <a:ext cx="432014" cy="432014"/>
              <a:chOff x="0" y="0"/>
              <a:chExt cx="812800" cy="812800"/>
            </a:xfrm>
          </p:grpSpPr>
          <p:sp>
            <p:nvSpPr>
              <p:cNvPr name="Freeform 45" id="4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7C03F"/>
              </a:solidFill>
            </p:spPr>
          </p:sp>
          <p:sp>
            <p:nvSpPr>
              <p:cNvPr name="TextBox 46" id="46"/>
              <p:cNvSpPr txBox="true"/>
              <p:nvPr/>
            </p:nvSpPr>
            <p:spPr>
              <a:xfrm>
                <a:off x="76200" y="114300"/>
                <a:ext cx="660400" cy="6223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359"/>
                  </a:lnSpc>
                </a:pPr>
              </a:p>
            </p:txBody>
          </p:sp>
        </p:grpSp>
        <p:sp>
          <p:nvSpPr>
            <p:cNvPr name="TextBox 47" id="47"/>
            <p:cNvSpPr txBox="true"/>
            <p:nvPr/>
          </p:nvSpPr>
          <p:spPr>
            <a:xfrm rot="0">
              <a:off x="1663683" y="2277537"/>
              <a:ext cx="2475460" cy="6889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100"/>
                </a:lnSpc>
              </a:pPr>
              <a:r>
                <a:rPr lang="en-US" sz="1500">
                  <a:solidFill>
                    <a:srgbClr val="FFFFFF"/>
                  </a:solidFill>
                  <a:latin typeface="Gordita"/>
                  <a:ea typeface="Gordita"/>
                  <a:cs typeface="Gordita"/>
                  <a:sym typeface="Gordita"/>
                </a:rPr>
                <a:t>Perumbuhan NTP</a:t>
              </a:r>
            </a:p>
            <a:p>
              <a:pPr algn="ctr">
                <a:lnSpc>
                  <a:spcPts val="2100"/>
                </a:lnSpc>
              </a:pPr>
              <a:r>
                <a:rPr lang="en-US" sz="1500">
                  <a:solidFill>
                    <a:srgbClr val="FFFFFF"/>
                  </a:solidFill>
                  <a:latin typeface="Gordita"/>
                  <a:ea typeface="Gordita"/>
                  <a:cs typeface="Gordita"/>
                  <a:sym typeface="Gordita"/>
                </a:rPr>
                <a:t>(2019-2026)</a:t>
              </a:r>
            </a:p>
          </p:txBody>
        </p:sp>
        <p:grpSp>
          <p:nvGrpSpPr>
            <p:cNvPr name="Group 48" id="48"/>
            <p:cNvGrpSpPr/>
            <p:nvPr/>
          </p:nvGrpSpPr>
          <p:grpSpPr>
            <a:xfrm rot="0">
              <a:off x="5934867" y="0"/>
              <a:ext cx="5016175" cy="3546562"/>
              <a:chOff x="0" y="0"/>
              <a:chExt cx="990849" cy="700555"/>
            </a:xfrm>
          </p:grpSpPr>
          <p:sp>
            <p:nvSpPr>
              <p:cNvPr name="Freeform 49" id="49"/>
              <p:cNvSpPr/>
              <p:nvPr/>
            </p:nvSpPr>
            <p:spPr>
              <a:xfrm flipH="false" flipV="false" rot="0">
                <a:off x="0" y="0"/>
                <a:ext cx="990850" cy="700555"/>
              </a:xfrm>
              <a:custGeom>
                <a:avLst/>
                <a:gdLst/>
                <a:ahLst/>
                <a:cxnLst/>
                <a:rect r="r" b="b" t="t" l="l"/>
                <a:pathLst>
                  <a:path h="700555" w="990850">
                    <a:moveTo>
                      <a:pt x="55562" y="0"/>
                    </a:moveTo>
                    <a:lnTo>
                      <a:pt x="935287" y="0"/>
                    </a:lnTo>
                    <a:cubicBezTo>
                      <a:pt x="950023" y="0"/>
                      <a:pt x="964156" y="5854"/>
                      <a:pt x="974576" y="16274"/>
                    </a:cubicBezTo>
                    <a:cubicBezTo>
                      <a:pt x="984996" y="26694"/>
                      <a:pt x="990850" y="40826"/>
                      <a:pt x="990850" y="55562"/>
                    </a:cubicBezTo>
                    <a:lnTo>
                      <a:pt x="990850" y="644993"/>
                    </a:lnTo>
                    <a:cubicBezTo>
                      <a:pt x="990850" y="659729"/>
                      <a:pt x="984996" y="673862"/>
                      <a:pt x="974576" y="684282"/>
                    </a:cubicBezTo>
                    <a:cubicBezTo>
                      <a:pt x="964156" y="694702"/>
                      <a:pt x="950023" y="700555"/>
                      <a:pt x="935287" y="700555"/>
                    </a:cubicBezTo>
                    <a:lnTo>
                      <a:pt x="55562" y="700555"/>
                    </a:lnTo>
                    <a:cubicBezTo>
                      <a:pt x="40826" y="700555"/>
                      <a:pt x="26694" y="694702"/>
                      <a:pt x="16274" y="684282"/>
                    </a:cubicBezTo>
                    <a:cubicBezTo>
                      <a:pt x="5854" y="673862"/>
                      <a:pt x="0" y="659729"/>
                      <a:pt x="0" y="644993"/>
                    </a:cubicBezTo>
                    <a:lnTo>
                      <a:pt x="0" y="55562"/>
                    </a:lnTo>
                    <a:cubicBezTo>
                      <a:pt x="0" y="40826"/>
                      <a:pt x="5854" y="26694"/>
                      <a:pt x="16274" y="16274"/>
                    </a:cubicBezTo>
                    <a:cubicBezTo>
                      <a:pt x="26694" y="5854"/>
                      <a:pt x="40826" y="0"/>
                      <a:pt x="55562" y="0"/>
                    </a:cubicBezTo>
                    <a:close/>
                  </a:path>
                </a:pathLst>
              </a:custGeom>
              <a:solidFill>
                <a:srgbClr val="023D1E"/>
              </a:solidFill>
              <a:ln w="19050" cap="rnd">
                <a:solidFill>
                  <a:srgbClr val="C2C2C2"/>
                </a:solidFill>
                <a:prstDash val="solid"/>
                <a:round/>
              </a:ln>
            </p:spPr>
          </p:sp>
          <p:sp>
            <p:nvSpPr>
              <p:cNvPr name="TextBox 50" id="50"/>
              <p:cNvSpPr txBox="true"/>
              <p:nvPr/>
            </p:nvSpPr>
            <p:spPr>
              <a:xfrm>
                <a:off x="0" y="38100"/>
                <a:ext cx="990849" cy="66245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040"/>
                  </a:lnSpc>
                </a:pPr>
              </a:p>
            </p:txBody>
          </p:sp>
        </p:grpSp>
        <p:grpSp>
          <p:nvGrpSpPr>
            <p:cNvPr name="Group 51" id="51"/>
            <p:cNvGrpSpPr/>
            <p:nvPr/>
          </p:nvGrpSpPr>
          <p:grpSpPr>
            <a:xfrm rot="0">
              <a:off x="11476408" y="0"/>
              <a:ext cx="5016175" cy="3546562"/>
              <a:chOff x="0" y="0"/>
              <a:chExt cx="990849" cy="700555"/>
            </a:xfrm>
          </p:grpSpPr>
          <p:sp>
            <p:nvSpPr>
              <p:cNvPr name="Freeform 52" id="52"/>
              <p:cNvSpPr/>
              <p:nvPr/>
            </p:nvSpPr>
            <p:spPr>
              <a:xfrm flipH="false" flipV="false" rot="0">
                <a:off x="0" y="0"/>
                <a:ext cx="990850" cy="700555"/>
              </a:xfrm>
              <a:custGeom>
                <a:avLst/>
                <a:gdLst/>
                <a:ahLst/>
                <a:cxnLst/>
                <a:rect r="r" b="b" t="t" l="l"/>
                <a:pathLst>
                  <a:path h="700555" w="990850">
                    <a:moveTo>
                      <a:pt x="55562" y="0"/>
                    </a:moveTo>
                    <a:lnTo>
                      <a:pt x="935287" y="0"/>
                    </a:lnTo>
                    <a:cubicBezTo>
                      <a:pt x="950023" y="0"/>
                      <a:pt x="964156" y="5854"/>
                      <a:pt x="974576" y="16274"/>
                    </a:cubicBezTo>
                    <a:cubicBezTo>
                      <a:pt x="984996" y="26694"/>
                      <a:pt x="990850" y="40826"/>
                      <a:pt x="990850" y="55562"/>
                    </a:cubicBezTo>
                    <a:lnTo>
                      <a:pt x="990850" y="644993"/>
                    </a:lnTo>
                    <a:cubicBezTo>
                      <a:pt x="990850" y="659729"/>
                      <a:pt x="984996" y="673862"/>
                      <a:pt x="974576" y="684282"/>
                    </a:cubicBezTo>
                    <a:cubicBezTo>
                      <a:pt x="964156" y="694702"/>
                      <a:pt x="950023" y="700555"/>
                      <a:pt x="935287" y="700555"/>
                    </a:cubicBezTo>
                    <a:lnTo>
                      <a:pt x="55562" y="700555"/>
                    </a:lnTo>
                    <a:cubicBezTo>
                      <a:pt x="40826" y="700555"/>
                      <a:pt x="26694" y="694702"/>
                      <a:pt x="16274" y="684282"/>
                    </a:cubicBezTo>
                    <a:cubicBezTo>
                      <a:pt x="5854" y="673862"/>
                      <a:pt x="0" y="659729"/>
                      <a:pt x="0" y="644993"/>
                    </a:cubicBezTo>
                    <a:lnTo>
                      <a:pt x="0" y="55562"/>
                    </a:lnTo>
                    <a:cubicBezTo>
                      <a:pt x="0" y="40826"/>
                      <a:pt x="5854" y="26694"/>
                      <a:pt x="16274" y="16274"/>
                    </a:cubicBezTo>
                    <a:cubicBezTo>
                      <a:pt x="26694" y="5854"/>
                      <a:pt x="40826" y="0"/>
                      <a:pt x="55562" y="0"/>
                    </a:cubicBezTo>
                    <a:close/>
                  </a:path>
                </a:pathLst>
              </a:custGeom>
              <a:solidFill>
                <a:srgbClr val="023D1E"/>
              </a:solidFill>
              <a:ln w="19050" cap="rnd">
                <a:solidFill>
                  <a:srgbClr val="C2C2C2"/>
                </a:solidFill>
                <a:prstDash val="solid"/>
                <a:round/>
              </a:ln>
            </p:spPr>
          </p:sp>
          <p:sp>
            <p:nvSpPr>
              <p:cNvPr name="TextBox 53" id="53"/>
              <p:cNvSpPr txBox="true"/>
              <p:nvPr/>
            </p:nvSpPr>
            <p:spPr>
              <a:xfrm>
                <a:off x="0" y="38100"/>
                <a:ext cx="990849" cy="66245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040"/>
                  </a:lnSpc>
                </a:pPr>
              </a:p>
            </p:txBody>
          </p:sp>
        </p:grpSp>
        <p:grpSp>
          <p:nvGrpSpPr>
            <p:cNvPr name="Group 54" id="54"/>
            <p:cNvGrpSpPr/>
            <p:nvPr/>
          </p:nvGrpSpPr>
          <p:grpSpPr>
            <a:xfrm rot="0">
              <a:off x="17017950" y="0"/>
              <a:ext cx="5016175" cy="3546562"/>
              <a:chOff x="0" y="0"/>
              <a:chExt cx="990849" cy="700555"/>
            </a:xfrm>
          </p:grpSpPr>
          <p:sp>
            <p:nvSpPr>
              <p:cNvPr name="Freeform 55" id="55"/>
              <p:cNvSpPr/>
              <p:nvPr/>
            </p:nvSpPr>
            <p:spPr>
              <a:xfrm flipH="false" flipV="false" rot="0">
                <a:off x="0" y="0"/>
                <a:ext cx="990850" cy="700555"/>
              </a:xfrm>
              <a:custGeom>
                <a:avLst/>
                <a:gdLst/>
                <a:ahLst/>
                <a:cxnLst/>
                <a:rect r="r" b="b" t="t" l="l"/>
                <a:pathLst>
                  <a:path h="700555" w="990850">
                    <a:moveTo>
                      <a:pt x="55562" y="0"/>
                    </a:moveTo>
                    <a:lnTo>
                      <a:pt x="935287" y="0"/>
                    </a:lnTo>
                    <a:cubicBezTo>
                      <a:pt x="950023" y="0"/>
                      <a:pt x="964156" y="5854"/>
                      <a:pt x="974576" y="16274"/>
                    </a:cubicBezTo>
                    <a:cubicBezTo>
                      <a:pt x="984996" y="26694"/>
                      <a:pt x="990850" y="40826"/>
                      <a:pt x="990850" y="55562"/>
                    </a:cubicBezTo>
                    <a:lnTo>
                      <a:pt x="990850" y="644993"/>
                    </a:lnTo>
                    <a:cubicBezTo>
                      <a:pt x="990850" y="659729"/>
                      <a:pt x="984996" y="673862"/>
                      <a:pt x="974576" y="684282"/>
                    </a:cubicBezTo>
                    <a:cubicBezTo>
                      <a:pt x="964156" y="694702"/>
                      <a:pt x="950023" y="700555"/>
                      <a:pt x="935287" y="700555"/>
                    </a:cubicBezTo>
                    <a:lnTo>
                      <a:pt x="55562" y="700555"/>
                    </a:lnTo>
                    <a:cubicBezTo>
                      <a:pt x="40826" y="700555"/>
                      <a:pt x="26694" y="694702"/>
                      <a:pt x="16274" y="684282"/>
                    </a:cubicBezTo>
                    <a:cubicBezTo>
                      <a:pt x="5854" y="673862"/>
                      <a:pt x="0" y="659729"/>
                      <a:pt x="0" y="644993"/>
                    </a:cubicBezTo>
                    <a:lnTo>
                      <a:pt x="0" y="55562"/>
                    </a:lnTo>
                    <a:cubicBezTo>
                      <a:pt x="0" y="40826"/>
                      <a:pt x="5854" y="26694"/>
                      <a:pt x="16274" y="16274"/>
                    </a:cubicBezTo>
                    <a:cubicBezTo>
                      <a:pt x="26694" y="5854"/>
                      <a:pt x="40826" y="0"/>
                      <a:pt x="55562" y="0"/>
                    </a:cubicBezTo>
                    <a:close/>
                  </a:path>
                </a:pathLst>
              </a:custGeom>
              <a:solidFill>
                <a:srgbClr val="023D1E"/>
              </a:solidFill>
              <a:ln w="19050" cap="rnd">
                <a:solidFill>
                  <a:srgbClr val="C2C2C2"/>
                </a:solidFill>
                <a:prstDash val="solid"/>
                <a:round/>
              </a:ln>
            </p:spPr>
          </p:sp>
          <p:sp>
            <p:nvSpPr>
              <p:cNvPr name="TextBox 56" id="56"/>
              <p:cNvSpPr txBox="true"/>
              <p:nvPr/>
            </p:nvSpPr>
            <p:spPr>
              <a:xfrm>
                <a:off x="0" y="38100"/>
                <a:ext cx="990849" cy="66245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040"/>
                  </a:lnSpc>
                </a:pPr>
              </a:p>
            </p:txBody>
          </p:sp>
        </p:grpSp>
        <p:sp>
          <p:nvSpPr>
            <p:cNvPr name="TextBox 57" id="57"/>
            <p:cNvSpPr txBox="true"/>
            <p:nvPr/>
          </p:nvSpPr>
          <p:spPr>
            <a:xfrm rot="0">
              <a:off x="6862168" y="2277537"/>
              <a:ext cx="3161574" cy="6889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100"/>
                </a:lnSpc>
              </a:pPr>
              <a:r>
                <a:rPr lang="en-US" sz="1500">
                  <a:solidFill>
                    <a:srgbClr val="FFFFFF"/>
                  </a:solidFill>
                  <a:latin typeface="Gordita"/>
                  <a:ea typeface="Gordita"/>
                  <a:cs typeface="Gordita"/>
                  <a:sym typeface="Gordita"/>
                </a:rPr>
                <a:t>Titik defisit terendah saat pandemi (April 2021)</a:t>
              </a:r>
            </a:p>
          </p:txBody>
        </p:sp>
        <p:sp>
          <p:nvSpPr>
            <p:cNvPr name="TextBox 58" id="58"/>
            <p:cNvSpPr txBox="true"/>
            <p:nvPr/>
          </p:nvSpPr>
          <p:spPr>
            <a:xfrm rot="0">
              <a:off x="12403709" y="2277537"/>
              <a:ext cx="3161574" cy="6889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100"/>
                </a:lnSpc>
              </a:pPr>
              <a:r>
                <a:rPr lang="en-US" sz="1500">
                  <a:solidFill>
                    <a:srgbClr val="FFFFFF"/>
                  </a:solidFill>
                  <a:latin typeface="Gordita"/>
                  <a:ea typeface="Gordita"/>
                  <a:cs typeface="Gordita"/>
                  <a:sym typeface="Gordita"/>
                </a:rPr>
                <a:t>Puncak tertinggi</a:t>
              </a:r>
            </a:p>
            <a:p>
              <a:pPr algn="ctr">
                <a:lnSpc>
                  <a:spcPts val="2100"/>
                </a:lnSpc>
              </a:pPr>
              <a:r>
                <a:rPr lang="en-US" sz="1500">
                  <a:solidFill>
                    <a:srgbClr val="FFFFFF"/>
                  </a:solidFill>
                  <a:latin typeface="Gordita"/>
                  <a:ea typeface="Gordita"/>
                  <a:cs typeface="Gordita"/>
                  <a:sym typeface="Gordita"/>
                </a:rPr>
                <a:t>(Feb 2024)</a:t>
              </a:r>
            </a:p>
          </p:txBody>
        </p:sp>
        <p:sp>
          <p:nvSpPr>
            <p:cNvPr name="TextBox 59" id="59"/>
            <p:cNvSpPr txBox="true"/>
            <p:nvPr/>
          </p:nvSpPr>
          <p:spPr>
            <a:xfrm rot="0">
              <a:off x="17370315" y="2277537"/>
              <a:ext cx="4311446" cy="6889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100"/>
                </a:lnSpc>
              </a:pPr>
              <a:r>
                <a:rPr lang="en-US" sz="1500">
                  <a:solidFill>
                    <a:srgbClr val="FFFFFF"/>
                  </a:solidFill>
                  <a:latin typeface="Gordita"/>
                  <a:ea typeface="Gordita"/>
                  <a:cs typeface="Gordita"/>
                  <a:sym typeface="Gordita"/>
                </a:rPr>
                <a:t>Rentang proyeksi SARIMA</a:t>
              </a:r>
            </a:p>
            <a:p>
              <a:pPr algn="ctr">
                <a:lnSpc>
                  <a:spcPts val="2100"/>
                </a:lnSpc>
              </a:pPr>
              <a:r>
                <a:rPr lang="en-US" sz="1500">
                  <a:solidFill>
                    <a:srgbClr val="FFFFFF"/>
                  </a:solidFill>
                  <a:latin typeface="Gordita"/>
                  <a:ea typeface="Gordita"/>
                  <a:cs typeface="Gordita"/>
                  <a:sym typeface="Gordita"/>
                </a:rPr>
                <a:t>(pertengahan 2025 - akhir 2027)</a:t>
              </a:r>
            </a:p>
          </p:txBody>
        </p:sp>
        <p:sp>
          <p:nvSpPr>
            <p:cNvPr name="TextBox 60" id="60"/>
            <p:cNvSpPr txBox="true"/>
            <p:nvPr/>
          </p:nvSpPr>
          <p:spPr>
            <a:xfrm rot="0">
              <a:off x="0" y="992112"/>
              <a:ext cx="5802826" cy="78116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922"/>
                </a:lnSpc>
              </a:pPr>
              <a:r>
                <a:rPr lang="en-US" b="true" sz="3516">
                  <a:solidFill>
                    <a:srgbClr val="E6B142"/>
                  </a:solidFill>
                  <a:latin typeface="Gordita Bold"/>
                  <a:ea typeface="Gordita Bold"/>
                  <a:cs typeface="Gordita Bold"/>
                  <a:sym typeface="Gordita Bold"/>
                </a:rPr>
                <a:t>103-115+</a:t>
              </a:r>
            </a:p>
          </p:txBody>
        </p:sp>
        <p:sp>
          <p:nvSpPr>
            <p:cNvPr name="TextBox 61" id="61"/>
            <p:cNvSpPr txBox="true"/>
            <p:nvPr/>
          </p:nvSpPr>
          <p:spPr>
            <a:xfrm rot="0">
              <a:off x="5541542" y="992112"/>
              <a:ext cx="5802826" cy="78116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922"/>
                </a:lnSpc>
              </a:pPr>
              <a:r>
                <a:rPr lang="en-US" b="true" sz="3516">
                  <a:solidFill>
                    <a:srgbClr val="E6B142"/>
                  </a:solidFill>
                  <a:latin typeface="Gordita Bold"/>
                  <a:ea typeface="Gordita Bold"/>
                  <a:cs typeface="Gordita Bold"/>
                  <a:sym typeface="Gordita Bold"/>
                </a:rPr>
                <a:t>98,71</a:t>
              </a:r>
            </a:p>
          </p:txBody>
        </p:sp>
        <p:sp>
          <p:nvSpPr>
            <p:cNvPr name="TextBox 62" id="62"/>
            <p:cNvSpPr txBox="true"/>
            <p:nvPr/>
          </p:nvSpPr>
          <p:spPr>
            <a:xfrm rot="0">
              <a:off x="11083083" y="992112"/>
              <a:ext cx="5802826" cy="78116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922"/>
                </a:lnSpc>
              </a:pPr>
              <a:r>
                <a:rPr lang="en-US" b="true" sz="3516">
                  <a:solidFill>
                    <a:srgbClr val="E6B142"/>
                  </a:solidFill>
                  <a:latin typeface="Gordita Bold"/>
                  <a:ea typeface="Gordita Bold"/>
                  <a:cs typeface="Gordita Bold"/>
                  <a:sym typeface="Gordita Bold"/>
                </a:rPr>
                <a:t>121,94</a:t>
              </a:r>
            </a:p>
          </p:txBody>
        </p:sp>
        <p:sp>
          <p:nvSpPr>
            <p:cNvPr name="TextBox 63" id="63"/>
            <p:cNvSpPr txBox="true"/>
            <p:nvPr/>
          </p:nvSpPr>
          <p:spPr>
            <a:xfrm rot="0">
              <a:off x="16624625" y="992112"/>
              <a:ext cx="5802826" cy="78116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922"/>
                </a:lnSpc>
              </a:pPr>
              <a:r>
                <a:rPr lang="en-US" b="true" sz="3516">
                  <a:solidFill>
                    <a:srgbClr val="E6B142"/>
                  </a:solidFill>
                  <a:latin typeface="Gordita Bold"/>
                  <a:ea typeface="Gordita Bold"/>
                  <a:cs typeface="Gordita Bold"/>
                  <a:sym typeface="Gordita Bold"/>
                </a:rPr>
                <a:t>114,9-118,6</a:t>
              </a:r>
            </a:p>
          </p:txBody>
        </p:sp>
      </p:grpSp>
      <p:sp>
        <p:nvSpPr>
          <p:cNvPr name="TextBox 64" id="64"/>
          <p:cNvSpPr txBox="true"/>
          <p:nvPr/>
        </p:nvSpPr>
        <p:spPr>
          <a:xfrm rot="0">
            <a:off x="1043239" y="5821521"/>
            <a:ext cx="6286604" cy="8580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09"/>
              </a:lnSpc>
            </a:pPr>
            <a:r>
              <a:rPr lang="en-US" sz="6283" b="true">
                <a:solidFill>
                  <a:srgbClr val="025A2C"/>
                </a:solidFill>
                <a:latin typeface="Gordita Bold"/>
                <a:ea typeface="Gordita Bold"/>
                <a:cs typeface="Gordita Bold"/>
                <a:sym typeface="Gordita Bold"/>
              </a:rPr>
              <a:t>Kesimpulan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787812" y="2999235"/>
            <a:ext cx="2605383" cy="2605383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7C03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213740" y="635672"/>
            <a:ext cx="9893943" cy="3326838"/>
          </a:xfrm>
          <a:custGeom>
            <a:avLst/>
            <a:gdLst/>
            <a:ahLst/>
            <a:cxnLst/>
            <a:rect r="r" b="b" t="t" l="l"/>
            <a:pathLst>
              <a:path h="3326838" w="9893943">
                <a:moveTo>
                  <a:pt x="0" y="0"/>
                </a:moveTo>
                <a:lnTo>
                  <a:pt x="9893943" y="0"/>
                </a:lnTo>
                <a:lnTo>
                  <a:pt x="9893943" y="3326838"/>
                </a:lnTo>
                <a:lnTo>
                  <a:pt x="0" y="33268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true" flipV="true" rot="0">
            <a:off x="11084220" y="-475593"/>
            <a:ext cx="8488516" cy="5549367"/>
          </a:xfrm>
          <a:custGeom>
            <a:avLst/>
            <a:gdLst/>
            <a:ahLst/>
            <a:cxnLst/>
            <a:rect r="r" b="b" t="t" l="l"/>
            <a:pathLst>
              <a:path h="5549367" w="8488516">
                <a:moveTo>
                  <a:pt x="8488516" y="5549368"/>
                </a:moveTo>
                <a:lnTo>
                  <a:pt x="0" y="5549368"/>
                </a:lnTo>
                <a:lnTo>
                  <a:pt x="0" y="0"/>
                </a:lnTo>
                <a:lnTo>
                  <a:pt x="8488516" y="0"/>
                </a:lnTo>
                <a:lnTo>
                  <a:pt x="8488516" y="5549368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041755" y="834391"/>
            <a:ext cx="7166623" cy="863597"/>
            <a:chOff x="0" y="0"/>
            <a:chExt cx="1887506" cy="22744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887506" cy="227449"/>
            </a:xfrm>
            <a:custGeom>
              <a:avLst/>
              <a:gdLst/>
              <a:ahLst/>
              <a:cxnLst/>
              <a:rect r="r" b="b" t="t" l="l"/>
              <a:pathLst>
                <a:path h="227449" w="1887506">
                  <a:moveTo>
                    <a:pt x="55094" y="0"/>
                  </a:moveTo>
                  <a:lnTo>
                    <a:pt x="1832412" y="0"/>
                  </a:lnTo>
                  <a:cubicBezTo>
                    <a:pt x="1862839" y="0"/>
                    <a:pt x="1887506" y="24666"/>
                    <a:pt x="1887506" y="55094"/>
                  </a:cubicBezTo>
                  <a:lnTo>
                    <a:pt x="1887506" y="172355"/>
                  </a:lnTo>
                  <a:cubicBezTo>
                    <a:pt x="1887506" y="202783"/>
                    <a:pt x="1862839" y="227449"/>
                    <a:pt x="1832412" y="227449"/>
                  </a:cubicBezTo>
                  <a:lnTo>
                    <a:pt x="55094" y="227449"/>
                  </a:lnTo>
                  <a:cubicBezTo>
                    <a:pt x="24666" y="227449"/>
                    <a:pt x="0" y="202783"/>
                    <a:pt x="0" y="172355"/>
                  </a:cubicBezTo>
                  <a:lnTo>
                    <a:pt x="0" y="55094"/>
                  </a:lnTo>
                  <a:cubicBezTo>
                    <a:pt x="0" y="24666"/>
                    <a:pt x="24666" y="0"/>
                    <a:pt x="55094" y="0"/>
                  </a:cubicBezTo>
                  <a:close/>
                </a:path>
              </a:pathLst>
            </a:custGeom>
            <a:solidFill>
              <a:srgbClr val="F7C03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887506" cy="2655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263717" y="979325"/>
            <a:ext cx="392287" cy="573729"/>
          </a:xfrm>
          <a:custGeom>
            <a:avLst/>
            <a:gdLst/>
            <a:ahLst/>
            <a:cxnLst/>
            <a:rect r="r" b="b" t="t" l="l"/>
            <a:pathLst>
              <a:path h="573729" w="392287">
                <a:moveTo>
                  <a:pt x="0" y="0"/>
                </a:moveTo>
                <a:lnTo>
                  <a:pt x="392287" y="0"/>
                </a:lnTo>
                <a:lnTo>
                  <a:pt x="392287" y="573729"/>
                </a:lnTo>
                <a:lnTo>
                  <a:pt x="0" y="57372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4205313" y="3332610"/>
            <a:ext cx="8438387" cy="4954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175"/>
              </a:lnSpc>
            </a:pPr>
            <a:r>
              <a:rPr lang="en-US" sz="18799" b="true">
                <a:solidFill>
                  <a:srgbClr val="025A2C"/>
                </a:solidFill>
                <a:latin typeface="Gordita Bold"/>
                <a:ea typeface="Gordita Bold"/>
                <a:cs typeface="Gordita Bold"/>
                <a:sym typeface="Gordita Bold"/>
              </a:rPr>
              <a:t>Thank You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1978385" y="6550732"/>
            <a:ext cx="2226928" cy="2920561"/>
          </a:xfrm>
          <a:custGeom>
            <a:avLst/>
            <a:gdLst/>
            <a:ahLst/>
            <a:cxnLst/>
            <a:rect r="r" b="b" t="t" l="l"/>
            <a:pathLst>
              <a:path h="2920561" w="2226928">
                <a:moveTo>
                  <a:pt x="0" y="0"/>
                </a:moveTo>
                <a:lnTo>
                  <a:pt x="2226928" y="0"/>
                </a:lnTo>
                <a:lnTo>
                  <a:pt x="2226928" y="2920562"/>
                </a:lnTo>
                <a:lnTo>
                  <a:pt x="0" y="292056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true" flipV="false" rot="0">
            <a:off x="17174730" y="8241852"/>
            <a:ext cx="741950" cy="973049"/>
          </a:xfrm>
          <a:custGeom>
            <a:avLst/>
            <a:gdLst/>
            <a:ahLst/>
            <a:cxnLst/>
            <a:rect r="r" b="b" t="t" l="l"/>
            <a:pathLst>
              <a:path h="973049" w="741950">
                <a:moveTo>
                  <a:pt x="741951" y="0"/>
                </a:moveTo>
                <a:lnTo>
                  <a:pt x="0" y="0"/>
                </a:lnTo>
                <a:lnTo>
                  <a:pt x="0" y="973050"/>
                </a:lnTo>
                <a:lnTo>
                  <a:pt x="741951" y="973050"/>
                </a:lnTo>
                <a:lnTo>
                  <a:pt x="741951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7269178" y="2558048"/>
            <a:ext cx="441186" cy="441186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7C03F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656004" y="1096601"/>
            <a:ext cx="6355151" cy="3173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93"/>
              </a:lnSpc>
              <a:spcBef>
                <a:spcPct val="0"/>
              </a:spcBef>
            </a:pPr>
            <a:r>
              <a:rPr lang="en-US" sz="2346">
                <a:solidFill>
                  <a:srgbClr val="023D1E"/>
                </a:solidFill>
                <a:latin typeface="Gordita"/>
                <a:ea typeface="Gordita"/>
                <a:cs typeface="Gordita"/>
                <a:sym typeface="Gordita"/>
              </a:rPr>
              <a:t>Tim Wujud Asli Viewers Windah Basudara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DAHMEem7gM8</dc:identifier>
  <dcterms:modified xsi:type="dcterms:W3CDTF">2011-08-01T06:04:30Z</dcterms:modified>
  <cp:revision>1</cp:revision>
  <dc:title>NTP Jawa Tengah </dc:title>
</cp:coreProperties>
</file>